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1"/>
  </p:notesMasterIdLst>
  <p:sldIdLst>
    <p:sldId id="2007581790" r:id="rId3"/>
    <p:sldId id="2007581858" r:id="rId4"/>
    <p:sldId id="2007581859" r:id="rId5"/>
    <p:sldId id="2007581860" r:id="rId6"/>
    <p:sldId id="2007581862" r:id="rId7"/>
    <p:sldId id="2007581861" r:id="rId8"/>
    <p:sldId id="2007581863" r:id="rId9"/>
    <p:sldId id="2007581864" r:id="rId10"/>
    <p:sldId id="2007581872" r:id="rId11"/>
    <p:sldId id="2007581873" r:id="rId12"/>
    <p:sldId id="2007581865" r:id="rId13"/>
    <p:sldId id="2007581867" r:id="rId14"/>
    <p:sldId id="2007581868" r:id="rId15"/>
    <p:sldId id="2007581866" r:id="rId16"/>
    <p:sldId id="2007581870" r:id="rId17"/>
    <p:sldId id="2007581871" r:id="rId18"/>
    <p:sldId id="2007581869" r:id="rId19"/>
    <p:sldId id="2007581874"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A839DD9-1E32-4340-A535-9CB7C8C2B494}">
          <p14:sldIdLst>
            <p14:sldId id="2007581790"/>
          </p14:sldIdLst>
        </p14:section>
        <p14:section name="2026 August 25" id="{D170B356-1A54-D449-AB4A-7C3F386F0943}">
          <p14:sldIdLst>
            <p14:sldId id="2007581858"/>
            <p14:sldId id="2007581859"/>
            <p14:sldId id="2007581860"/>
            <p14:sldId id="2007581862"/>
            <p14:sldId id="2007581861"/>
            <p14:sldId id="2007581863"/>
            <p14:sldId id="2007581864"/>
          </p14:sldIdLst>
        </p14:section>
        <p14:section name="2026 September 4" id="{F948CBB8-AA62-2B49-9114-F328AB014D68}">
          <p14:sldIdLst>
            <p14:sldId id="2007581872"/>
            <p14:sldId id="2007581873"/>
            <p14:sldId id="2007581865"/>
            <p14:sldId id="2007581867"/>
            <p14:sldId id="2007581868"/>
            <p14:sldId id="2007581866"/>
            <p14:sldId id="2007581870"/>
            <p14:sldId id="2007581871"/>
            <p14:sldId id="2007581869"/>
            <p14:sldId id="200758187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439FDFF-3ED0-3EAF-4DD6-7824248DBC13}" name="T T" initials="TT" userId="e43683947653ad9b"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7" name="1206988966@qq.com" initials="1" lastIdx="1" clrIdx="2"/>
  <p:cmAuthor id="1" name="赖泳扑（Yongpu Lai）" initials="赖泳扑（Yongpu" lastIdx="12" clrIdx="0"/>
  <p:cmAuthor id="8" name="姜伟光" initials="姜" lastIdx="1" clrIdx="0"/>
  <p:cmAuthor id="2" name="作者" initials="A" lastIdx="1" clrIdx="1"/>
  <p:cmAuthor id="3" name="lenovo" initials="l" lastIdx="6" clrIdx="2"/>
  <p:cmAuthor id="4" name="Administrator" initials="A" lastIdx="4" clrIdx="3"/>
  <p:cmAuthor id="5" name="宋洁然" initials="宋" lastIdx="2" clrIdx="1"/>
  <p:cmAuthor id="6" name="ming qiu" initials="m"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6E68"/>
    <a:srgbClr val="45B027"/>
    <a:srgbClr val="04CD39"/>
    <a:srgbClr val="1397A5"/>
    <a:srgbClr val="0E606D"/>
    <a:srgbClr val="FFC44A"/>
    <a:srgbClr val="2500F5"/>
    <a:srgbClr val="CA181C"/>
    <a:srgbClr val="A8EAE5"/>
    <a:srgbClr val="F76E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412" autoAdjust="0"/>
    <p:restoredTop sz="96534" autoAdjust="0"/>
  </p:normalViewPr>
  <p:slideViewPr>
    <p:cSldViewPr snapToGrid="0">
      <p:cViewPr>
        <p:scale>
          <a:sx n="102" d="100"/>
          <a:sy n="102" d="100"/>
        </p:scale>
        <p:origin x="304" y="920"/>
      </p:cViewPr>
      <p:guideLst/>
    </p:cSldViewPr>
  </p:slideViewPr>
  <p:outlineViewPr>
    <p:cViewPr>
      <p:scale>
        <a:sx n="33" d="100"/>
        <a:sy n="33" d="100"/>
      </p:scale>
      <p:origin x="0" y="0"/>
    </p:cViewPr>
  </p:outlineViewPr>
  <p:notesTextViewPr>
    <p:cViewPr>
      <p:scale>
        <a:sx n="200" d="100"/>
        <a:sy n="200" d="100"/>
      </p:scale>
      <p:origin x="0" y="0"/>
    </p:cViewPr>
  </p:notesTextViewPr>
  <p:sorterViewPr>
    <p:cViewPr varScale="1">
      <p:scale>
        <a:sx n="1" d="1"/>
        <a:sy n="1" d="1"/>
      </p:scale>
      <p:origin x="0" y="-2442"/>
    </p:cViewPr>
  </p:sorterViewPr>
  <p:notesViewPr>
    <p:cSldViewPr snapToGrid="0">
      <p:cViewPr varScale="1">
        <p:scale>
          <a:sx n="104" d="100"/>
          <a:sy n="104" d="100"/>
        </p:scale>
        <p:origin x="3832"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gs" Target="tags/tag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622E8C-C2FA-4D43-969E-6BCEC6478C48}" type="datetimeFigureOut">
              <a:rPr lang="zh-CN" altLang="en-US" smtClean="0"/>
              <a:t>2026/9/4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6C1D7A-CCBB-42C4-B8DB-1DB33965608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en-CN"/>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6C1D7A-CCBB-42C4-B8DB-1DB339656085}" type="slidenum">
              <a:rPr lang="zh-CN" altLang="en-US" smtClean="0"/>
              <a:t>1</a:t>
            </a:fld>
            <a:endParaRPr lang="zh-CN" altLang="en-US"/>
          </a:p>
        </p:txBody>
      </p:sp>
    </p:spTree>
    <p:extLst>
      <p:ext uri="{BB962C8B-B14F-4D97-AF65-F5344CB8AC3E}">
        <p14:creationId xmlns:p14="http://schemas.microsoft.com/office/powerpoint/2010/main" val="227477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E2D8A-0322-4D06-00AC-AB78CD72A1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0F0790-F8F0-A01A-001C-737514D31054}"/>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9BF201D8-FC3B-ACFD-0EFB-67E37583BCB1}"/>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EF0217E5-102B-DD56-4BD2-F61392BD0A4B}"/>
              </a:ext>
            </a:extLst>
          </p:cNvPr>
          <p:cNvSpPr>
            <a:spLocks noGrp="1"/>
          </p:cNvSpPr>
          <p:nvPr>
            <p:ph type="sldNum" sz="quarter" idx="5"/>
          </p:nvPr>
        </p:nvSpPr>
        <p:spPr/>
        <p:txBody>
          <a:bodyPr/>
          <a:lstStyle/>
          <a:p>
            <a:fld id="{B86C1D7A-CCBB-42C4-B8DB-1DB339656085}" type="slidenum">
              <a:rPr lang="zh-CN" altLang="en-US" smtClean="0"/>
              <a:t>2</a:t>
            </a:fld>
            <a:endParaRPr lang="zh-CN" altLang="en-US"/>
          </a:p>
        </p:txBody>
      </p:sp>
    </p:spTree>
    <p:extLst>
      <p:ext uri="{BB962C8B-B14F-4D97-AF65-F5344CB8AC3E}">
        <p14:creationId xmlns:p14="http://schemas.microsoft.com/office/powerpoint/2010/main" val="791458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83630-FD2E-FD16-D835-90BF640A0E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4BA009-8FC2-A2AC-EB5D-4AC04AC14279}"/>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4A1CE00C-F4D3-27BA-A60E-D59F8E3BB415}"/>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6A4F57EC-F8B9-7071-0E26-1CDC2BADF5F2}"/>
              </a:ext>
            </a:extLst>
          </p:cNvPr>
          <p:cNvSpPr>
            <a:spLocks noGrp="1"/>
          </p:cNvSpPr>
          <p:nvPr>
            <p:ph type="sldNum" sz="quarter" idx="5"/>
          </p:nvPr>
        </p:nvSpPr>
        <p:spPr/>
        <p:txBody>
          <a:bodyPr/>
          <a:lstStyle/>
          <a:p>
            <a:fld id="{B86C1D7A-CCBB-42C4-B8DB-1DB339656085}" type="slidenum">
              <a:rPr lang="zh-CN" altLang="en-US" smtClean="0"/>
              <a:t>3</a:t>
            </a:fld>
            <a:endParaRPr lang="zh-CN" altLang="en-US"/>
          </a:p>
        </p:txBody>
      </p:sp>
    </p:spTree>
    <p:extLst>
      <p:ext uri="{BB962C8B-B14F-4D97-AF65-F5344CB8AC3E}">
        <p14:creationId xmlns:p14="http://schemas.microsoft.com/office/powerpoint/2010/main" val="2713707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2B65F-9113-A1C3-532A-DA4C70D0F6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1AFA2D-BCB3-87EE-18E2-34B7E5AE3C3C}"/>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81156713-A678-294D-5422-826DDCD088C9}"/>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5BD04186-7C91-3CF1-391B-3DE7EB61EAB3}"/>
              </a:ext>
            </a:extLst>
          </p:cNvPr>
          <p:cNvSpPr>
            <a:spLocks noGrp="1"/>
          </p:cNvSpPr>
          <p:nvPr>
            <p:ph type="sldNum" sz="quarter" idx="5"/>
          </p:nvPr>
        </p:nvSpPr>
        <p:spPr/>
        <p:txBody>
          <a:bodyPr/>
          <a:lstStyle/>
          <a:p>
            <a:fld id="{B86C1D7A-CCBB-42C4-B8DB-1DB339656085}" type="slidenum">
              <a:rPr lang="zh-CN" altLang="en-US" smtClean="0"/>
              <a:t>4</a:t>
            </a:fld>
            <a:endParaRPr lang="zh-CN" altLang="en-US"/>
          </a:p>
        </p:txBody>
      </p:sp>
    </p:spTree>
    <p:extLst>
      <p:ext uri="{BB962C8B-B14F-4D97-AF65-F5344CB8AC3E}">
        <p14:creationId xmlns:p14="http://schemas.microsoft.com/office/powerpoint/2010/main" val="3043498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6DBA-16B1-6531-D4BD-182FA70ADD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0608A8-E31E-00DE-CA36-0FD8BB947BDA}"/>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C9823911-0F5D-33A1-3A8E-A01F090F8654}"/>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0E11F0F3-FBB0-AED2-D787-98672878777B}"/>
              </a:ext>
            </a:extLst>
          </p:cNvPr>
          <p:cNvSpPr>
            <a:spLocks noGrp="1"/>
          </p:cNvSpPr>
          <p:nvPr>
            <p:ph type="sldNum" sz="quarter" idx="5"/>
          </p:nvPr>
        </p:nvSpPr>
        <p:spPr/>
        <p:txBody>
          <a:bodyPr/>
          <a:lstStyle/>
          <a:p>
            <a:fld id="{B86C1D7A-CCBB-42C4-B8DB-1DB339656085}" type="slidenum">
              <a:rPr lang="zh-CN" altLang="en-US" smtClean="0"/>
              <a:t>5</a:t>
            </a:fld>
            <a:endParaRPr lang="zh-CN" altLang="en-US"/>
          </a:p>
        </p:txBody>
      </p:sp>
    </p:spTree>
    <p:extLst>
      <p:ext uri="{BB962C8B-B14F-4D97-AF65-F5344CB8AC3E}">
        <p14:creationId xmlns:p14="http://schemas.microsoft.com/office/powerpoint/2010/main" val="2760563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7744B-3BC0-56C8-1F2E-C0AFC4FBAE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D15068-3B17-3ED6-CF31-C715CF72FA79}"/>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F90B657B-201A-88DC-81BF-DD8128A82E9F}"/>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AE2234E8-64AF-663A-0E5E-738782C121BB}"/>
              </a:ext>
            </a:extLst>
          </p:cNvPr>
          <p:cNvSpPr>
            <a:spLocks noGrp="1"/>
          </p:cNvSpPr>
          <p:nvPr>
            <p:ph type="sldNum" sz="quarter" idx="5"/>
          </p:nvPr>
        </p:nvSpPr>
        <p:spPr/>
        <p:txBody>
          <a:bodyPr/>
          <a:lstStyle/>
          <a:p>
            <a:fld id="{B86C1D7A-CCBB-42C4-B8DB-1DB339656085}" type="slidenum">
              <a:rPr lang="zh-CN" altLang="en-US" smtClean="0"/>
              <a:t>6</a:t>
            </a:fld>
            <a:endParaRPr lang="zh-CN" altLang="en-US"/>
          </a:p>
        </p:txBody>
      </p:sp>
    </p:spTree>
    <p:extLst>
      <p:ext uri="{BB962C8B-B14F-4D97-AF65-F5344CB8AC3E}">
        <p14:creationId xmlns:p14="http://schemas.microsoft.com/office/powerpoint/2010/main" val="3836116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4BC5F-1384-7445-8B5E-AEBE6259DB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A81FD4-723D-ABE7-F8CD-57FE4792E352}"/>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8DFADB9E-B80A-B023-A47A-02370A6D0F0A}"/>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AE9EAF47-B15C-D4CD-0C8C-8259E508B1EA}"/>
              </a:ext>
            </a:extLst>
          </p:cNvPr>
          <p:cNvSpPr>
            <a:spLocks noGrp="1"/>
          </p:cNvSpPr>
          <p:nvPr>
            <p:ph type="sldNum" sz="quarter" idx="5"/>
          </p:nvPr>
        </p:nvSpPr>
        <p:spPr/>
        <p:txBody>
          <a:bodyPr/>
          <a:lstStyle/>
          <a:p>
            <a:fld id="{B86C1D7A-CCBB-42C4-B8DB-1DB339656085}" type="slidenum">
              <a:rPr lang="zh-CN" altLang="en-US" smtClean="0"/>
              <a:t>7</a:t>
            </a:fld>
            <a:endParaRPr lang="zh-CN" altLang="en-US"/>
          </a:p>
        </p:txBody>
      </p:sp>
    </p:spTree>
    <p:extLst>
      <p:ext uri="{BB962C8B-B14F-4D97-AF65-F5344CB8AC3E}">
        <p14:creationId xmlns:p14="http://schemas.microsoft.com/office/powerpoint/2010/main" val="775455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4EB25-77E3-4769-A4F7-821B16949B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249027-4F13-4646-60AD-0518853D1DFD}"/>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1664BED7-FDEA-F1BD-CEAD-D4BA1EC5A901}"/>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68AD074B-FCF1-4512-91E1-08E11F1568B4}"/>
              </a:ext>
            </a:extLst>
          </p:cNvPr>
          <p:cNvSpPr>
            <a:spLocks noGrp="1"/>
          </p:cNvSpPr>
          <p:nvPr>
            <p:ph type="sldNum" sz="quarter" idx="5"/>
          </p:nvPr>
        </p:nvSpPr>
        <p:spPr/>
        <p:txBody>
          <a:bodyPr/>
          <a:lstStyle/>
          <a:p>
            <a:fld id="{B86C1D7A-CCBB-42C4-B8DB-1DB339656085}" type="slidenum">
              <a:rPr lang="zh-CN" altLang="en-US" smtClean="0"/>
              <a:t>8</a:t>
            </a:fld>
            <a:endParaRPr lang="zh-CN" altLang="en-US"/>
          </a:p>
        </p:txBody>
      </p:sp>
    </p:spTree>
    <p:extLst>
      <p:ext uri="{BB962C8B-B14F-4D97-AF65-F5344CB8AC3E}">
        <p14:creationId xmlns:p14="http://schemas.microsoft.com/office/powerpoint/2010/main" val="2562723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AB782-6308-BE3B-5260-F3331F4C53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5A0A39-6FC7-B276-023E-60C2A7D3808E}"/>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79A6209E-66F9-69D2-B783-D6012F403B66}"/>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A2ADA828-04A4-BEDF-2A13-D3DD27F5A01B}"/>
              </a:ext>
            </a:extLst>
          </p:cNvPr>
          <p:cNvSpPr>
            <a:spLocks noGrp="1"/>
          </p:cNvSpPr>
          <p:nvPr>
            <p:ph type="sldNum" sz="quarter" idx="5"/>
          </p:nvPr>
        </p:nvSpPr>
        <p:spPr/>
        <p:txBody>
          <a:bodyPr/>
          <a:lstStyle/>
          <a:p>
            <a:fld id="{B86C1D7A-CCBB-42C4-B8DB-1DB339656085}" type="slidenum">
              <a:rPr lang="zh-CN" altLang="en-US" smtClean="0"/>
              <a:t>9</a:t>
            </a:fld>
            <a:endParaRPr lang="zh-CN" altLang="en-US"/>
          </a:p>
        </p:txBody>
      </p:sp>
    </p:spTree>
    <p:extLst>
      <p:ext uri="{BB962C8B-B14F-4D97-AF65-F5344CB8AC3E}">
        <p14:creationId xmlns:p14="http://schemas.microsoft.com/office/powerpoint/2010/main" val="927852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40328-1A53-754C-D0F0-62742A1C03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9E7447-855B-603B-D9E2-FD703F1802B7}"/>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4A216E62-6949-83FB-7038-AF53619BE261}"/>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EF4C61AB-695B-8516-3B38-DE1E956C3200}"/>
              </a:ext>
            </a:extLst>
          </p:cNvPr>
          <p:cNvSpPr>
            <a:spLocks noGrp="1"/>
          </p:cNvSpPr>
          <p:nvPr>
            <p:ph type="sldNum" sz="quarter" idx="5"/>
          </p:nvPr>
        </p:nvSpPr>
        <p:spPr/>
        <p:txBody>
          <a:bodyPr/>
          <a:lstStyle/>
          <a:p>
            <a:fld id="{B86C1D7A-CCBB-42C4-B8DB-1DB339656085}" type="slidenum">
              <a:rPr lang="zh-CN" altLang="en-US" smtClean="0"/>
              <a:t>10</a:t>
            </a:fld>
            <a:endParaRPr lang="zh-CN" altLang="en-US"/>
          </a:p>
        </p:txBody>
      </p:sp>
    </p:spTree>
    <p:extLst>
      <p:ext uri="{BB962C8B-B14F-4D97-AF65-F5344CB8AC3E}">
        <p14:creationId xmlns:p14="http://schemas.microsoft.com/office/powerpoint/2010/main" val="3326268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13F6B-7BEE-BBF2-7FA1-86B1AA92AA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6409FE-66E6-05D9-E383-EB6144DD6F43}"/>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302CB6B1-8132-A7E4-3468-EF164F47DA40}"/>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688B80F4-8180-7643-178A-512CCA843AAA}"/>
              </a:ext>
            </a:extLst>
          </p:cNvPr>
          <p:cNvSpPr>
            <a:spLocks noGrp="1"/>
          </p:cNvSpPr>
          <p:nvPr>
            <p:ph type="sldNum" sz="quarter" idx="5"/>
          </p:nvPr>
        </p:nvSpPr>
        <p:spPr/>
        <p:txBody>
          <a:bodyPr/>
          <a:lstStyle/>
          <a:p>
            <a:fld id="{B86C1D7A-CCBB-42C4-B8DB-1DB339656085}" type="slidenum">
              <a:rPr lang="zh-CN" altLang="en-US" smtClean="0"/>
              <a:t>11</a:t>
            </a:fld>
            <a:endParaRPr lang="zh-CN" altLang="en-US"/>
          </a:p>
        </p:txBody>
      </p:sp>
    </p:spTree>
    <p:extLst>
      <p:ext uri="{BB962C8B-B14F-4D97-AF65-F5344CB8AC3E}">
        <p14:creationId xmlns:p14="http://schemas.microsoft.com/office/powerpoint/2010/main" val="1561848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3C749-F544-EAFD-9C47-968ED0A41E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E03736-6015-0CBD-BB0D-FDACDF792721}"/>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ECF56BC4-DFDE-18C5-E16E-0ECD0A2BEB82}"/>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4476D4F4-3613-B9A8-1D81-EFA092B98486}"/>
              </a:ext>
            </a:extLst>
          </p:cNvPr>
          <p:cNvSpPr>
            <a:spLocks noGrp="1"/>
          </p:cNvSpPr>
          <p:nvPr>
            <p:ph type="sldNum" sz="quarter" idx="5"/>
          </p:nvPr>
        </p:nvSpPr>
        <p:spPr/>
        <p:txBody>
          <a:bodyPr/>
          <a:lstStyle/>
          <a:p>
            <a:fld id="{B86C1D7A-CCBB-42C4-B8DB-1DB339656085}" type="slidenum">
              <a:rPr lang="zh-CN" altLang="en-US" smtClean="0"/>
              <a:t>12</a:t>
            </a:fld>
            <a:endParaRPr lang="zh-CN" altLang="en-US"/>
          </a:p>
        </p:txBody>
      </p:sp>
    </p:spTree>
    <p:extLst>
      <p:ext uri="{BB962C8B-B14F-4D97-AF65-F5344CB8AC3E}">
        <p14:creationId xmlns:p14="http://schemas.microsoft.com/office/powerpoint/2010/main" val="3672900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5B9E8-8215-9B43-49BE-EDB68D6C0B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693294-0B1E-B689-435D-FA330AE8F293}"/>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9F5C0B01-67B1-C286-08D9-BA29C72EC34B}"/>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30C0D26C-5BA1-04E3-9840-191706944925}"/>
              </a:ext>
            </a:extLst>
          </p:cNvPr>
          <p:cNvSpPr>
            <a:spLocks noGrp="1"/>
          </p:cNvSpPr>
          <p:nvPr>
            <p:ph type="sldNum" sz="quarter" idx="5"/>
          </p:nvPr>
        </p:nvSpPr>
        <p:spPr/>
        <p:txBody>
          <a:bodyPr/>
          <a:lstStyle/>
          <a:p>
            <a:fld id="{B86C1D7A-CCBB-42C4-B8DB-1DB339656085}" type="slidenum">
              <a:rPr lang="zh-CN" altLang="en-US" smtClean="0"/>
              <a:t>13</a:t>
            </a:fld>
            <a:endParaRPr lang="zh-CN" altLang="en-US"/>
          </a:p>
        </p:txBody>
      </p:sp>
    </p:spTree>
    <p:extLst>
      <p:ext uri="{BB962C8B-B14F-4D97-AF65-F5344CB8AC3E}">
        <p14:creationId xmlns:p14="http://schemas.microsoft.com/office/powerpoint/2010/main" val="4066827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BEED1-5376-ED27-4710-63279194C1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098A85-E786-84C2-A522-AE8C392435C1}"/>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277DEE07-F5B3-6C91-3E36-360B7F26475B}"/>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72DE3326-6446-7EC3-9F8B-EF339CFA4030}"/>
              </a:ext>
            </a:extLst>
          </p:cNvPr>
          <p:cNvSpPr>
            <a:spLocks noGrp="1"/>
          </p:cNvSpPr>
          <p:nvPr>
            <p:ph type="sldNum" sz="quarter" idx="5"/>
          </p:nvPr>
        </p:nvSpPr>
        <p:spPr/>
        <p:txBody>
          <a:bodyPr/>
          <a:lstStyle/>
          <a:p>
            <a:fld id="{B86C1D7A-CCBB-42C4-B8DB-1DB339656085}" type="slidenum">
              <a:rPr lang="zh-CN" altLang="en-US" smtClean="0"/>
              <a:t>14</a:t>
            </a:fld>
            <a:endParaRPr lang="zh-CN" altLang="en-US"/>
          </a:p>
        </p:txBody>
      </p:sp>
    </p:spTree>
    <p:extLst>
      <p:ext uri="{BB962C8B-B14F-4D97-AF65-F5344CB8AC3E}">
        <p14:creationId xmlns:p14="http://schemas.microsoft.com/office/powerpoint/2010/main" val="647396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08F1A-BD7E-09CB-C406-FEB8A0CDF1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D536CF-D595-1329-D610-B1EA1EDA596D}"/>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207EDA75-0920-BFB9-98F9-7A96220ABB58}"/>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57CE4FB1-F7EC-02D0-37FB-59F023F5D564}"/>
              </a:ext>
            </a:extLst>
          </p:cNvPr>
          <p:cNvSpPr>
            <a:spLocks noGrp="1"/>
          </p:cNvSpPr>
          <p:nvPr>
            <p:ph type="sldNum" sz="quarter" idx="5"/>
          </p:nvPr>
        </p:nvSpPr>
        <p:spPr/>
        <p:txBody>
          <a:bodyPr/>
          <a:lstStyle/>
          <a:p>
            <a:fld id="{B86C1D7A-CCBB-42C4-B8DB-1DB339656085}" type="slidenum">
              <a:rPr lang="zh-CN" altLang="en-US" smtClean="0"/>
              <a:t>15</a:t>
            </a:fld>
            <a:endParaRPr lang="zh-CN" altLang="en-US"/>
          </a:p>
        </p:txBody>
      </p:sp>
    </p:spTree>
    <p:extLst>
      <p:ext uri="{BB962C8B-B14F-4D97-AF65-F5344CB8AC3E}">
        <p14:creationId xmlns:p14="http://schemas.microsoft.com/office/powerpoint/2010/main" val="1858846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9E2DA-882C-A46F-6A25-D8446656DB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A90047-A075-B562-CA90-B7110B9AE712}"/>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B971477D-837F-CF9C-5F24-1134CA958AFE}"/>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6E2E3BA3-970F-118E-289E-8470D78D75EA}"/>
              </a:ext>
            </a:extLst>
          </p:cNvPr>
          <p:cNvSpPr>
            <a:spLocks noGrp="1"/>
          </p:cNvSpPr>
          <p:nvPr>
            <p:ph type="sldNum" sz="quarter" idx="5"/>
          </p:nvPr>
        </p:nvSpPr>
        <p:spPr/>
        <p:txBody>
          <a:bodyPr/>
          <a:lstStyle/>
          <a:p>
            <a:fld id="{B86C1D7A-CCBB-42C4-B8DB-1DB339656085}" type="slidenum">
              <a:rPr lang="zh-CN" altLang="en-US" smtClean="0"/>
              <a:t>16</a:t>
            </a:fld>
            <a:endParaRPr lang="zh-CN" altLang="en-US"/>
          </a:p>
        </p:txBody>
      </p:sp>
    </p:spTree>
    <p:extLst>
      <p:ext uri="{BB962C8B-B14F-4D97-AF65-F5344CB8AC3E}">
        <p14:creationId xmlns:p14="http://schemas.microsoft.com/office/powerpoint/2010/main" val="26415805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217D4-7727-2354-52CB-0F7D5DB3CB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A18773-A69A-A57F-9DC3-A4D1AE95E3D6}"/>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07DDD078-3666-7BAE-E480-7DBF4412CD75}"/>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C24E57EF-52F3-96E8-538F-7800983A3B92}"/>
              </a:ext>
            </a:extLst>
          </p:cNvPr>
          <p:cNvSpPr>
            <a:spLocks noGrp="1"/>
          </p:cNvSpPr>
          <p:nvPr>
            <p:ph type="sldNum" sz="quarter" idx="5"/>
          </p:nvPr>
        </p:nvSpPr>
        <p:spPr/>
        <p:txBody>
          <a:bodyPr/>
          <a:lstStyle/>
          <a:p>
            <a:fld id="{B86C1D7A-CCBB-42C4-B8DB-1DB339656085}" type="slidenum">
              <a:rPr lang="zh-CN" altLang="en-US" smtClean="0"/>
              <a:t>17</a:t>
            </a:fld>
            <a:endParaRPr lang="zh-CN" altLang="en-US"/>
          </a:p>
        </p:txBody>
      </p:sp>
    </p:spTree>
    <p:extLst>
      <p:ext uri="{BB962C8B-B14F-4D97-AF65-F5344CB8AC3E}">
        <p14:creationId xmlns:p14="http://schemas.microsoft.com/office/powerpoint/2010/main" val="864114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8324A-77D9-A4BB-5E8A-74CF8F2B07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9BF23C-FE8E-92A7-E949-9A0FC2088AC6}"/>
              </a:ext>
            </a:extLst>
          </p:cNvPr>
          <p:cNvSpPr>
            <a:spLocks noGrp="1" noRot="1" noChangeAspect="1"/>
          </p:cNvSpPr>
          <p:nvPr>
            <p:ph type="sldImg"/>
          </p:nvPr>
        </p:nvSpPr>
        <p:spPr/>
        <p:txBody>
          <a:bodyPr/>
          <a:lstStyle/>
          <a:p>
            <a:endParaRPr lang="en-CN"/>
          </a:p>
        </p:txBody>
      </p:sp>
      <p:sp>
        <p:nvSpPr>
          <p:cNvPr id="3" name="备注占位符 2">
            <a:extLst>
              <a:ext uri="{FF2B5EF4-FFF2-40B4-BE49-F238E27FC236}">
                <a16:creationId xmlns:a16="http://schemas.microsoft.com/office/drawing/2014/main" id="{F3715863-DBF4-394D-C9E5-89840DB8F458}"/>
              </a:ext>
            </a:extLst>
          </p:cNvPr>
          <p:cNvSpPr>
            <a:spLocks noGrp="1"/>
          </p:cNvSpPr>
          <p:nvPr>
            <p:ph type="body" idx="1"/>
          </p:nvPr>
        </p:nvSpPr>
        <p:spPr/>
        <p:txBody>
          <a:bodyPr/>
          <a:lstStyle/>
          <a:p>
            <a:r>
              <a:rPr lang="en-US" altLang="zh-CN" dirty="0"/>
              <a:t>Just some notes regarding </a:t>
            </a:r>
            <a:r>
              <a:rPr lang="en-US" altLang="zh-CN" i="1" dirty="0"/>
              <a:t>Gunnera</a:t>
            </a:r>
            <a:r>
              <a:rPr lang="en-US" altLang="zh-CN" dirty="0"/>
              <a:t> tree</a:t>
            </a:r>
            <a:endParaRPr lang="zh-CN" altLang="en-US" dirty="0"/>
          </a:p>
        </p:txBody>
      </p:sp>
      <p:sp>
        <p:nvSpPr>
          <p:cNvPr id="4" name="灯片编号占位符 3">
            <a:extLst>
              <a:ext uri="{FF2B5EF4-FFF2-40B4-BE49-F238E27FC236}">
                <a16:creationId xmlns:a16="http://schemas.microsoft.com/office/drawing/2014/main" id="{87E00E9F-DBB1-A181-16AF-E960A2D50449}"/>
              </a:ext>
            </a:extLst>
          </p:cNvPr>
          <p:cNvSpPr>
            <a:spLocks noGrp="1"/>
          </p:cNvSpPr>
          <p:nvPr>
            <p:ph type="sldNum" sz="quarter" idx="5"/>
          </p:nvPr>
        </p:nvSpPr>
        <p:spPr/>
        <p:txBody>
          <a:bodyPr/>
          <a:lstStyle/>
          <a:p>
            <a:fld id="{B86C1D7A-CCBB-42C4-B8DB-1DB339656085}" type="slidenum">
              <a:rPr lang="zh-CN" altLang="en-US" smtClean="0"/>
              <a:t>18</a:t>
            </a:fld>
            <a:endParaRPr lang="zh-CN" altLang="en-US"/>
          </a:p>
        </p:txBody>
      </p:sp>
    </p:spTree>
    <p:extLst>
      <p:ext uri="{BB962C8B-B14F-4D97-AF65-F5344CB8AC3E}">
        <p14:creationId xmlns:p14="http://schemas.microsoft.com/office/powerpoint/2010/main" val="623733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19304E0-4029-4432-99D1-493017E15F03}"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64DC312-E732-4E35-ACC6-8833826DABAE}" type="slidenum">
              <a:rPr lang="zh-CN" altLang="en-US" smtClean="0"/>
              <a:t>‹#›</a:t>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4797"/>
            <a:ext cx="12192000" cy="6858000"/>
          </a:xfrm>
          <a:prstGeom prst="rect">
            <a:avLst/>
          </a:prstGeom>
        </p:spPr>
      </p:pic>
      <p:pic>
        <p:nvPicPr>
          <p:cNvPr id="2" name="图片 1" descr="研究院新logo白色透明底2021-0826">
            <a:extLst>
              <a:ext uri="{FF2B5EF4-FFF2-40B4-BE49-F238E27FC236}">
                <a16:creationId xmlns:a16="http://schemas.microsoft.com/office/drawing/2014/main" id="{A1A77FFA-21B6-D0A0-2672-21953B170DE3}"/>
              </a:ext>
            </a:extLst>
          </p:cNvPr>
          <p:cNvPicPr>
            <a:picLocks noChangeAspect="1"/>
          </p:cNvPicPr>
          <p:nvPr userDrawn="1"/>
        </p:nvPicPr>
        <p:blipFill>
          <a:blip r:embed="rId3"/>
          <a:srcRect t="34938" b="36534"/>
          <a:stretch>
            <a:fillRect/>
          </a:stretch>
        </p:blipFill>
        <p:spPr>
          <a:xfrm>
            <a:off x="2999913" y="1853219"/>
            <a:ext cx="5922645" cy="949960"/>
          </a:xfrm>
          <a:prstGeom prst="rect">
            <a:avLst/>
          </a:prstGeom>
        </p:spPr>
      </p:pic>
      <p:sp>
        <p:nvSpPr>
          <p:cNvPr id="11" name="标题 1">
            <a:extLst>
              <a:ext uri="{FF2B5EF4-FFF2-40B4-BE49-F238E27FC236}">
                <a16:creationId xmlns:a16="http://schemas.microsoft.com/office/drawing/2014/main" id="{605EDF95-3DDE-E128-83AC-DF1CF062EFB2}"/>
              </a:ext>
            </a:extLst>
          </p:cNvPr>
          <p:cNvSpPr>
            <a:spLocks noGrp="1"/>
          </p:cNvSpPr>
          <p:nvPr>
            <p:ph type="ctrTitle"/>
          </p:nvPr>
        </p:nvSpPr>
        <p:spPr>
          <a:xfrm>
            <a:off x="1524000" y="3314203"/>
            <a:ext cx="9144000" cy="740619"/>
          </a:xfrm>
          <a:prstGeom prst="rect">
            <a:avLst/>
          </a:prstGeom>
        </p:spPr>
        <p:txBody>
          <a:bodyPr anchor="b"/>
          <a:lstStyle>
            <a:lvl1pPr algn="ctr">
              <a:defRPr sz="40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21" name="内容占位符 20">
            <a:extLst>
              <a:ext uri="{FF2B5EF4-FFF2-40B4-BE49-F238E27FC236}">
                <a16:creationId xmlns:a16="http://schemas.microsoft.com/office/drawing/2014/main" id="{F8FB48AD-00EE-22DA-1E5C-4BF1DF2F6554}"/>
              </a:ext>
            </a:extLst>
          </p:cNvPr>
          <p:cNvSpPr>
            <a:spLocks noGrp="1"/>
          </p:cNvSpPr>
          <p:nvPr>
            <p:ph sz="quarter" idx="13" hasCustomPrompt="1"/>
          </p:nvPr>
        </p:nvSpPr>
        <p:spPr>
          <a:xfrm>
            <a:off x="1524000" y="4348163"/>
            <a:ext cx="9144000" cy="500062"/>
          </a:xfrm>
          <a:prstGeom prst="rect">
            <a:avLst/>
          </a:prstGeo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buNone/>
              <a:defRPr sz="2400">
                <a:latin typeface="微软雅黑" panose="020B0503020204020204" pitchFamily="34" charset="-122"/>
                <a:ea typeface="微软雅黑" panose="020B0503020204020204" pitchFamily="34" charset="-122"/>
              </a:defRPr>
            </a:lvl2pPr>
            <a:lvl3pPr marL="914400" indent="0">
              <a:buNone/>
              <a:defRPr sz="2400">
                <a:latin typeface="微软雅黑" panose="020B0503020204020204" pitchFamily="34" charset="-122"/>
                <a:ea typeface="微软雅黑" panose="020B0503020204020204" pitchFamily="34" charset="-122"/>
              </a:defRPr>
            </a:lvl3pPr>
            <a:lvl4pPr marL="1371600" indent="0">
              <a:buNone/>
              <a:defRPr sz="2400">
                <a:latin typeface="微软雅黑" panose="020B0503020204020204" pitchFamily="34" charset="-122"/>
                <a:ea typeface="微软雅黑" panose="020B0503020204020204" pitchFamily="34" charset="-122"/>
              </a:defRPr>
            </a:lvl4pPr>
            <a:lvl5pPr marL="1828800" indent="0">
              <a:buNone/>
              <a:defRPr sz="2400">
                <a:latin typeface="微软雅黑" panose="020B0503020204020204" pitchFamily="34" charset="-122"/>
                <a:ea typeface="微软雅黑" panose="020B0503020204020204" pitchFamily="34" charset="-122"/>
              </a:defRPr>
            </a:lvl5pPr>
          </a:lstStyle>
          <a:p>
            <a:pPr lvl="0"/>
            <a:r>
              <a:rPr lang="zh-CN" altLang="en-US" dirty="0"/>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19304E0-4029-4432-99D1-493017E15F03}"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64DC312-E732-4E35-ACC6-8833826DABAE}" type="slidenum">
              <a:rPr lang="zh-CN" altLang="en-US" smtClean="0"/>
              <a:t>‹#›</a:t>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04413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253330"/>
            <a:ext cx="10515600" cy="4938923"/>
          </a:xfrm>
          <a:prstGeom prst="rect">
            <a:avLst/>
          </a:prstGeom>
        </p:spPr>
        <p:txBody>
          <a:bodyPr/>
          <a:lstStyle>
            <a:lvl1pPr>
              <a:defRPr>
                <a:latin typeface="微软雅黑" panose="020B0503020204020204" pitchFamily="34" charset="-122"/>
                <a:ea typeface="微软雅黑" panose="020B0503020204020204" pitchFamily="34" charset="-122"/>
              </a:defRPr>
            </a:lvl1pPr>
            <a:lvl2pPr marL="800100" indent="-342900">
              <a:buFont typeface="微软雅黑" panose="020B0503020204020204" pitchFamily="34" charset="-122"/>
              <a:buChar cha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marL="1600200" indent="-228600">
              <a:buFont typeface="微软雅黑" panose="020B0503020204020204" pitchFamily="34" charset="-122"/>
              <a:buChar cha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4">
            <a:extLst>
              <a:ext uri="{FF2B5EF4-FFF2-40B4-BE49-F238E27FC236}">
                <a16:creationId xmlns:a16="http://schemas.microsoft.com/office/drawing/2014/main" id="{D0F8A856-7006-4B22-9B0A-468578818B74}"/>
              </a:ext>
            </a:extLst>
          </p:cNvPr>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B7A22B-378E-47BC-8F39-91368CCFD85B}" type="datetime1">
              <a:rPr lang="zh-CN" altLang="en-US" smtClean="0"/>
              <a:pPr/>
              <a:t>2026/9/4</a:t>
            </a:fld>
            <a:endParaRPr lang="zh-CN" altLang="en-US"/>
          </a:p>
        </p:txBody>
      </p:sp>
      <p:sp>
        <p:nvSpPr>
          <p:cNvPr id="5" name="页脚占位符 5">
            <a:extLst>
              <a:ext uri="{FF2B5EF4-FFF2-40B4-BE49-F238E27FC236}">
                <a16:creationId xmlns:a16="http://schemas.microsoft.com/office/drawing/2014/main" id="{BCE1617B-B180-4EBC-BA46-B2C406FCDC85}"/>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                             </a:t>
            </a:r>
          </a:p>
        </p:txBody>
      </p:sp>
      <p:sp>
        <p:nvSpPr>
          <p:cNvPr id="6" name="灯片编号占位符 6">
            <a:extLst>
              <a:ext uri="{FF2B5EF4-FFF2-40B4-BE49-F238E27FC236}">
                <a16:creationId xmlns:a16="http://schemas.microsoft.com/office/drawing/2014/main" id="{6A86BEE8-E3B5-4394-9445-AED1CE1D4BD8}"/>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281AEB-07EC-42BD-BA3B-0262F1DD417E}" type="slidenum">
              <a:rPr lang="zh-CN" altLang="en-US" smtClean="0"/>
              <a:pPr/>
              <a:t>‹#›</a:t>
            </a:fld>
            <a:endParaRPr lang="zh-CN" altLang="en-US"/>
          </a:p>
        </p:txBody>
      </p:sp>
      <p:sp>
        <p:nvSpPr>
          <p:cNvPr id="9" name="标题 8">
            <a:extLst>
              <a:ext uri="{FF2B5EF4-FFF2-40B4-BE49-F238E27FC236}">
                <a16:creationId xmlns:a16="http://schemas.microsoft.com/office/drawing/2014/main" id="{D3EC78DE-7584-2E76-F478-BB4F4256E074}"/>
              </a:ext>
            </a:extLst>
          </p:cNvPr>
          <p:cNvSpPr>
            <a:spLocks noGrp="1"/>
          </p:cNvSpPr>
          <p:nvPr>
            <p:ph type="title"/>
          </p:nvPr>
        </p:nvSpPr>
        <p:spPr>
          <a:xfrm>
            <a:off x="1439" y="198408"/>
            <a:ext cx="5329686" cy="500332"/>
          </a:xfrm>
          <a:prstGeom prst="rect">
            <a:avLst/>
          </a:prstGeom>
        </p:spPr>
        <p:txBody>
          <a:bodyPr anchor="ctr"/>
          <a:lstStyle>
            <a:lvl1pPr marL="0" algn="l" defTabSz="914400" rtl="0" eaLnBrk="1" latinLnBrk="0" hangingPunct="1">
              <a:lnSpc>
                <a:spcPct val="90000"/>
              </a:lnSpc>
              <a:spcBef>
                <a:spcPct val="0"/>
              </a:spcBef>
              <a:buNone/>
              <a:defRPr lang="zh-CN" altLang="en-US" sz="2400" b="1"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p>
        </p:txBody>
      </p:sp>
    </p:spTree>
    <p:extLst>
      <p:ext uri="{BB962C8B-B14F-4D97-AF65-F5344CB8AC3E}">
        <p14:creationId xmlns:p14="http://schemas.microsoft.com/office/powerpoint/2010/main" val="1855123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19304E0-4029-4432-99D1-493017E15F03}" type="datetimeFigureOut">
              <a:rPr lang="zh-CN" altLang="en-US" smtClean="0"/>
              <a:t>2026/9/4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C64DC312-E732-4E35-ACC6-8833826DABAE}" type="slidenum">
              <a:rPr lang="zh-CN" altLang="en-US" smtClean="0"/>
              <a:t>‹#›</a:t>
            </a:fld>
            <a:endParaRPr lang="zh-CN" altLang="en-US"/>
          </a:p>
        </p:txBody>
      </p:sp>
      <p:sp>
        <p:nvSpPr>
          <p:cNvPr id="10" name="标题 8">
            <a:extLst>
              <a:ext uri="{FF2B5EF4-FFF2-40B4-BE49-F238E27FC236}">
                <a16:creationId xmlns:a16="http://schemas.microsoft.com/office/drawing/2014/main" id="{83E0B136-E0C4-B6FA-13A3-E177F268C4BE}"/>
              </a:ext>
            </a:extLst>
          </p:cNvPr>
          <p:cNvSpPr>
            <a:spLocks noGrp="1"/>
          </p:cNvSpPr>
          <p:nvPr>
            <p:ph type="title"/>
          </p:nvPr>
        </p:nvSpPr>
        <p:spPr>
          <a:xfrm>
            <a:off x="1439" y="198408"/>
            <a:ext cx="5329686" cy="500332"/>
          </a:xfrm>
          <a:prstGeom prst="rect">
            <a:avLst/>
          </a:prstGeom>
        </p:spPr>
        <p:txBody>
          <a:bodyPr anchor="ctr"/>
          <a:lstStyle>
            <a:lvl1pPr marL="0" algn="l" defTabSz="914400" rtl="0" eaLnBrk="1" latinLnBrk="0" hangingPunct="1">
              <a:lnSpc>
                <a:spcPct val="90000"/>
              </a:lnSpc>
              <a:spcBef>
                <a:spcPct val="0"/>
              </a:spcBef>
              <a:buNone/>
              <a:defRPr lang="zh-CN" altLang="en-US" sz="2400" b="1"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919304E0-4029-4432-99D1-493017E15F03}" type="datetimeFigureOut">
              <a:rPr lang="zh-CN" altLang="en-US" smtClean="0"/>
              <a:t>2026/9/4</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C64DC312-E732-4E35-ACC6-8833826DABAE}" type="slidenum">
              <a:rPr lang="zh-CN" altLang="en-US" smtClean="0"/>
              <a:t>‹#›</a:t>
            </a:fld>
            <a:endParaRPr lang="zh-CN" altLang="en-US"/>
          </a:p>
        </p:txBody>
      </p:sp>
      <p:sp>
        <p:nvSpPr>
          <p:cNvPr id="11" name="标题 8">
            <a:extLst>
              <a:ext uri="{FF2B5EF4-FFF2-40B4-BE49-F238E27FC236}">
                <a16:creationId xmlns:a16="http://schemas.microsoft.com/office/drawing/2014/main" id="{87C5205D-7B00-154D-A893-7523C2CD992C}"/>
              </a:ext>
            </a:extLst>
          </p:cNvPr>
          <p:cNvSpPr>
            <a:spLocks noGrp="1"/>
          </p:cNvSpPr>
          <p:nvPr>
            <p:ph type="title"/>
          </p:nvPr>
        </p:nvSpPr>
        <p:spPr>
          <a:xfrm>
            <a:off x="1439" y="198408"/>
            <a:ext cx="5329686" cy="500332"/>
          </a:xfrm>
          <a:prstGeom prst="rect">
            <a:avLst/>
          </a:prstGeom>
        </p:spPr>
        <p:txBody>
          <a:bodyPr anchor="ctr"/>
          <a:lstStyle>
            <a:lvl1pPr marL="0" algn="l" defTabSz="914400" rtl="0" eaLnBrk="1" latinLnBrk="0" hangingPunct="1">
              <a:lnSpc>
                <a:spcPct val="90000"/>
              </a:lnSpc>
              <a:spcBef>
                <a:spcPct val="0"/>
              </a:spcBef>
              <a:buNone/>
              <a:defRPr lang="zh-CN" altLang="en-US" sz="2400" b="1"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19304E0-4029-4432-99D1-493017E15F03}" type="datetimeFigureOut">
              <a:rPr lang="zh-CN" altLang="en-US" smtClean="0"/>
              <a:t>2026/9/4</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C64DC312-E732-4E35-ACC6-8833826DABAE}" type="slidenum">
              <a:rPr lang="zh-CN" altLang="en-US" smtClean="0"/>
              <a:t>‹#›</a:t>
            </a:fld>
            <a:endParaRPr lang="zh-CN" altLang="en-US"/>
          </a:p>
        </p:txBody>
      </p:sp>
      <p:sp>
        <p:nvSpPr>
          <p:cNvPr id="6" name="标题 8">
            <a:extLst>
              <a:ext uri="{FF2B5EF4-FFF2-40B4-BE49-F238E27FC236}">
                <a16:creationId xmlns:a16="http://schemas.microsoft.com/office/drawing/2014/main" id="{BC7A8288-BFDB-4475-AC88-DEDFBDFB1924}"/>
              </a:ext>
            </a:extLst>
          </p:cNvPr>
          <p:cNvSpPr>
            <a:spLocks noGrp="1"/>
          </p:cNvSpPr>
          <p:nvPr>
            <p:ph type="title"/>
          </p:nvPr>
        </p:nvSpPr>
        <p:spPr>
          <a:xfrm>
            <a:off x="1439" y="198408"/>
            <a:ext cx="5329686" cy="500332"/>
          </a:xfrm>
          <a:prstGeom prst="rect">
            <a:avLst/>
          </a:prstGeom>
        </p:spPr>
        <p:txBody>
          <a:bodyPr anchor="ctr"/>
          <a:lstStyle>
            <a:lvl1pPr marL="0" algn="l" defTabSz="914400" rtl="0" eaLnBrk="1" latinLnBrk="0" hangingPunct="1">
              <a:lnSpc>
                <a:spcPct val="90000"/>
              </a:lnSpc>
              <a:spcBef>
                <a:spcPct val="0"/>
              </a:spcBef>
              <a:buNone/>
              <a:defRPr lang="zh-CN" altLang="en-US" sz="2400" b="1"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987424"/>
            <a:ext cx="3932237" cy="1069975"/>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19304E0-4029-4432-99D1-493017E15F03}" type="datetimeFigureOut">
              <a:rPr lang="zh-CN" altLang="en-US" smtClean="0"/>
              <a:t>2026/9/4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C64DC312-E732-4E35-ACC6-8833826DABAE}" type="slidenum">
              <a:rPr lang="zh-CN" altLang="en-US" smtClean="0"/>
              <a:t>‹#›</a:t>
            </a:fld>
            <a:endParaRPr lang="zh-CN" altLang="en-US"/>
          </a:p>
        </p:txBody>
      </p:sp>
      <p:sp>
        <p:nvSpPr>
          <p:cNvPr id="9" name="标题 8">
            <a:extLst>
              <a:ext uri="{FF2B5EF4-FFF2-40B4-BE49-F238E27FC236}">
                <a16:creationId xmlns:a16="http://schemas.microsoft.com/office/drawing/2014/main" id="{DC14D59B-0C6C-5D3A-B9A4-15431A13E17A}"/>
              </a:ext>
            </a:extLst>
          </p:cNvPr>
          <p:cNvSpPr txBox="1">
            <a:spLocks/>
          </p:cNvSpPr>
          <p:nvPr userDrawn="1"/>
        </p:nvSpPr>
        <p:spPr>
          <a:xfrm>
            <a:off x="1439" y="198408"/>
            <a:ext cx="5329686" cy="500332"/>
          </a:xfrm>
          <a:prstGeom prst="rect">
            <a:avLst/>
          </a:prstGeom>
        </p:spPr>
        <p:txBody>
          <a:bodyPr anchor="ctr"/>
          <a:lstStyle>
            <a:lvl1pPr marL="0" algn="l" defTabSz="914400" rtl="0" eaLnBrk="1" latinLnBrk="0" hangingPunct="1">
              <a:lnSpc>
                <a:spcPct val="90000"/>
              </a:lnSpc>
              <a:spcBef>
                <a:spcPct val="0"/>
              </a:spcBef>
              <a:buNone/>
              <a:defRPr lang="zh-CN" altLang="en-US" sz="2400" b="1"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19304E0-4029-4432-99D1-493017E15F03}"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64DC312-E732-4E35-ACC6-8833826DABAE}" type="slidenum">
              <a:rPr lang="zh-CN" altLang="en-US" smtClean="0"/>
              <a:t>‹#›</a:t>
            </a:fld>
            <a:endParaRPr lang="zh-CN" altLang="en-US"/>
          </a:p>
        </p:txBody>
      </p:sp>
      <p:sp>
        <p:nvSpPr>
          <p:cNvPr id="8" name="标题 8">
            <a:extLst>
              <a:ext uri="{FF2B5EF4-FFF2-40B4-BE49-F238E27FC236}">
                <a16:creationId xmlns:a16="http://schemas.microsoft.com/office/drawing/2014/main" id="{445E250C-7B6D-5D2B-280B-707B169F1D32}"/>
              </a:ext>
            </a:extLst>
          </p:cNvPr>
          <p:cNvSpPr>
            <a:spLocks noGrp="1"/>
          </p:cNvSpPr>
          <p:nvPr>
            <p:ph type="title"/>
          </p:nvPr>
        </p:nvSpPr>
        <p:spPr>
          <a:xfrm>
            <a:off x="1439" y="198408"/>
            <a:ext cx="5329686" cy="500332"/>
          </a:xfrm>
          <a:prstGeom prst="rect">
            <a:avLst/>
          </a:prstGeom>
        </p:spPr>
        <p:txBody>
          <a:bodyPr anchor="ctr"/>
          <a:lstStyle>
            <a:lvl1pPr marL="0" algn="l" defTabSz="914400" rtl="0" eaLnBrk="1" latinLnBrk="0" hangingPunct="1">
              <a:lnSpc>
                <a:spcPct val="90000"/>
              </a:lnSpc>
              <a:spcBef>
                <a:spcPct val="0"/>
              </a:spcBef>
              <a:buNone/>
              <a:defRPr lang="zh-CN" altLang="en-US" sz="2400" b="1"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19304E0-4029-4432-99D1-493017E15F03}"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64DC312-E732-4E35-ACC6-8833826DABAE}" type="slidenum">
              <a:rPr lang="zh-CN" altLang="en-US" smtClean="0"/>
              <a:t>‹#›</a:t>
            </a:fld>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19304E0-4029-4432-99D1-493017E15F03}"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64DC312-E732-4E35-ACC6-8833826DABAE}" type="slidenum">
              <a:rPr lang="zh-CN" altLang="en-US" smtClean="0"/>
              <a:t>‹#›</a:t>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33625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19304E0-4029-4432-99D1-493017E15F03}" type="datetimeFigureOut">
              <a:rPr lang="zh-CN" altLang="en-US" smtClean="0"/>
              <a:t>2026/9/4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C64DC312-E732-4E35-ACC6-8833826DABAE}" type="slidenum">
              <a:rPr lang="zh-CN" altLang="en-US" smtClean="0"/>
              <a:t>‹#›</a:t>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文本框 1">
            <a:extLst>
              <a:ext uri="{FF2B5EF4-FFF2-40B4-BE49-F238E27FC236}">
                <a16:creationId xmlns:a16="http://schemas.microsoft.com/office/drawing/2014/main" id="{B1F0AE91-016D-00BA-4BC8-5DB2258384E3}"/>
              </a:ext>
            </a:extLst>
          </p:cNvPr>
          <p:cNvSpPr txBox="1"/>
          <p:nvPr userDrawn="1"/>
        </p:nvSpPr>
        <p:spPr>
          <a:xfrm>
            <a:off x="0" y="2859613"/>
            <a:ext cx="12192000" cy="1138773"/>
          </a:xfrm>
          <a:prstGeom prst="rect">
            <a:avLst/>
          </a:prstGeom>
          <a:noFill/>
        </p:spPr>
        <p:txBody>
          <a:bodyPr wrap="square" rtlCol="0">
            <a:spAutoFit/>
          </a:bodyPr>
          <a:lstStyle/>
          <a:p>
            <a:pPr algn="ctr"/>
            <a:r>
              <a:rPr lang="en-US" altLang="zh-CN" sz="6800" dirty="0">
                <a:solidFill>
                  <a:schemeClr val="bg1"/>
                </a:solidFill>
                <a:latin typeface="方正正粗黑简体" panose="02000000000000000000" pitchFamily="2" charset="-122"/>
                <a:ea typeface="方正正粗黑简体" panose="02000000000000000000" pitchFamily="2" charset="-122"/>
              </a:rPr>
              <a:t>THANKS</a:t>
            </a:r>
            <a:endParaRPr lang="zh-CN" altLang="en-US" sz="6800" dirty="0">
              <a:solidFill>
                <a:schemeClr val="bg1"/>
              </a:solidFill>
              <a:latin typeface="方正正粗黑简体" panose="02000000000000000000" pitchFamily="2" charset="-122"/>
              <a:ea typeface="方正正粗黑简体" panose="02000000000000000000" pitchFamily="2" charset="-122"/>
            </a:endParaRPr>
          </a:p>
        </p:txBody>
      </p:sp>
      <p:sp>
        <p:nvSpPr>
          <p:cNvPr id="7" name="文本框 6">
            <a:extLst>
              <a:ext uri="{FF2B5EF4-FFF2-40B4-BE49-F238E27FC236}">
                <a16:creationId xmlns:a16="http://schemas.microsoft.com/office/drawing/2014/main" id="{AE6A2903-A648-A7D9-3511-750FC94E5EF3}"/>
              </a:ext>
            </a:extLst>
          </p:cNvPr>
          <p:cNvSpPr txBox="1"/>
          <p:nvPr userDrawn="1"/>
        </p:nvSpPr>
        <p:spPr>
          <a:xfrm>
            <a:off x="1673087" y="5531708"/>
            <a:ext cx="8845826" cy="707886"/>
          </a:xfrm>
          <a:prstGeom prst="rect">
            <a:avLst/>
          </a:prstGeom>
          <a:noFill/>
        </p:spPr>
        <p:txBody>
          <a:bodyPr wrap="square" rtlCol="0">
            <a:spAutoFit/>
          </a:bodyPr>
          <a:lstStyle/>
          <a:p>
            <a:pPr algn="ctr"/>
            <a:r>
              <a:rPr lang="en-US" altLang="zh-CN" sz="2400" b="1" dirty="0">
                <a:solidFill>
                  <a:schemeClr val="bg1"/>
                </a:solidFill>
                <a:latin typeface="方正兰亭黑简体" panose="02000000000000000000" pitchFamily="2" charset="-122"/>
                <a:ea typeface="方正兰亭黑简体" panose="02000000000000000000" pitchFamily="2" charset="-122"/>
              </a:rPr>
              <a:t>OMICS FOR ALL</a:t>
            </a:r>
          </a:p>
          <a:p>
            <a:pPr algn="ctr"/>
            <a:r>
              <a:rPr lang="zh-CN" altLang="en-US" sz="1600" dirty="0">
                <a:solidFill>
                  <a:schemeClr val="bg1"/>
                </a:solidFill>
                <a:latin typeface="方正兰亭黑简体" panose="02000000000000000000" pitchFamily="2" charset="-122"/>
                <a:ea typeface="方正兰亭黑简体" panose="02000000000000000000" pitchFamily="2" charset="-122"/>
              </a:rPr>
              <a:t>基  因  科  技  造  福  人  类</a:t>
            </a:r>
          </a:p>
        </p:txBody>
      </p:sp>
      <p:pic>
        <p:nvPicPr>
          <p:cNvPr id="9" name="图片 8" descr="研究院新logo白色透明底2021-0826">
            <a:extLst>
              <a:ext uri="{FF2B5EF4-FFF2-40B4-BE49-F238E27FC236}">
                <a16:creationId xmlns:a16="http://schemas.microsoft.com/office/drawing/2014/main" id="{8F3075C3-53F9-D192-500F-5198AC9EEF9C}"/>
              </a:ext>
            </a:extLst>
          </p:cNvPr>
          <p:cNvPicPr>
            <a:picLocks noChangeAspect="1"/>
          </p:cNvPicPr>
          <p:nvPr userDrawn="1"/>
        </p:nvPicPr>
        <p:blipFill>
          <a:blip r:embed="rId3"/>
          <a:srcRect t="34938" b="36534"/>
          <a:stretch>
            <a:fillRect/>
          </a:stretch>
        </p:blipFill>
        <p:spPr>
          <a:xfrm>
            <a:off x="9476510" y="308215"/>
            <a:ext cx="2802159" cy="449888"/>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4D9C01C-0ED0-44CF-B1FD-A42E7FCEEE2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813B0E7-D253-42EF-B364-7143E2268B68}"/>
              </a:ext>
            </a:extLst>
          </p:cNvPr>
          <p:cNvSpPr>
            <a:spLocks noGrp="1"/>
          </p:cNvSpPr>
          <p:nvPr>
            <p:ph type="dt" sz="half" idx="10"/>
          </p:nvPr>
        </p:nvSpPr>
        <p:spPr/>
        <p:txBody>
          <a:bodyPr/>
          <a:lstStyle/>
          <a:p>
            <a:fld id="{919304E0-4029-4432-99D1-493017E15F03}" type="datetimeFigureOut">
              <a:rPr lang="zh-CN" altLang="en-US" smtClean="0"/>
              <a:t>2026/9/4</a:t>
            </a:fld>
            <a:endParaRPr lang="zh-CN" altLang="en-US"/>
          </a:p>
        </p:txBody>
      </p:sp>
      <p:sp>
        <p:nvSpPr>
          <p:cNvPr id="5" name="页脚占位符 4">
            <a:extLst>
              <a:ext uri="{FF2B5EF4-FFF2-40B4-BE49-F238E27FC236}">
                <a16:creationId xmlns:a16="http://schemas.microsoft.com/office/drawing/2014/main" id="{33BCEE99-23C7-4A5E-B90C-9A2A8B0699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3B3018-01BB-4D10-8028-DDFB0310145A}"/>
              </a:ext>
            </a:extLst>
          </p:cNvPr>
          <p:cNvSpPr>
            <a:spLocks noGrp="1"/>
          </p:cNvSpPr>
          <p:nvPr>
            <p:ph type="sldNum" sz="quarter" idx="12"/>
          </p:nvPr>
        </p:nvSpPr>
        <p:spPr/>
        <p:txBody>
          <a:bodyPr/>
          <a:lstStyle/>
          <a:p>
            <a:fld id="{C64DC312-E732-4E35-ACC6-8833826DABAE}" type="slidenum">
              <a:rPr lang="zh-CN" altLang="en-US" smtClean="0"/>
              <a:t>‹#›</a:t>
            </a:fld>
            <a:endParaRPr lang="zh-CN" altLang="en-US"/>
          </a:p>
        </p:txBody>
      </p:sp>
    </p:spTree>
    <p:extLst>
      <p:ext uri="{BB962C8B-B14F-4D97-AF65-F5344CB8AC3E}">
        <p14:creationId xmlns:p14="http://schemas.microsoft.com/office/powerpoint/2010/main" val="481279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82436" y="309262"/>
            <a:ext cx="10030691" cy="545259"/>
          </a:xfrm>
          <a:prstGeom prst="rect">
            <a:avLst/>
          </a:prstGeom>
        </p:spPr>
        <p:txBody>
          <a:bodyPr/>
          <a:lstStyle>
            <a:lvl1pPr algn="r">
              <a:defRPr sz="3600" b="1">
                <a:latin typeface="微软雅黑" panose="020B0503020204020204" pitchFamily="34" charset="-122"/>
                <a:ea typeface="微软雅黑" panose="020B0503020204020204" pitchFamily="34" charset="-122"/>
              </a:defRPr>
            </a:lvl1pPr>
          </a:lstStyle>
          <a:p>
            <a:r>
              <a:rPr lang="zh-CN" altLang="en-US" dirty="0"/>
              <a:t>单击此处添加标题</a:t>
            </a:r>
          </a:p>
        </p:txBody>
      </p:sp>
      <p:sp>
        <p:nvSpPr>
          <p:cNvPr id="4" name="日期占位符 4">
            <a:extLst>
              <a:ext uri="{FF2B5EF4-FFF2-40B4-BE49-F238E27FC236}">
                <a16:creationId xmlns:a16="http://schemas.microsoft.com/office/drawing/2014/main" id="{D0F8A856-7006-4B22-9B0A-468578818B74}"/>
              </a:ext>
            </a:extLst>
          </p:cNvPr>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B7A22B-378E-47BC-8F39-91368CCFD85B}" type="datetime1">
              <a:rPr lang="zh-CN" altLang="en-US" smtClean="0"/>
              <a:pPr/>
              <a:t>2026/9/4</a:t>
            </a:fld>
            <a:endParaRPr lang="zh-CN" altLang="en-US"/>
          </a:p>
        </p:txBody>
      </p:sp>
      <p:sp>
        <p:nvSpPr>
          <p:cNvPr id="5" name="页脚占位符 5">
            <a:extLst>
              <a:ext uri="{FF2B5EF4-FFF2-40B4-BE49-F238E27FC236}">
                <a16:creationId xmlns:a16="http://schemas.microsoft.com/office/drawing/2014/main" id="{BCE1617B-B180-4EBC-BA46-B2C406FCDC85}"/>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                             </a:t>
            </a:r>
          </a:p>
        </p:txBody>
      </p:sp>
      <p:sp>
        <p:nvSpPr>
          <p:cNvPr id="6" name="灯片编号占位符 6">
            <a:extLst>
              <a:ext uri="{FF2B5EF4-FFF2-40B4-BE49-F238E27FC236}">
                <a16:creationId xmlns:a16="http://schemas.microsoft.com/office/drawing/2014/main" id="{6A86BEE8-E3B5-4394-9445-AED1CE1D4BD8}"/>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281AEB-07EC-42BD-BA3B-0262F1DD417E}" type="slidenum">
              <a:rPr lang="zh-CN" altLang="en-US" smtClean="0"/>
              <a:pPr/>
              <a:t>‹#›</a:t>
            </a:fld>
            <a:endParaRPr lang="zh-CN" altLang="en-US"/>
          </a:p>
        </p:txBody>
      </p:sp>
    </p:spTree>
    <p:extLst>
      <p:ext uri="{BB962C8B-B14F-4D97-AF65-F5344CB8AC3E}">
        <p14:creationId xmlns:p14="http://schemas.microsoft.com/office/powerpoint/2010/main" val="658738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57" name="标题文本"/>
          <p:cNvSpPr txBox="1">
            <a:spLocks noGrp="1"/>
          </p:cNvSpPr>
          <p:nvPr>
            <p:ph type="title" hasCustomPrompt="1"/>
          </p:nvPr>
        </p:nvSpPr>
        <p:spPr>
          <a:prstGeom prst="rect">
            <a:avLst/>
          </a:prstGeom>
        </p:spPr>
        <p:txBody>
          <a:bodyPr/>
          <a:lstStyle/>
          <a:p>
            <a:r>
              <a:t>标题文本</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5283887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202A6-DC75-4B5F-BEC7-F4CEEC2DAAF4}" type="slidenum">
              <a:rPr lang="zh-CN" altLang="en-US" smtClean="0"/>
              <a:t>‹#›</a:t>
            </a:fld>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202A6-DC75-4B5F-BEC7-F4CEEC2DAAF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202A6-DC75-4B5F-BEC7-F4CEEC2DAAF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202A6-DC75-4B5F-BEC7-F4CEEC2DAAF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DB202A6-DC75-4B5F-BEC7-F4CEEC2DAAF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DB202A6-DC75-4B5F-BEC7-F4CEEC2DAAF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DB202A6-DC75-4B5F-BEC7-F4CEEC2DAAF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202A6-DC75-4B5F-BEC7-F4CEEC2DAAF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202A6-DC75-4B5F-BEC7-F4CEEC2DAAF4}"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202A6-DC75-4B5F-BEC7-F4CEEC2DAAF4}"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13F33F1-D536-41EA-9CF2-46F2991A59DB}" type="datetimeFigureOut">
              <a:rPr lang="zh-CN" altLang="en-US" smtClean="0"/>
              <a:t>2026/9/4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202A6-DC75-4B5F-BEC7-F4CEEC2DAAF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userDrawn="1"/>
        </p:nvSpPr>
        <p:spPr>
          <a:xfrm>
            <a:off x="305" y="193675"/>
            <a:ext cx="5327915" cy="501650"/>
          </a:xfrm>
          <a:prstGeom prst="rect">
            <a:avLst/>
          </a:prstGeom>
          <a:solidFill>
            <a:srgbClr val="00ACD2"/>
          </a:solidFill>
          <a:ln>
            <a:solidFill>
              <a:srgbClr val="00ACD2"/>
            </a:solidFill>
          </a:ln>
        </p:spPr>
        <p:style>
          <a:lnRef idx="1">
            <a:schemeClr val="accent6"/>
          </a:lnRef>
          <a:fillRef idx="3">
            <a:schemeClr val="accent6"/>
          </a:fillRef>
          <a:effectRef idx="2">
            <a:schemeClr val="accent6"/>
          </a:effectRef>
          <a:fontRef idx="minor">
            <a:schemeClr val="lt1"/>
          </a:fontRef>
        </p:style>
        <p:txBody>
          <a:bodyPr wrap="square">
            <a:spAutoFit/>
          </a:bodyPr>
          <a:lstStyle/>
          <a:p>
            <a:pPr algn="ctr" hangingPunct="1"/>
            <a:endParaRPr lang="zh-CN" altLang="en-US" sz="2665" b="1" kern="1200" dirty="0">
              <a:ln>
                <a:noFill/>
              </a:ln>
              <a:solidFill>
                <a:schemeClr val="bg1"/>
              </a:solidFill>
              <a:latin typeface="微软雅黑" panose="020B0503020204020204" charset="-122"/>
              <a:ea typeface="微软雅黑" panose="020B0503020204020204" charset="-122"/>
              <a:cs typeface="+mn-ea"/>
              <a:sym typeface="+mn-lt"/>
            </a:endParaRPr>
          </a:p>
        </p:txBody>
      </p:sp>
      <p:pic>
        <p:nvPicPr>
          <p:cNvPr id="8" name="图片 7" descr="研究院logo-2021_画板 1"/>
          <p:cNvPicPr>
            <a:picLocks noChangeAspect="1"/>
          </p:cNvPicPr>
          <p:nvPr userDrawn="1"/>
        </p:nvPicPr>
        <p:blipFill>
          <a:blip r:embed="rId16"/>
          <a:srcRect l="18141" t="35065" r="16401" b="37065"/>
          <a:stretch>
            <a:fillRect/>
          </a:stretch>
        </p:blipFill>
        <p:spPr>
          <a:xfrm>
            <a:off x="10031730" y="265430"/>
            <a:ext cx="1791970" cy="429895"/>
          </a:xfrm>
          <a:prstGeom prst="rect">
            <a:avLst/>
          </a:prstGeom>
        </p:spPr>
      </p:pic>
      <p:sp>
        <p:nvSpPr>
          <p:cNvPr id="9" name="标题 1">
            <a:extLst>
              <a:ext uri="{FF2B5EF4-FFF2-40B4-BE49-F238E27FC236}">
                <a16:creationId xmlns:a16="http://schemas.microsoft.com/office/drawing/2014/main" id="{DDC1717F-CBEA-9185-A5B5-1525B35E11CD}"/>
              </a:ext>
            </a:extLst>
          </p:cNvPr>
          <p:cNvSpPr txBox="1">
            <a:spLocks/>
          </p:cNvSpPr>
          <p:nvPr userDrawn="1"/>
        </p:nvSpPr>
        <p:spPr>
          <a:xfrm>
            <a:off x="0" y="198408"/>
            <a:ext cx="5322498" cy="482629"/>
          </a:xfrm>
          <a:prstGeom prst="rect">
            <a:avLst/>
          </a:prstGeom>
        </p:spPr>
        <p:txBody>
          <a:bodyPr anchor="ctr">
            <a:normAutofit/>
          </a:bodyPr>
          <a:lstStyle>
            <a:lvl1pPr algn="l" defTabSz="914400" rtl="0" eaLnBrk="1" latinLnBrk="0" hangingPunct="1">
              <a:lnSpc>
                <a:spcPct val="90000"/>
              </a:lnSpc>
              <a:spcBef>
                <a:spcPct val="0"/>
              </a:spcBef>
              <a:buNone/>
              <a:defRPr sz="2400" b="1" kern="1200">
                <a:solidFill>
                  <a:schemeClr val="bg1"/>
                </a:solidFill>
                <a:latin typeface="微软雅黑" panose="020B0503020204020204" pitchFamily="34" charset="-122"/>
                <a:ea typeface="微软雅黑" panose="020B0503020204020204" pitchFamily="34" charset="-122"/>
                <a:cs typeface="+mj-cs"/>
              </a:defRPr>
            </a:lvl1pPr>
          </a:lstStyle>
          <a:p>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87" r:id="rId2"/>
    <p:sldLayoutId id="2147483688" r:id="rId3"/>
    <p:sldLayoutId id="2147483652" r:id="rId4"/>
    <p:sldLayoutId id="2147483653" r:id="rId5"/>
    <p:sldLayoutId id="2147483655" r:id="rId6"/>
    <p:sldLayoutId id="2147483656" r:id="rId7"/>
    <p:sldLayoutId id="2147483658" r:id="rId8"/>
    <p:sldLayoutId id="2147483659" r:id="rId9"/>
    <p:sldLayoutId id="2147483686" r:id="rId10"/>
    <p:sldLayoutId id="2147483685" r:id="rId11"/>
    <p:sldLayoutId id="2147483690" r:id="rId12"/>
    <p:sldLayoutId id="2147483696" r:id="rId13"/>
    <p:sldLayoutId id="214748370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3F33F1-D536-41EA-9CF2-46F2991A59DB}" type="datetimeFigureOut">
              <a:rPr lang="zh-CN" altLang="en-US" smtClean="0"/>
              <a:t>2026/9/4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B202A6-DC75-4B5F-BEC7-F4CEEC2DAAF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hyperlink" Target="https://github.com/apcamargo/pydustmasker" TargetMode="External"/><Relationship Id="rId3" Type="http://schemas.openxmlformats.org/officeDocument/2006/relationships/image" Target="../media/image5.png"/><Relationship Id="rId7" Type="http://schemas.openxmlformats.org/officeDocument/2006/relationships/hyperlink" Target="https://github.com/Dfam-consortium/RepeatMasker/"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s://github.com/Benson-Genomics-Lab/TRF" TargetMode="External"/><Relationship Id="rId5" Type="http://schemas.openxmlformats.org/officeDocument/2006/relationships/hyperlink" Target="https://github.com/lmdu/pytrf" TargetMode="External"/><Relationship Id="rId4" Type="http://schemas.openxmlformats.org/officeDocument/2006/relationships/hyperlink" Target="https://github.com/baoxingsong/dCN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4.jp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C5D5F05-5627-4406-9DF2-BCAF24C194A0}"/>
              </a:ext>
            </a:extLst>
          </p:cNvPr>
          <p:cNvSpPr/>
          <p:nvPr/>
        </p:nvSpPr>
        <p:spPr>
          <a:xfrm>
            <a:off x="0" y="27329"/>
            <a:ext cx="12092940" cy="8572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Content Placeholder 3">
            <a:extLst>
              <a:ext uri="{FF2B5EF4-FFF2-40B4-BE49-F238E27FC236}">
                <a16:creationId xmlns:a16="http://schemas.microsoft.com/office/drawing/2014/main" id="{1F44C79A-5DBD-4836-972F-0C269C039F4E}"/>
              </a:ext>
            </a:extLst>
          </p:cNvPr>
          <p:cNvSpPr txBox="1">
            <a:spLocks/>
          </p:cNvSpPr>
          <p:nvPr/>
        </p:nvSpPr>
        <p:spPr>
          <a:xfrm>
            <a:off x="366651" y="3000375"/>
            <a:ext cx="11458697" cy="857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800100" indent="-342900" algn="l" defTabSz="914400" rtl="0" eaLnBrk="1" latinLnBrk="0" hangingPunct="1">
              <a:lnSpc>
                <a:spcPct val="90000"/>
              </a:lnSpc>
              <a:spcBef>
                <a:spcPts val="500"/>
              </a:spcBef>
              <a:buFont typeface="微软雅黑" panose="020B0503020204020204" pitchFamily="34" charset="-122"/>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微软雅黑" panose="020B0503020204020204" pitchFamily="34" charset="-122"/>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altLang="zh-CN" sz="6000" b="1" dirty="0">
                <a:latin typeface="Arial" panose="020B0604020202020204" pitchFamily="34" charset="0"/>
                <a:cs typeface="Arial" panose="020B0604020202020204" pitchFamily="34" charset="0"/>
              </a:rPr>
              <a:t>Data Preprocessing</a:t>
            </a:r>
          </a:p>
        </p:txBody>
      </p:sp>
    </p:spTree>
    <p:extLst>
      <p:ext uri="{BB962C8B-B14F-4D97-AF65-F5344CB8AC3E}">
        <p14:creationId xmlns:p14="http://schemas.microsoft.com/office/powerpoint/2010/main" val="2495692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E7691-4DED-47C3-F6B4-C4FD2F6D1AC2}"/>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48168497-BB46-39F9-77F8-9D92425BC124}"/>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Low Repeat Benchmarking</a:t>
            </a:r>
            <a:endParaRPr lang="zh-CN" altLang="en-US" dirty="0">
              <a:latin typeface="Arial" panose="020B0604020202020204" pitchFamily="34" charset="0"/>
              <a:cs typeface="Arial" panose="020B0604020202020204" pitchFamily="34" charset="0"/>
            </a:endParaRPr>
          </a:p>
        </p:txBody>
      </p:sp>
      <p:sp>
        <p:nvSpPr>
          <p:cNvPr id="11" name="文本框 3">
            <a:extLst>
              <a:ext uri="{FF2B5EF4-FFF2-40B4-BE49-F238E27FC236}">
                <a16:creationId xmlns:a16="http://schemas.microsoft.com/office/drawing/2014/main" id="{447FCE14-75F0-A2B0-B7A6-CA0660F0BF08}"/>
              </a:ext>
            </a:extLst>
          </p:cNvPr>
          <p:cNvSpPr txBox="1"/>
          <p:nvPr/>
        </p:nvSpPr>
        <p:spPr>
          <a:xfrm>
            <a:off x="459196" y="1016689"/>
            <a:ext cx="6004496" cy="2979114"/>
          </a:xfrm>
          <a:prstGeom prst="rect">
            <a:avLst/>
          </a:prstGeom>
        </p:spPr>
        <p:txBody>
          <a:bodyPr>
            <a:noAutofit/>
          </a:bodyPr>
          <a:lstStyle/>
          <a:p>
            <a:pPr>
              <a:spcBef>
                <a:spcPts val="400"/>
              </a:spcBef>
              <a:spcAft>
                <a:spcPct val="0"/>
              </a:spcAft>
            </a:pPr>
            <a:r>
              <a:rPr lang="en-US" altLang="zh-CN" sz="2000" b="1" dirty="0">
                <a:latin typeface="Arial" panose="020B0604020202020204" pitchFamily="34" charset="0"/>
                <a:cs typeface="Arial" panose="020B0604020202020204" pitchFamily="34" charset="0"/>
              </a:rPr>
              <a:t>Used 7 different approach:</a:t>
            </a: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Kmer (from plant-CAD2)</a:t>
            </a: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Kmer without overlap with GFF gene annotation</a:t>
            </a: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pyTRF</a:t>
            </a: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TRF</a:t>
            </a: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RepeatMasker (</a:t>
            </a:r>
            <a:r>
              <a:rPr lang="en-US" altLang="zh-CN" sz="2000" dirty="0">
                <a:latin typeface="Courier New" panose="02070309020205020404" pitchFamily="49" charset="0"/>
                <a:cs typeface="Courier New" panose="02070309020205020404" pitchFamily="49" charset="0"/>
              </a:rPr>
              <a:t>-noint </a:t>
            </a:r>
            <a:r>
              <a:rPr lang="en-US" altLang="zh-CN" sz="2000" dirty="0">
                <a:latin typeface="Arial" panose="020B0604020202020204" pitchFamily="34" charset="0"/>
                <a:cs typeface="Arial" panose="020B0604020202020204" pitchFamily="34" charset="0"/>
              </a:rPr>
              <a:t>option)</a:t>
            </a: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SDUST via pydustmasker</a:t>
            </a: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Tantan via pydustmasker</a:t>
            </a:r>
          </a:p>
        </p:txBody>
      </p:sp>
      <p:pic>
        <p:nvPicPr>
          <p:cNvPr id="12" name="Picture 11">
            <a:extLst>
              <a:ext uri="{FF2B5EF4-FFF2-40B4-BE49-F238E27FC236}">
                <a16:creationId xmlns:a16="http://schemas.microsoft.com/office/drawing/2014/main" id="{D24F554F-8A33-08CF-177E-F65A4091D8ED}"/>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18" name="文本框 3">
            <a:extLst>
              <a:ext uri="{FF2B5EF4-FFF2-40B4-BE49-F238E27FC236}">
                <a16:creationId xmlns:a16="http://schemas.microsoft.com/office/drawing/2014/main" id="{5B22350C-1E84-FA44-2815-1DA2D3DAE454}"/>
              </a:ext>
            </a:extLst>
          </p:cNvPr>
          <p:cNvSpPr txBox="1"/>
          <p:nvPr/>
        </p:nvSpPr>
        <p:spPr>
          <a:xfrm>
            <a:off x="459196" y="4331197"/>
            <a:ext cx="7053228" cy="2328395"/>
          </a:xfrm>
          <a:prstGeom prst="rect">
            <a:avLst/>
          </a:prstGeom>
        </p:spPr>
        <p:txBody>
          <a:bodyPr>
            <a:noAutofit/>
          </a:bodyPr>
          <a:lstStyle/>
          <a:p>
            <a:pPr>
              <a:spcBef>
                <a:spcPts val="400"/>
              </a:spcBef>
              <a:spcAft>
                <a:spcPct val="0"/>
              </a:spcAft>
            </a:pPr>
            <a:r>
              <a:rPr lang="en-US" altLang="zh-CN" sz="2000" b="1" dirty="0">
                <a:latin typeface="Arial" panose="020B0604020202020204" pitchFamily="34" charset="0"/>
                <a:cs typeface="Arial" panose="020B0604020202020204" pitchFamily="34" charset="0"/>
              </a:rPr>
              <a:t>Software sources:</a:t>
            </a: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hlinkClick r:id="rId4"/>
              </a:rPr>
              <a:t>https://github.com/baoxingsong/dCNS/</a:t>
            </a:r>
            <a:endParaRPr lang="en-US" altLang="zh-CN" sz="2000" dirty="0">
              <a:latin typeface="Arial" panose="020B0604020202020204" pitchFamily="34" charset="0"/>
              <a:cs typeface="Arial" panose="020B0604020202020204" pitchFamily="34" charset="0"/>
            </a:endParaRP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hlinkClick r:id="rId5"/>
              </a:rPr>
              <a:t>https://github.com/lmdu/pytrf</a:t>
            </a:r>
            <a:endParaRPr lang="en-US" altLang="zh-CN" sz="2000" dirty="0">
              <a:latin typeface="Arial" panose="020B0604020202020204" pitchFamily="34" charset="0"/>
              <a:cs typeface="Arial" panose="020B0604020202020204" pitchFamily="34" charset="0"/>
            </a:endParaRP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hlinkClick r:id="rId6"/>
              </a:rPr>
              <a:t>https://github.com/Benson-Genomics-Lab/TRF</a:t>
            </a:r>
            <a:r>
              <a:rPr lang="en-US" altLang="zh-CN" sz="2000" dirty="0">
                <a:latin typeface="Arial" panose="020B0604020202020204" pitchFamily="34" charset="0"/>
                <a:cs typeface="Arial" panose="020B0604020202020204" pitchFamily="34" charset="0"/>
              </a:rPr>
              <a:t> </a:t>
            </a: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hlinkClick r:id="rId7"/>
              </a:rPr>
              <a:t>https://github.com/Dfam-consortium/RepeatMasker/</a:t>
            </a:r>
            <a:endParaRPr lang="en-US" altLang="zh-CN" sz="2000" dirty="0">
              <a:latin typeface="Arial" panose="020B0604020202020204" pitchFamily="34" charset="0"/>
              <a:cs typeface="Arial" panose="020B0604020202020204" pitchFamily="34" charset="0"/>
            </a:endParaRPr>
          </a:p>
          <a:p>
            <a:pPr indent="-342900">
              <a:spcBef>
                <a:spcPts val="400"/>
              </a:spcBef>
              <a:spcAft>
                <a:spcPct val="0"/>
              </a:spcAft>
              <a:buAutoNum type="arabicPeriod"/>
            </a:pPr>
            <a:r>
              <a:rPr lang="en-US" altLang="zh-CN" sz="2000" dirty="0">
                <a:latin typeface="Arial" panose="020B0604020202020204" pitchFamily="34" charset="0"/>
                <a:cs typeface="Arial" panose="020B0604020202020204" pitchFamily="34" charset="0"/>
                <a:hlinkClick r:id="rId8"/>
              </a:rPr>
              <a:t>https://github.com/apcamargo/pydustmasker</a:t>
            </a:r>
            <a:r>
              <a:rPr lang="en-US" altLang="zh-CN"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090682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E9D67-0772-BDB5-1D2A-08A12C7763B5}"/>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44DAC802-2DF4-B690-32D9-DB4D15C94CA7}"/>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Plant-CAD2 Approach</a:t>
            </a:r>
            <a:endParaRPr lang="zh-CN" altLang="en-US"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87FC7628-2FFC-107B-2E91-0472D88B38D1}"/>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3" name="文本框 3">
            <a:extLst>
              <a:ext uri="{FF2B5EF4-FFF2-40B4-BE49-F238E27FC236}">
                <a16:creationId xmlns:a16="http://schemas.microsoft.com/office/drawing/2014/main" id="{777AA7C9-C21E-90A7-14C5-5DD62E1C315A}"/>
              </a:ext>
            </a:extLst>
          </p:cNvPr>
          <p:cNvSpPr txBox="1"/>
          <p:nvPr/>
        </p:nvSpPr>
        <p:spPr>
          <a:xfrm>
            <a:off x="133708" y="980828"/>
            <a:ext cx="3988126" cy="3520833"/>
          </a:xfrm>
          <a:prstGeom prst="rect">
            <a:avLst/>
          </a:prstGeom>
        </p:spPr>
        <p:txBody>
          <a:bodyPr>
            <a:noAutofit/>
          </a:bodyPr>
          <a:lstStyle/>
          <a:p>
            <a:pPr>
              <a:spcBef>
                <a:spcPts val="400"/>
              </a:spcBef>
              <a:spcAft>
                <a:spcPct val="0"/>
              </a:spcAft>
            </a:pPr>
            <a:r>
              <a:rPr lang="en-US" altLang="zh-CN" sz="2000" b="1" dirty="0">
                <a:latin typeface="Arial" panose="020B0604020202020204" pitchFamily="34" charset="0"/>
                <a:cs typeface="Arial" panose="020B0604020202020204" pitchFamily="34" charset="0"/>
              </a:rPr>
              <a:t>Kmer method from plant-CAD2</a:t>
            </a:r>
          </a:p>
          <a:p>
            <a:pPr marL="457200" indent="-4572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Count kmer on genome (k=20)</a:t>
            </a:r>
          </a:p>
          <a:p>
            <a:pPr marL="457200" indent="-4572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High copy kmer + low complexity region</a:t>
            </a:r>
          </a:p>
          <a:p>
            <a:pPr marL="457200" indent="-4572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Find threshold value via secondary derivative approach</a:t>
            </a:r>
          </a:p>
          <a:p>
            <a:pPr marL="457200" indent="-4572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Map high copy kmer back to the genome and masking</a:t>
            </a:r>
          </a:p>
        </p:txBody>
      </p:sp>
      <p:pic>
        <p:nvPicPr>
          <p:cNvPr id="7" name="Graphic 6">
            <a:extLst>
              <a:ext uri="{FF2B5EF4-FFF2-40B4-BE49-F238E27FC236}">
                <a16:creationId xmlns:a16="http://schemas.microsoft.com/office/drawing/2014/main" id="{EF8AAA26-70DB-B878-EC7E-AA711EAAA601}"/>
              </a:ext>
            </a:extLst>
          </p:cNvPr>
          <p:cNvPicPr>
            <a:picLocks noChangeAspect="1"/>
          </p:cNvPicPr>
          <p:nvPr/>
        </p:nvPicPr>
        <p:blipFill>
          <a:blip>
            <a:extLst>
              <a:ext uri="{96DAC541-7B7A-43D3-8B79-37D633B846F1}">
                <asvg:svgBlip xmlns:asvg="http://schemas.microsoft.com/office/drawing/2016/SVG/main" r:embed="rId4"/>
              </a:ext>
            </a:extLst>
          </a:blip>
          <a:srcRect t="4680"/>
          <a:stretch>
            <a:fillRect/>
          </a:stretch>
        </p:blipFill>
        <p:spPr>
          <a:xfrm>
            <a:off x="4285892" y="2307103"/>
            <a:ext cx="7772400" cy="4352489"/>
          </a:xfrm>
          <a:prstGeom prst="rect">
            <a:avLst/>
          </a:prstGeom>
        </p:spPr>
      </p:pic>
      <p:cxnSp>
        <p:nvCxnSpPr>
          <p:cNvPr id="10" name="Straight Arrow Connector 9">
            <a:extLst>
              <a:ext uri="{FF2B5EF4-FFF2-40B4-BE49-F238E27FC236}">
                <a16:creationId xmlns:a16="http://schemas.microsoft.com/office/drawing/2014/main" id="{EDE12AAF-7C3B-CD4E-17FD-14C7D9608E11}"/>
              </a:ext>
            </a:extLst>
          </p:cNvPr>
          <p:cNvCxnSpPr>
            <a:cxnSpLocks/>
          </p:cNvCxnSpPr>
          <p:nvPr/>
        </p:nvCxnSpPr>
        <p:spPr>
          <a:xfrm flipH="1">
            <a:off x="5774499" y="2980706"/>
            <a:ext cx="1065688" cy="70473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Left Brace 13">
            <a:extLst>
              <a:ext uri="{FF2B5EF4-FFF2-40B4-BE49-F238E27FC236}">
                <a16:creationId xmlns:a16="http://schemas.microsoft.com/office/drawing/2014/main" id="{B6BD71CC-8235-B965-5393-22BAF2996143}"/>
              </a:ext>
            </a:extLst>
          </p:cNvPr>
          <p:cNvSpPr/>
          <p:nvPr/>
        </p:nvSpPr>
        <p:spPr>
          <a:xfrm rot="5883495">
            <a:off x="8814187" y="2726285"/>
            <a:ext cx="465858" cy="5004707"/>
          </a:xfrm>
          <a:prstGeom prst="leftBrace">
            <a:avLst>
              <a:gd name="adj1" fmla="val 0"/>
              <a:gd name="adj2" fmla="val 50040"/>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5" name="文本框 3">
            <a:extLst>
              <a:ext uri="{FF2B5EF4-FFF2-40B4-BE49-F238E27FC236}">
                <a16:creationId xmlns:a16="http://schemas.microsoft.com/office/drawing/2014/main" id="{483C12A3-1B9A-E913-2E13-A9EF833D8927}"/>
              </a:ext>
            </a:extLst>
          </p:cNvPr>
          <p:cNvSpPr txBox="1"/>
          <p:nvPr/>
        </p:nvSpPr>
        <p:spPr>
          <a:xfrm rot="529722">
            <a:off x="7888323" y="4351570"/>
            <a:ext cx="2898840" cy="693863"/>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High copy kmer = mostly low complexity &amp; SSR</a:t>
            </a:r>
          </a:p>
        </p:txBody>
      </p:sp>
      <p:sp>
        <p:nvSpPr>
          <p:cNvPr id="19" name="文本框 3">
            <a:extLst>
              <a:ext uri="{FF2B5EF4-FFF2-40B4-BE49-F238E27FC236}">
                <a16:creationId xmlns:a16="http://schemas.microsoft.com/office/drawing/2014/main" id="{C477A577-DC37-66C2-AA7C-22A16093B597}"/>
              </a:ext>
            </a:extLst>
          </p:cNvPr>
          <p:cNvSpPr txBox="1"/>
          <p:nvPr/>
        </p:nvSpPr>
        <p:spPr>
          <a:xfrm>
            <a:off x="6840187" y="2709934"/>
            <a:ext cx="2232561" cy="462622"/>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Unique kmer region</a:t>
            </a:r>
          </a:p>
        </p:txBody>
      </p:sp>
      <p:sp>
        <p:nvSpPr>
          <p:cNvPr id="20" name="文本框 3">
            <a:extLst>
              <a:ext uri="{FF2B5EF4-FFF2-40B4-BE49-F238E27FC236}">
                <a16:creationId xmlns:a16="http://schemas.microsoft.com/office/drawing/2014/main" id="{EFEA842B-2FAE-C02A-7329-3C6D25D4415F}"/>
              </a:ext>
            </a:extLst>
          </p:cNvPr>
          <p:cNvSpPr txBox="1"/>
          <p:nvPr/>
        </p:nvSpPr>
        <p:spPr>
          <a:xfrm>
            <a:off x="6536818" y="1878530"/>
            <a:ext cx="3662653" cy="462622"/>
          </a:xfrm>
          <a:prstGeom prst="rect">
            <a:avLst/>
          </a:prstGeom>
        </p:spPr>
        <p:txBody>
          <a:bodyPr>
            <a:noAutofit/>
          </a:bodyPr>
          <a:lstStyle/>
          <a:p>
            <a:pPr algn="ctr">
              <a:spcBef>
                <a:spcPts val="400"/>
              </a:spcBef>
              <a:spcAft>
                <a:spcPct val="0"/>
              </a:spcAft>
            </a:pPr>
            <a:r>
              <a:rPr lang="en-US" altLang="zh-CN" i="1" dirty="0">
                <a:latin typeface="Arial" panose="020B0604020202020204" pitchFamily="34" charset="0"/>
                <a:cs typeface="Arial" panose="020B0604020202020204" pitchFamily="34" charset="0"/>
              </a:rPr>
              <a:t>Oryza sativa </a:t>
            </a:r>
            <a:r>
              <a:rPr lang="en-US" altLang="zh-CN" dirty="0">
                <a:latin typeface="Arial" panose="020B0604020202020204" pitchFamily="34" charset="0"/>
                <a:cs typeface="Arial" panose="020B0604020202020204" pitchFamily="34" charset="0"/>
              </a:rPr>
              <a:t>japonica genome</a:t>
            </a:r>
          </a:p>
        </p:txBody>
      </p:sp>
    </p:spTree>
    <p:extLst>
      <p:ext uri="{BB962C8B-B14F-4D97-AF65-F5344CB8AC3E}">
        <p14:creationId xmlns:p14="http://schemas.microsoft.com/office/powerpoint/2010/main" val="2402273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78266-7865-97BB-5751-058F0A77B68B}"/>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74105808-86BE-35AE-C8FB-9F5DBF88809C}"/>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Low Repeat Benchmarking</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DD474868-A1B3-5485-14D2-FE81B09983BE}"/>
              </a:ext>
            </a:extLst>
          </p:cNvPr>
          <p:cNvPicPr>
            <a:picLocks noChangeAspect="1"/>
          </p:cNvPicPr>
          <p:nvPr/>
        </p:nvPicPr>
        <p:blipFill>
          <a:blip r:embed="rId3"/>
          <a:srcRect t="4016" b="5943"/>
          <a:stretch>
            <a:fillRect/>
          </a:stretch>
        </p:blipFill>
        <p:spPr>
          <a:xfrm>
            <a:off x="8046720" y="64719"/>
            <a:ext cx="1855376" cy="767710"/>
          </a:xfrm>
          <a:prstGeom prst="rect">
            <a:avLst/>
          </a:prstGeom>
        </p:spPr>
      </p:pic>
      <p:pic>
        <p:nvPicPr>
          <p:cNvPr id="2" name="Picture 1">
            <a:extLst>
              <a:ext uri="{FF2B5EF4-FFF2-40B4-BE49-F238E27FC236}">
                <a16:creationId xmlns:a16="http://schemas.microsoft.com/office/drawing/2014/main" id="{BEDF8583-3BA6-CEE7-81DF-6360CB637828}"/>
              </a:ext>
            </a:extLst>
          </p:cNvPr>
          <p:cNvPicPr>
            <a:picLocks noChangeAspect="1"/>
          </p:cNvPicPr>
          <p:nvPr/>
        </p:nvPicPr>
        <p:blipFill>
          <a:blip r:embed="rId4"/>
          <a:stretch>
            <a:fillRect/>
          </a:stretch>
        </p:blipFill>
        <p:spPr>
          <a:xfrm>
            <a:off x="382501" y="1290767"/>
            <a:ext cx="10509276" cy="1649983"/>
          </a:xfrm>
          <a:prstGeom prst="rect">
            <a:avLst/>
          </a:prstGeom>
        </p:spPr>
      </p:pic>
      <p:pic>
        <p:nvPicPr>
          <p:cNvPr id="3" name="Picture 2">
            <a:extLst>
              <a:ext uri="{FF2B5EF4-FFF2-40B4-BE49-F238E27FC236}">
                <a16:creationId xmlns:a16="http://schemas.microsoft.com/office/drawing/2014/main" id="{3A298299-B107-BA82-5574-3CC2AA4C1C7E}"/>
              </a:ext>
            </a:extLst>
          </p:cNvPr>
          <p:cNvPicPr>
            <a:picLocks noChangeAspect="1"/>
          </p:cNvPicPr>
          <p:nvPr/>
        </p:nvPicPr>
        <p:blipFill>
          <a:blip r:embed="rId5"/>
          <a:stretch>
            <a:fillRect/>
          </a:stretch>
        </p:blipFill>
        <p:spPr>
          <a:xfrm>
            <a:off x="293318" y="3152295"/>
            <a:ext cx="6282846" cy="3640985"/>
          </a:xfrm>
          <a:prstGeom prst="rect">
            <a:avLst/>
          </a:prstGeom>
        </p:spPr>
      </p:pic>
      <p:sp>
        <p:nvSpPr>
          <p:cNvPr id="4" name="文本框 3">
            <a:extLst>
              <a:ext uri="{FF2B5EF4-FFF2-40B4-BE49-F238E27FC236}">
                <a16:creationId xmlns:a16="http://schemas.microsoft.com/office/drawing/2014/main" id="{6E33A1C9-BB54-FEE7-7651-68CAA08A5895}"/>
              </a:ext>
            </a:extLst>
          </p:cNvPr>
          <p:cNvSpPr txBox="1"/>
          <p:nvPr/>
        </p:nvSpPr>
        <p:spPr>
          <a:xfrm>
            <a:off x="7230763" y="3289133"/>
            <a:ext cx="3854771" cy="104487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Runtime performance</a:t>
            </a:r>
          </a:p>
          <a:p>
            <a:pPr>
              <a:spcBef>
                <a:spcPts val="400"/>
              </a:spcBef>
              <a:spcAft>
                <a:spcPct val="0"/>
              </a:spcAft>
            </a:pPr>
            <a:r>
              <a:rPr lang="en-US" altLang="zh-CN" dirty="0">
                <a:latin typeface="Arial" panose="020B0604020202020204" pitchFamily="34" charset="0"/>
                <a:cs typeface="Arial" panose="020B0604020202020204" pitchFamily="34" charset="0"/>
              </a:rPr>
              <a:t>pyTRF &gt; SDUST &gt; Tantan &gt; Kmer &gt; TRF &gt; RepeatMasker</a:t>
            </a:r>
          </a:p>
        </p:txBody>
      </p:sp>
      <p:sp>
        <p:nvSpPr>
          <p:cNvPr id="5" name="文本框 3">
            <a:extLst>
              <a:ext uri="{FF2B5EF4-FFF2-40B4-BE49-F238E27FC236}">
                <a16:creationId xmlns:a16="http://schemas.microsoft.com/office/drawing/2014/main" id="{EFB59A0C-B436-2AA2-408C-672536843521}"/>
              </a:ext>
            </a:extLst>
          </p:cNvPr>
          <p:cNvSpPr txBox="1"/>
          <p:nvPr/>
        </p:nvSpPr>
        <p:spPr>
          <a:xfrm>
            <a:off x="7130553" y="5370541"/>
            <a:ext cx="4905915" cy="1044872"/>
          </a:xfrm>
          <a:prstGeom prst="rect">
            <a:avLst/>
          </a:prstGeom>
        </p:spPr>
        <p:txBody>
          <a:bodyPr>
            <a:noAutofit/>
          </a:bodyPr>
          <a:lstStyle/>
          <a:p>
            <a:pPr>
              <a:spcBef>
                <a:spcPts val="400"/>
              </a:spcBef>
              <a:spcAft>
                <a:spcPct val="0"/>
              </a:spcAft>
            </a:pPr>
            <a:r>
              <a:rPr lang="en-US" altLang="zh-CN" i="1" dirty="0">
                <a:latin typeface="Arial" panose="020B0604020202020204" pitchFamily="34" charset="0"/>
                <a:cs typeface="Arial" panose="020B0604020202020204" pitchFamily="34" charset="0"/>
              </a:rPr>
              <a:t>Kmer approach mask more genome region probably not just low complexity repeat, but also high copy TE, satellite, rDNA, segmental duplication, etc.</a:t>
            </a:r>
          </a:p>
        </p:txBody>
      </p:sp>
      <p:sp>
        <p:nvSpPr>
          <p:cNvPr id="7" name="文本框 3">
            <a:extLst>
              <a:ext uri="{FF2B5EF4-FFF2-40B4-BE49-F238E27FC236}">
                <a16:creationId xmlns:a16="http://schemas.microsoft.com/office/drawing/2014/main" id="{BCAE7BE4-5D83-A41B-0951-C5257331915A}"/>
              </a:ext>
            </a:extLst>
          </p:cNvPr>
          <p:cNvSpPr txBox="1"/>
          <p:nvPr/>
        </p:nvSpPr>
        <p:spPr>
          <a:xfrm>
            <a:off x="320572" y="910285"/>
            <a:ext cx="3662653" cy="46262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Masking percentage</a:t>
            </a:r>
          </a:p>
        </p:txBody>
      </p:sp>
    </p:spTree>
    <p:extLst>
      <p:ext uri="{BB962C8B-B14F-4D97-AF65-F5344CB8AC3E}">
        <p14:creationId xmlns:p14="http://schemas.microsoft.com/office/powerpoint/2010/main" val="1477198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879BF-5F72-BA71-4CD0-4BF106255164}"/>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4F2796B7-DEB3-F53E-A397-87D317628D5B}"/>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Low Repeat Benchmarking</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9D940FD3-F9F9-3524-D995-CBF4D8CEA238}"/>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7" name="文本框 3">
            <a:extLst>
              <a:ext uri="{FF2B5EF4-FFF2-40B4-BE49-F238E27FC236}">
                <a16:creationId xmlns:a16="http://schemas.microsoft.com/office/drawing/2014/main" id="{DD7F9135-84E2-5C61-640F-6A5C93DB6E61}"/>
              </a:ext>
            </a:extLst>
          </p:cNvPr>
          <p:cNvSpPr txBox="1"/>
          <p:nvPr/>
        </p:nvSpPr>
        <p:spPr>
          <a:xfrm>
            <a:off x="320572" y="910285"/>
            <a:ext cx="5165828" cy="46262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Overlap with GFF annotation percentage </a:t>
            </a:r>
          </a:p>
        </p:txBody>
      </p:sp>
      <p:pic>
        <p:nvPicPr>
          <p:cNvPr id="6" name="Picture 5">
            <a:extLst>
              <a:ext uri="{FF2B5EF4-FFF2-40B4-BE49-F238E27FC236}">
                <a16:creationId xmlns:a16="http://schemas.microsoft.com/office/drawing/2014/main" id="{4706D055-96B2-3EFA-400E-560834E60146}"/>
              </a:ext>
            </a:extLst>
          </p:cNvPr>
          <p:cNvPicPr>
            <a:picLocks noChangeAspect="1"/>
          </p:cNvPicPr>
          <p:nvPr/>
        </p:nvPicPr>
        <p:blipFill>
          <a:blip r:embed="rId4"/>
          <a:stretch>
            <a:fillRect/>
          </a:stretch>
        </p:blipFill>
        <p:spPr>
          <a:xfrm>
            <a:off x="473598" y="1883583"/>
            <a:ext cx="10290858" cy="1617135"/>
          </a:xfrm>
          <a:prstGeom prst="rect">
            <a:avLst/>
          </a:prstGeom>
        </p:spPr>
      </p:pic>
      <p:pic>
        <p:nvPicPr>
          <p:cNvPr id="8" name="Picture 7">
            <a:extLst>
              <a:ext uri="{FF2B5EF4-FFF2-40B4-BE49-F238E27FC236}">
                <a16:creationId xmlns:a16="http://schemas.microsoft.com/office/drawing/2014/main" id="{C77AF983-E0A2-C386-58EC-807A4D009E16}"/>
              </a:ext>
            </a:extLst>
          </p:cNvPr>
          <p:cNvPicPr>
            <a:picLocks noChangeAspect="1"/>
          </p:cNvPicPr>
          <p:nvPr/>
        </p:nvPicPr>
        <p:blipFill>
          <a:blip r:embed="rId5"/>
          <a:stretch>
            <a:fillRect/>
          </a:stretch>
        </p:blipFill>
        <p:spPr>
          <a:xfrm>
            <a:off x="473598" y="1284189"/>
            <a:ext cx="3710113" cy="518995"/>
          </a:xfrm>
          <a:prstGeom prst="rect">
            <a:avLst/>
          </a:prstGeom>
        </p:spPr>
      </p:pic>
      <p:sp>
        <p:nvSpPr>
          <p:cNvPr id="9" name="文本框 3">
            <a:extLst>
              <a:ext uri="{FF2B5EF4-FFF2-40B4-BE49-F238E27FC236}">
                <a16:creationId xmlns:a16="http://schemas.microsoft.com/office/drawing/2014/main" id="{D36CF350-393C-4354-E6BC-B2B4C91B1665}"/>
              </a:ext>
            </a:extLst>
          </p:cNvPr>
          <p:cNvSpPr txBox="1"/>
          <p:nvPr/>
        </p:nvSpPr>
        <p:spPr>
          <a:xfrm>
            <a:off x="473599" y="3701666"/>
            <a:ext cx="10611936" cy="850205"/>
          </a:xfrm>
          <a:prstGeom prst="rect">
            <a:avLst/>
          </a:prstGeom>
        </p:spPr>
        <p:txBody>
          <a:bodyPr>
            <a:noAutofit/>
          </a:bodyPr>
          <a:lstStyle/>
          <a:p>
            <a:pPr>
              <a:spcBef>
                <a:spcPts val="400"/>
              </a:spcBef>
              <a:spcAft>
                <a:spcPct val="0"/>
              </a:spcAft>
            </a:pPr>
            <a:r>
              <a:rPr lang="en-US" altLang="zh-CN" sz="1600" dirty="0">
                <a:latin typeface="Arial" panose="020B0604020202020204" pitchFamily="34" charset="0"/>
                <a:cs typeface="Arial" panose="020B0604020202020204" pitchFamily="34" charset="0"/>
              </a:rPr>
              <a:t>However, we also can remove identified low complexity region that has overlap with GFF annotation file to make the overlap percentage become zero. It seems that all tools has overlap with GFF annotation beside Kmer + GFF because it already use GFF as input to make sure no overlap</a:t>
            </a:r>
          </a:p>
        </p:txBody>
      </p:sp>
      <p:pic>
        <p:nvPicPr>
          <p:cNvPr id="10" name="Picture 9">
            <a:extLst>
              <a:ext uri="{FF2B5EF4-FFF2-40B4-BE49-F238E27FC236}">
                <a16:creationId xmlns:a16="http://schemas.microsoft.com/office/drawing/2014/main" id="{FA627F24-0C46-E884-40DC-8070EF9EE648}"/>
              </a:ext>
            </a:extLst>
          </p:cNvPr>
          <p:cNvPicPr>
            <a:picLocks noChangeAspect="1"/>
          </p:cNvPicPr>
          <p:nvPr/>
        </p:nvPicPr>
        <p:blipFill>
          <a:blip r:embed="rId6"/>
          <a:stretch>
            <a:fillRect/>
          </a:stretch>
        </p:blipFill>
        <p:spPr>
          <a:xfrm>
            <a:off x="473598" y="4637563"/>
            <a:ext cx="10281670" cy="1617134"/>
          </a:xfrm>
          <a:prstGeom prst="rect">
            <a:avLst/>
          </a:prstGeom>
        </p:spPr>
      </p:pic>
      <p:sp>
        <p:nvSpPr>
          <p:cNvPr id="11" name="文本框 3">
            <a:extLst>
              <a:ext uri="{FF2B5EF4-FFF2-40B4-BE49-F238E27FC236}">
                <a16:creationId xmlns:a16="http://schemas.microsoft.com/office/drawing/2014/main" id="{A244AA10-4AA7-0AC6-2643-B103D0143FC9}"/>
              </a:ext>
            </a:extLst>
          </p:cNvPr>
          <p:cNvSpPr txBox="1"/>
          <p:nvPr/>
        </p:nvSpPr>
        <p:spPr>
          <a:xfrm>
            <a:off x="473598" y="6340389"/>
            <a:ext cx="8869437" cy="462622"/>
          </a:xfrm>
          <a:prstGeom prst="rect">
            <a:avLst/>
          </a:prstGeom>
        </p:spPr>
        <p:txBody>
          <a:bodyPr>
            <a:noAutofit/>
          </a:bodyPr>
          <a:lstStyle/>
          <a:p>
            <a:pPr>
              <a:spcBef>
                <a:spcPts val="400"/>
              </a:spcBef>
              <a:spcAft>
                <a:spcPct val="0"/>
              </a:spcAft>
            </a:pPr>
            <a:r>
              <a:rPr lang="en-US" altLang="zh-CN" sz="1600" i="1" dirty="0">
                <a:solidFill>
                  <a:srgbClr val="FF0000"/>
                </a:solidFill>
                <a:latin typeface="Arial" panose="020B0604020202020204" pitchFamily="34" charset="0"/>
                <a:cs typeface="Arial" panose="020B0604020202020204" pitchFamily="34" charset="0"/>
              </a:rPr>
              <a:t>Remove identified low complexity sequence that has overlap with GFF is possible</a:t>
            </a:r>
            <a:endParaRPr lang="en-US" altLang="zh-CN" sz="16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0153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C9B18-8AE3-83E2-C37C-9492CBC70E47}"/>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35F1A622-300C-EA4A-D992-A76C4FEEE31F}"/>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Adding UTR information on GFF</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EFB8CE21-EACA-3FBF-DB7C-0888A6A3FCD7}"/>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6" name="文本框 3">
            <a:extLst>
              <a:ext uri="{FF2B5EF4-FFF2-40B4-BE49-F238E27FC236}">
                <a16:creationId xmlns:a16="http://schemas.microsoft.com/office/drawing/2014/main" id="{248A051A-9DE8-4FE4-7258-50B8D207132C}"/>
              </a:ext>
            </a:extLst>
          </p:cNvPr>
          <p:cNvSpPr txBox="1"/>
          <p:nvPr/>
        </p:nvSpPr>
        <p:spPr>
          <a:xfrm>
            <a:off x="271493" y="875546"/>
            <a:ext cx="11052036" cy="1136071"/>
          </a:xfrm>
          <a:prstGeom prst="rect">
            <a:avLst/>
          </a:prstGeom>
        </p:spPr>
        <p:txBody>
          <a:bodyPr>
            <a:noAutofit/>
          </a:bodyPr>
          <a:lstStyle/>
          <a:p>
            <a:pPr marL="457200" indent="-4572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Run Helixer in on the same genome to obtain UTR information</a:t>
            </a:r>
          </a:p>
          <a:p>
            <a:pPr marL="457200" indent="-457200">
              <a:spcBef>
                <a:spcPts val="400"/>
              </a:spcBef>
              <a:spcAft>
                <a:spcPct val="0"/>
              </a:spcAft>
              <a:buAutoNum type="arabicPeriod"/>
            </a:pPr>
            <a:r>
              <a:rPr lang="en-US" altLang="zh-CN" sz="2000" dirty="0">
                <a:latin typeface="Arial" panose="020B0604020202020204" pitchFamily="34" charset="0"/>
                <a:cs typeface="Arial" panose="020B0604020202020204" pitchFamily="34" charset="0"/>
              </a:rPr>
              <a:t>Transfer UTR feature from helixer to original GFF that has high/exact match CDS based on Jaccard + splice junction agreement</a:t>
            </a:r>
          </a:p>
        </p:txBody>
      </p:sp>
      <p:pic>
        <p:nvPicPr>
          <p:cNvPr id="7" name="Picture 6">
            <a:extLst>
              <a:ext uri="{FF2B5EF4-FFF2-40B4-BE49-F238E27FC236}">
                <a16:creationId xmlns:a16="http://schemas.microsoft.com/office/drawing/2014/main" id="{3C3A7F94-5602-24CA-19B6-7E8ADDC33003}"/>
              </a:ext>
            </a:extLst>
          </p:cNvPr>
          <p:cNvPicPr>
            <a:picLocks noChangeAspect="1"/>
          </p:cNvPicPr>
          <p:nvPr/>
        </p:nvPicPr>
        <p:blipFill>
          <a:blip r:embed="rId4"/>
          <a:srcRect l="2993" t="7375" b="7013"/>
          <a:stretch>
            <a:fillRect/>
          </a:stretch>
        </p:blipFill>
        <p:spPr>
          <a:xfrm>
            <a:off x="868471" y="2011617"/>
            <a:ext cx="4271375" cy="500576"/>
          </a:xfrm>
          <a:prstGeom prst="rect">
            <a:avLst/>
          </a:prstGeom>
        </p:spPr>
      </p:pic>
      <p:pic>
        <p:nvPicPr>
          <p:cNvPr id="8" name="Picture 7">
            <a:extLst>
              <a:ext uri="{FF2B5EF4-FFF2-40B4-BE49-F238E27FC236}">
                <a16:creationId xmlns:a16="http://schemas.microsoft.com/office/drawing/2014/main" id="{1B016675-D3E5-3876-9F0D-6E7CC631CE7E}"/>
              </a:ext>
            </a:extLst>
          </p:cNvPr>
          <p:cNvPicPr>
            <a:picLocks noChangeAspect="1"/>
          </p:cNvPicPr>
          <p:nvPr/>
        </p:nvPicPr>
        <p:blipFill>
          <a:blip r:embed="rId5"/>
          <a:srcRect r="20645"/>
          <a:stretch>
            <a:fillRect/>
          </a:stretch>
        </p:blipFill>
        <p:spPr>
          <a:xfrm>
            <a:off x="456155" y="4752027"/>
            <a:ext cx="8462378" cy="1907565"/>
          </a:xfrm>
          <a:prstGeom prst="rect">
            <a:avLst/>
          </a:prstGeom>
        </p:spPr>
      </p:pic>
      <p:pic>
        <p:nvPicPr>
          <p:cNvPr id="9" name="Picture 8">
            <a:extLst>
              <a:ext uri="{FF2B5EF4-FFF2-40B4-BE49-F238E27FC236}">
                <a16:creationId xmlns:a16="http://schemas.microsoft.com/office/drawing/2014/main" id="{23CED497-9B27-D51C-DC9B-9FAC36F31B5F}"/>
              </a:ext>
            </a:extLst>
          </p:cNvPr>
          <p:cNvPicPr>
            <a:picLocks noChangeAspect="1"/>
          </p:cNvPicPr>
          <p:nvPr/>
        </p:nvPicPr>
        <p:blipFill>
          <a:blip r:embed="rId6"/>
          <a:stretch>
            <a:fillRect/>
          </a:stretch>
        </p:blipFill>
        <p:spPr>
          <a:xfrm>
            <a:off x="456155" y="3147688"/>
            <a:ext cx="8462378" cy="982598"/>
          </a:xfrm>
          <a:prstGeom prst="rect">
            <a:avLst/>
          </a:prstGeom>
        </p:spPr>
      </p:pic>
      <p:sp>
        <p:nvSpPr>
          <p:cNvPr id="10" name="文本框 3">
            <a:extLst>
              <a:ext uri="{FF2B5EF4-FFF2-40B4-BE49-F238E27FC236}">
                <a16:creationId xmlns:a16="http://schemas.microsoft.com/office/drawing/2014/main" id="{C5C36546-F7B0-B544-162F-4E25DDA4D00F}"/>
              </a:ext>
            </a:extLst>
          </p:cNvPr>
          <p:cNvSpPr txBox="1"/>
          <p:nvPr/>
        </p:nvSpPr>
        <p:spPr>
          <a:xfrm>
            <a:off x="369527" y="2782006"/>
            <a:ext cx="3854771" cy="365682"/>
          </a:xfrm>
          <a:prstGeom prst="rect">
            <a:avLst/>
          </a:prstGeom>
        </p:spPr>
        <p:txBody>
          <a:bodyPr>
            <a:noAutofit/>
          </a:bodyPr>
          <a:lstStyle/>
          <a:p>
            <a:pPr>
              <a:spcBef>
                <a:spcPts val="400"/>
              </a:spcBef>
              <a:spcAft>
                <a:spcPct val="0"/>
              </a:spcAft>
            </a:pPr>
            <a:r>
              <a:rPr lang="en-US" altLang="zh-CN" sz="1600" b="1" dirty="0">
                <a:latin typeface="Arial" panose="020B0604020202020204" pitchFamily="34" charset="0"/>
                <a:cs typeface="Arial" panose="020B0604020202020204" pitchFamily="34" charset="0"/>
              </a:rPr>
              <a:t>Original GFF annotation file</a:t>
            </a:r>
          </a:p>
        </p:txBody>
      </p:sp>
      <p:sp>
        <p:nvSpPr>
          <p:cNvPr id="11" name="文本框 3">
            <a:extLst>
              <a:ext uri="{FF2B5EF4-FFF2-40B4-BE49-F238E27FC236}">
                <a16:creationId xmlns:a16="http://schemas.microsoft.com/office/drawing/2014/main" id="{7E4E91A5-711A-88B2-AB66-01C6FC3AB40C}"/>
              </a:ext>
            </a:extLst>
          </p:cNvPr>
          <p:cNvSpPr txBox="1"/>
          <p:nvPr/>
        </p:nvSpPr>
        <p:spPr>
          <a:xfrm>
            <a:off x="369527" y="4400099"/>
            <a:ext cx="4298726" cy="365682"/>
          </a:xfrm>
          <a:prstGeom prst="rect">
            <a:avLst/>
          </a:prstGeom>
        </p:spPr>
        <p:txBody>
          <a:bodyPr>
            <a:noAutofit/>
          </a:bodyPr>
          <a:lstStyle/>
          <a:p>
            <a:pPr>
              <a:spcBef>
                <a:spcPts val="400"/>
              </a:spcBef>
              <a:spcAft>
                <a:spcPct val="0"/>
              </a:spcAft>
            </a:pPr>
            <a:r>
              <a:rPr lang="en-US" altLang="zh-CN" sz="1600" b="1" dirty="0">
                <a:latin typeface="Arial" panose="020B0604020202020204" pitchFamily="34" charset="0"/>
                <a:cs typeface="Arial" panose="020B0604020202020204" pitchFamily="34" charset="0"/>
              </a:rPr>
              <a:t>New GFF after obtained UTR from helixer</a:t>
            </a:r>
          </a:p>
        </p:txBody>
      </p:sp>
      <p:cxnSp>
        <p:nvCxnSpPr>
          <p:cNvPr id="13" name="Straight Arrow Connector 12">
            <a:extLst>
              <a:ext uri="{FF2B5EF4-FFF2-40B4-BE49-F238E27FC236}">
                <a16:creationId xmlns:a16="http://schemas.microsoft.com/office/drawing/2014/main" id="{7649D170-AE8F-EB4B-AA50-B8720093966E}"/>
              </a:ext>
            </a:extLst>
          </p:cNvPr>
          <p:cNvCxnSpPr>
            <a:cxnSpLocks/>
          </p:cNvCxnSpPr>
          <p:nvPr/>
        </p:nvCxnSpPr>
        <p:spPr>
          <a:xfrm flipH="1">
            <a:off x="3189427" y="5252603"/>
            <a:ext cx="525925" cy="34352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413A54E-5FAF-5066-7DA5-5DF23A28FD2D}"/>
              </a:ext>
            </a:extLst>
          </p:cNvPr>
          <p:cNvCxnSpPr>
            <a:cxnSpLocks/>
          </p:cNvCxnSpPr>
          <p:nvPr/>
        </p:nvCxnSpPr>
        <p:spPr>
          <a:xfrm flipH="1">
            <a:off x="3281745" y="6217869"/>
            <a:ext cx="525925" cy="34352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3">
            <a:extLst>
              <a:ext uri="{FF2B5EF4-FFF2-40B4-BE49-F238E27FC236}">
                <a16:creationId xmlns:a16="http://schemas.microsoft.com/office/drawing/2014/main" id="{99A4FD23-892B-BCB5-0DDC-F61929852487}"/>
              </a:ext>
            </a:extLst>
          </p:cNvPr>
          <p:cNvSpPr txBox="1"/>
          <p:nvPr/>
        </p:nvSpPr>
        <p:spPr>
          <a:xfrm>
            <a:off x="9103505" y="3236938"/>
            <a:ext cx="2632340" cy="629006"/>
          </a:xfrm>
          <a:prstGeom prst="rect">
            <a:avLst/>
          </a:prstGeom>
        </p:spPr>
        <p:txBody>
          <a:bodyPr>
            <a:noAutofit/>
          </a:bodyPr>
          <a:lstStyle/>
          <a:p>
            <a:pPr>
              <a:spcBef>
                <a:spcPts val="400"/>
              </a:spcBef>
              <a:spcAft>
                <a:spcPct val="0"/>
              </a:spcAft>
            </a:pPr>
            <a:r>
              <a:rPr lang="en-US" altLang="zh-CN" sz="1600" dirty="0">
                <a:solidFill>
                  <a:srgbClr val="FF0000"/>
                </a:solidFill>
                <a:latin typeface="Arial" panose="020B0604020202020204" pitchFamily="34" charset="0"/>
                <a:cs typeface="Arial" panose="020B0604020202020204" pitchFamily="34" charset="0"/>
              </a:rPr>
              <a:t>Original GFF only contain mRNA + CDS feature</a:t>
            </a:r>
          </a:p>
        </p:txBody>
      </p:sp>
      <p:sp>
        <p:nvSpPr>
          <p:cNvPr id="18" name="文本框 3">
            <a:extLst>
              <a:ext uri="{FF2B5EF4-FFF2-40B4-BE49-F238E27FC236}">
                <a16:creationId xmlns:a16="http://schemas.microsoft.com/office/drawing/2014/main" id="{EF584492-E11B-6991-489F-39D008370200}"/>
              </a:ext>
            </a:extLst>
          </p:cNvPr>
          <p:cNvSpPr txBox="1"/>
          <p:nvPr/>
        </p:nvSpPr>
        <p:spPr>
          <a:xfrm>
            <a:off x="9103505" y="4795359"/>
            <a:ext cx="2632340" cy="629006"/>
          </a:xfrm>
          <a:prstGeom prst="rect">
            <a:avLst/>
          </a:prstGeom>
        </p:spPr>
        <p:txBody>
          <a:bodyPr>
            <a:noAutofit/>
          </a:bodyPr>
          <a:lstStyle/>
          <a:p>
            <a:pPr>
              <a:spcBef>
                <a:spcPts val="400"/>
              </a:spcBef>
              <a:spcAft>
                <a:spcPct val="0"/>
              </a:spcAft>
            </a:pPr>
            <a:r>
              <a:rPr lang="en-US" altLang="zh-CN" sz="1600" dirty="0">
                <a:solidFill>
                  <a:srgbClr val="FF0000"/>
                </a:solidFill>
                <a:latin typeface="Arial" panose="020B0604020202020204" pitchFamily="34" charset="0"/>
                <a:cs typeface="Arial" panose="020B0604020202020204" pitchFamily="34" charset="0"/>
              </a:rPr>
              <a:t>Obtained UTR features along side with exon</a:t>
            </a:r>
          </a:p>
        </p:txBody>
      </p:sp>
      <p:sp>
        <p:nvSpPr>
          <p:cNvPr id="19" name="文本框 3">
            <a:extLst>
              <a:ext uri="{FF2B5EF4-FFF2-40B4-BE49-F238E27FC236}">
                <a16:creationId xmlns:a16="http://schemas.microsoft.com/office/drawing/2014/main" id="{CDC0BF52-9FF9-3BA2-2E3A-0C4754F3570F}"/>
              </a:ext>
            </a:extLst>
          </p:cNvPr>
          <p:cNvSpPr txBox="1"/>
          <p:nvPr/>
        </p:nvSpPr>
        <p:spPr>
          <a:xfrm>
            <a:off x="9111783" y="6075128"/>
            <a:ext cx="2632340" cy="629006"/>
          </a:xfrm>
          <a:prstGeom prst="rect">
            <a:avLst/>
          </a:prstGeom>
        </p:spPr>
        <p:txBody>
          <a:bodyPr>
            <a:noAutofit/>
          </a:bodyPr>
          <a:lstStyle/>
          <a:p>
            <a:pPr>
              <a:spcBef>
                <a:spcPts val="400"/>
              </a:spcBef>
              <a:spcAft>
                <a:spcPct val="0"/>
              </a:spcAft>
            </a:pPr>
            <a:r>
              <a:rPr lang="en-US" altLang="zh-CN" sz="1600" dirty="0">
                <a:latin typeface="Arial" panose="020B0604020202020204" pitchFamily="34" charset="0"/>
                <a:cs typeface="Arial" panose="020B0604020202020204" pitchFamily="34" charset="0"/>
              </a:rPr>
              <a:t>Tested on </a:t>
            </a:r>
            <a:r>
              <a:rPr lang="en-US" altLang="zh-CN" sz="1600" i="1" dirty="0">
                <a:latin typeface="Arial" panose="020B0604020202020204" pitchFamily="34" charset="0"/>
                <a:cs typeface="Arial" panose="020B0604020202020204" pitchFamily="34" charset="0"/>
              </a:rPr>
              <a:t>Oryza sativa </a:t>
            </a:r>
            <a:r>
              <a:rPr lang="en-US" altLang="zh-CN" sz="1600" dirty="0">
                <a:latin typeface="Arial" panose="020B0604020202020204" pitchFamily="34" charset="0"/>
                <a:cs typeface="Arial" panose="020B0604020202020204" pitchFamily="34" charset="0"/>
              </a:rPr>
              <a:t>japonica</a:t>
            </a:r>
          </a:p>
        </p:txBody>
      </p:sp>
      <p:sp>
        <p:nvSpPr>
          <p:cNvPr id="20" name="文本框 3">
            <a:extLst>
              <a:ext uri="{FF2B5EF4-FFF2-40B4-BE49-F238E27FC236}">
                <a16:creationId xmlns:a16="http://schemas.microsoft.com/office/drawing/2014/main" id="{066CE5BD-299E-BB2F-F226-0EDC6E230EB3}"/>
              </a:ext>
            </a:extLst>
          </p:cNvPr>
          <p:cNvSpPr txBox="1"/>
          <p:nvPr/>
        </p:nvSpPr>
        <p:spPr>
          <a:xfrm>
            <a:off x="5797511" y="281213"/>
            <a:ext cx="1679735" cy="359193"/>
          </a:xfrm>
          <a:prstGeom prst="rect">
            <a:avLst/>
          </a:prstGeom>
        </p:spPr>
        <p:txBody>
          <a:bodyPr>
            <a:noAutofit/>
          </a:bodyPr>
          <a:lstStyle/>
          <a:p>
            <a:pPr algn="ctr">
              <a:spcBef>
                <a:spcPts val="400"/>
              </a:spcBef>
              <a:spcAft>
                <a:spcPct val="0"/>
              </a:spcAft>
            </a:pPr>
            <a:r>
              <a:rPr lang="en-US" altLang="zh-CN" sz="1600" b="1" dirty="0">
                <a:solidFill>
                  <a:srgbClr val="FF0000"/>
                </a:solidFill>
                <a:latin typeface="Arial" panose="020B0604020202020204" pitchFamily="34" charset="0"/>
                <a:cs typeface="Arial" panose="020B0604020202020204" pitchFamily="34" charset="0"/>
              </a:rPr>
              <a:t>Experimental!</a:t>
            </a:r>
          </a:p>
        </p:txBody>
      </p:sp>
    </p:spTree>
    <p:extLst>
      <p:ext uri="{BB962C8B-B14F-4D97-AF65-F5344CB8AC3E}">
        <p14:creationId xmlns:p14="http://schemas.microsoft.com/office/powerpoint/2010/main" val="2899814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FA45A-0AB3-EDCC-F2C6-63D909759C01}"/>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DDAF034A-5409-EEC2-34DF-ED5192A08CEC}"/>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Poaceae Genome List</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124B7349-DFF4-D2B2-53A9-3049D0ACC1A9}"/>
              </a:ext>
            </a:extLst>
          </p:cNvPr>
          <p:cNvPicPr>
            <a:picLocks noChangeAspect="1"/>
          </p:cNvPicPr>
          <p:nvPr/>
        </p:nvPicPr>
        <p:blipFill>
          <a:blip r:embed="rId3"/>
          <a:srcRect t="4016" b="5943"/>
          <a:stretch>
            <a:fillRect/>
          </a:stretch>
        </p:blipFill>
        <p:spPr>
          <a:xfrm>
            <a:off x="8046720" y="64719"/>
            <a:ext cx="1855376" cy="767710"/>
          </a:xfrm>
          <a:prstGeom prst="rect">
            <a:avLst/>
          </a:prstGeom>
        </p:spPr>
      </p:pic>
      <p:pic>
        <p:nvPicPr>
          <p:cNvPr id="4" name="Picture 3">
            <a:extLst>
              <a:ext uri="{FF2B5EF4-FFF2-40B4-BE49-F238E27FC236}">
                <a16:creationId xmlns:a16="http://schemas.microsoft.com/office/drawing/2014/main" id="{1869BF88-8EBE-519D-1DFA-D829B13A60EE}"/>
              </a:ext>
            </a:extLst>
          </p:cNvPr>
          <p:cNvPicPr>
            <a:picLocks noChangeAspect="1"/>
          </p:cNvPicPr>
          <p:nvPr/>
        </p:nvPicPr>
        <p:blipFill>
          <a:blip r:embed="rId4"/>
          <a:stretch>
            <a:fillRect/>
          </a:stretch>
        </p:blipFill>
        <p:spPr>
          <a:xfrm>
            <a:off x="161636" y="914400"/>
            <a:ext cx="3932382" cy="1761565"/>
          </a:xfrm>
          <a:prstGeom prst="rect">
            <a:avLst/>
          </a:prstGeom>
        </p:spPr>
      </p:pic>
      <p:pic>
        <p:nvPicPr>
          <p:cNvPr id="5" name="Picture 4">
            <a:extLst>
              <a:ext uri="{FF2B5EF4-FFF2-40B4-BE49-F238E27FC236}">
                <a16:creationId xmlns:a16="http://schemas.microsoft.com/office/drawing/2014/main" id="{A77466A4-639C-3C3B-FCCD-0234E06A582E}"/>
              </a:ext>
            </a:extLst>
          </p:cNvPr>
          <p:cNvPicPr>
            <a:picLocks noChangeAspect="1"/>
          </p:cNvPicPr>
          <p:nvPr/>
        </p:nvPicPr>
        <p:blipFill>
          <a:blip r:embed="rId5"/>
          <a:stretch>
            <a:fillRect/>
          </a:stretch>
        </p:blipFill>
        <p:spPr>
          <a:xfrm>
            <a:off x="161636" y="2891625"/>
            <a:ext cx="7772400" cy="3672672"/>
          </a:xfrm>
          <a:prstGeom prst="rect">
            <a:avLst/>
          </a:prstGeom>
        </p:spPr>
      </p:pic>
      <p:pic>
        <p:nvPicPr>
          <p:cNvPr id="15" name="Picture 14">
            <a:extLst>
              <a:ext uri="{FF2B5EF4-FFF2-40B4-BE49-F238E27FC236}">
                <a16:creationId xmlns:a16="http://schemas.microsoft.com/office/drawing/2014/main" id="{6F4E73F8-9BE0-62E2-47A3-08D112602EAC}"/>
              </a:ext>
            </a:extLst>
          </p:cNvPr>
          <p:cNvPicPr>
            <a:picLocks noChangeAspect="1"/>
          </p:cNvPicPr>
          <p:nvPr/>
        </p:nvPicPr>
        <p:blipFill>
          <a:blip r:embed="rId6"/>
          <a:stretch>
            <a:fillRect/>
          </a:stretch>
        </p:blipFill>
        <p:spPr>
          <a:xfrm>
            <a:off x="4257964" y="1014471"/>
            <a:ext cx="7772400" cy="1521379"/>
          </a:xfrm>
          <a:prstGeom prst="rect">
            <a:avLst/>
          </a:prstGeom>
        </p:spPr>
      </p:pic>
      <p:pic>
        <p:nvPicPr>
          <p:cNvPr id="21" name="Picture 20">
            <a:extLst>
              <a:ext uri="{FF2B5EF4-FFF2-40B4-BE49-F238E27FC236}">
                <a16:creationId xmlns:a16="http://schemas.microsoft.com/office/drawing/2014/main" id="{2407B91B-C71E-9108-0188-C2495A757A0B}"/>
              </a:ext>
            </a:extLst>
          </p:cNvPr>
          <p:cNvPicPr>
            <a:picLocks noChangeAspect="1"/>
          </p:cNvPicPr>
          <p:nvPr/>
        </p:nvPicPr>
        <p:blipFill>
          <a:blip r:embed="rId7"/>
          <a:srcRect r="27124"/>
          <a:stretch>
            <a:fillRect/>
          </a:stretch>
        </p:blipFill>
        <p:spPr>
          <a:xfrm>
            <a:off x="8046720" y="2903070"/>
            <a:ext cx="3743036" cy="1212898"/>
          </a:xfrm>
          <a:prstGeom prst="rect">
            <a:avLst/>
          </a:prstGeom>
        </p:spPr>
      </p:pic>
      <p:sp>
        <p:nvSpPr>
          <p:cNvPr id="23" name="文本框 3">
            <a:extLst>
              <a:ext uri="{FF2B5EF4-FFF2-40B4-BE49-F238E27FC236}">
                <a16:creationId xmlns:a16="http://schemas.microsoft.com/office/drawing/2014/main" id="{33C6FF85-DD74-DA7E-F6CE-EFF379116FB0}"/>
              </a:ext>
            </a:extLst>
          </p:cNvPr>
          <p:cNvSpPr txBox="1"/>
          <p:nvPr/>
        </p:nvSpPr>
        <p:spPr>
          <a:xfrm>
            <a:off x="8046720" y="4272047"/>
            <a:ext cx="2632340" cy="629006"/>
          </a:xfrm>
          <a:prstGeom prst="rect">
            <a:avLst/>
          </a:prstGeom>
        </p:spPr>
        <p:txBody>
          <a:bodyPr>
            <a:noAutofit/>
          </a:bodyPr>
          <a:lstStyle/>
          <a:p>
            <a:pPr>
              <a:spcBef>
                <a:spcPts val="400"/>
              </a:spcBef>
              <a:spcAft>
                <a:spcPct val="0"/>
              </a:spcAft>
            </a:pPr>
            <a:r>
              <a:rPr lang="en-US" altLang="zh-CN" sz="1600" dirty="0">
                <a:solidFill>
                  <a:srgbClr val="FF0000"/>
                </a:solidFill>
                <a:latin typeface="Arial" panose="020B0604020202020204" pitchFamily="34" charset="0"/>
                <a:cs typeface="Arial" panose="020B0604020202020204" pitchFamily="34" charset="0"/>
              </a:rPr>
              <a:t>100 + 2 new genus</a:t>
            </a:r>
          </a:p>
        </p:txBody>
      </p:sp>
    </p:spTree>
    <p:extLst>
      <p:ext uri="{BB962C8B-B14F-4D97-AF65-F5344CB8AC3E}">
        <p14:creationId xmlns:p14="http://schemas.microsoft.com/office/powerpoint/2010/main" val="2449193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0E603-DF6E-1A9A-0A1A-D64676E1DA2F}"/>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8202D79E-039E-6956-5A74-97EC2F314716}"/>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Poaceae Data Training</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1E2D8E7D-B178-3C24-4C59-A806A37B33F0}"/>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2" name="文本框 3">
            <a:extLst>
              <a:ext uri="{FF2B5EF4-FFF2-40B4-BE49-F238E27FC236}">
                <a16:creationId xmlns:a16="http://schemas.microsoft.com/office/drawing/2014/main" id="{38B407CE-1A98-3D90-48EC-E81595D27BAC}"/>
              </a:ext>
            </a:extLst>
          </p:cNvPr>
          <p:cNvSpPr txBox="1"/>
          <p:nvPr/>
        </p:nvSpPr>
        <p:spPr>
          <a:xfrm>
            <a:off x="504041" y="4979146"/>
            <a:ext cx="1224199" cy="36568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Option 1</a:t>
            </a:r>
          </a:p>
        </p:txBody>
      </p:sp>
      <p:sp>
        <p:nvSpPr>
          <p:cNvPr id="3" name="文本框 3">
            <a:extLst>
              <a:ext uri="{FF2B5EF4-FFF2-40B4-BE49-F238E27FC236}">
                <a16:creationId xmlns:a16="http://schemas.microsoft.com/office/drawing/2014/main" id="{AFFEF368-9CF0-B682-061A-992C3BED8455}"/>
              </a:ext>
            </a:extLst>
          </p:cNvPr>
          <p:cNvSpPr txBox="1"/>
          <p:nvPr/>
        </p:nvSpPr>
        <p:spPr>
          <a:xfrm>
            <a:off x="4978549" y="4979144"/>
            <a:ext cx="1224199" cy="36568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Option 2</a:t>
            </a:r>
          </a:p>
        </p:txBody>
      </p:sp>
      <p:sp>
        <p:nvSpPr>
          <p:cNvPr id="6" name="文本框 3">
            <a:extLst>
              <a:ext uri="{FF2B5EF4-FFF2-40B4-BE49-F238E27FC236}">
                <a16:creationId xmlns:a16="http://schemas.microsoft.com/office/drawing/2014/main" id="{AFF0AC88-8531-0A34-E1F4-D407D66755B4}"/>
              </a:ext>
            </a:extLst>
          </p:cNvPr>
          <p:cNvSpPr txBox="1"/>
          <p:nvPr/>
        </p:nvSpPr>
        <p:spPr>
          <a:xfrm>
            <a:off x="9213805" y="4979146"/>
            <a:ext cx="1224199" cy="36568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Option 3</a:t>
            </a:r>
          </a:p>
        </p:txBody>
      </p:sp>
      <p:sp>
        <p:nvSpPr>
          <p:cNvPr id="7" name="文本框 3">
            <a:extLst>
              <a:ext uri="{FF2B5EF4-FFF2-40B4-BE49-F238E27FC236}">
                <a16:creationId xmlns:a16="http://schemas.microsoft.com/office/drawing/2014/main" id="{B68BE23A-973D-5EF2-BE4B-EBE181F42342}"/>
              </a:ext>
            </a:extLst>
          </p:cNvPr>
          <p:cNvSpPr txBox="1"/>
          <p:nvPr/>
        </p:nvSpPr>
        <p:spPr>
          <a:xfrm>
            <a:off x="504041" y="5344828"/>
            <a:ext cx="2792253" cy="359193"/>
          </a:xfrm>
          <a:prstGeom prst="rect">
            <a:avLst/>
          </a:prstGeom>
        </p:spPr>
        <p:txBody>
          <a:bodyPr>
            <a:noAutofit/>
          </a:bodyPr>
          <a:lstStyle/>
          <a:p>
            <a:pPr>
              <a:spcBef>
                <a:spcPts val="400"/>
              </a:spcBef>
              <a:spcAft>
                <a:spcPct val="0"/>
              </a:spcAft>
            </a:pPr>
            <a:r>
              <a:rPr lang="en-US" altLang="zh-CN" b="1" dirty="0">
                <a:solidFill>
                  <a:srgbClr val="FF0000"/>
                </a:solidFill>
                <a:latin typeface="Arial" panose="020B0604020202020204" pitchFamily="34" charset="0"/>
                <a:cs typeface="Arial" panose="020B0604020202020204" pitchFamily="34" charset="0"/>
              </a:rPr>
              <a:t>Fully balance scenario</a:t>
            </a:r>
          </a:p>
        </p:txBody>
      </p:sp>
      <p:sp>
        <p:nvSpPr>
          <p:cNvPr id="8" name="文本框 3">
            <a:extLst>
              <a:ext uri="{FF2B5EF4-FFF2-40B4-BE49-F238E27FC236}">
                <a16:creationId xmlns:a16="http://schemas.microsoft.com/office/drawing/2014/main" id="{BBA62A85-9B33-4CAD-7AD6-D72A4758B7FC}"/>
              </a:ext>
            </a:extLst>
          </p:cNvPr>
          <p:cNvSpPr txBox="1"/>
          <p:nvPr/>
        </p:nvSpPr>
        <p:spPr>
          <a:xfrm>
            <a:off x="504041" y="5844907"/>
            <a:ext cx="2891299" cy="705500"/>
          </a:xfrm>
          <a:prstGeom prst="rect">
            <a:avLst/>
          </a:prstGeom>
        </p:spPr>
        <p:txBody>
          <a:bodyPr>
            <a:noAutofit/>
          </a:bodyPr>
          <a:lstStyle/>
          <a:p>
            <a:pPr>
              <a:spcBef>
                <a:spcPts val="400"/>
              </a:spcBef>
              <a:spcAft>
                <a:spcPct val="0"/>
              </a:spcAft>
            </a:pPr>
            <a:r>
              <a:rPr lang="en-US" altLang="zh-CN" dirty="0">
                <a:latin typeface="Arial" panose="020B0604020202020204" pitchFamily="34" charset="0"/>
                <a:cs typeface="Arial" panose="020B0604020202020204" pitchFamily="34" charset="0"/>
              </a:rPr>
              <a:t>102 species in total, one species from each genus. </a:t>
            </a:r>
          </a:p>
        </p:txBody>
      </p:sp>
      <p:sp>
        <p:nvSpPr>
          <p:cNvPr id="10" name="文本框 3">
            <a:extLst>
              <a:ext uri="{FF2B5EF4-FFF2-40B4-BE49-F238E27FC236}">
                <a16:creationId xmlns:a16="http://schemas.microsoft.com/office/drawing/2014/main" id="{021FB8AD-3B87-7C9F-CAB7-1D7838C9CA83}"/>
              </a:ext>
            </a:extLst>
          </p:cNvPr>
          <p:cNvSpPr txBox="1"/>
          <p:nvPr/>
        </p:nvSpPr>
        <p:spPr>
          <a:xfrm>
            <a:off x="4060062" y="5344825"/>
            <a:ext cx="3061172" cy="359193"/>
          </a:xfrm>
          <a:prstGeom prst="rect">
            <a:avLst/>
          </a:prstGeom>
        </p:spPr>
        <p:txBody>
          <a:bodyPr>
            <a:noAutofit/>
          </a:bodyPr>
          <a:lstStyle/>
          <a:p>
            <a:pPr algn="ctr">
              <a:spcBef>
                <a:spcPts val="400"/>
              </a:spcBef>
              <a:spcAft>
                <a:spcPct val="0"/>
              </a:spcAft>
            </a:pPr>
            <a:r>
              <a:rPr lang="en-US" altLang="zh-CN" b="1" dirty="0">
                <a:solidFill>
                  <a:srgbClr val="FF0000"/>
                </a:solidFill>
                <a:latin typeface="Arial" panose="020B0604020202020204" pitchFamily="34" charset="0"/>
                <a:cs typeface="Arial" panose="020B0604020202020204" pitchFamily="34" charset="0"/>
              </a:rPr>
              <a:t>Light imbalance scenario</a:t>
            </a:r>
          </a:p>
        </p:txBody>
      </p:sp>
      <p:sp>
        <p:nvSpPr>
          <p:cNvPr id="11" name="文本框 3">
            <a:extLst>
              <a:ext uri="{FF2B5EF4-FFF2-40B4-BE49-F238E27FC236}">
                <a16:creationId xmlns:a16="http://schemas.microsoft.com/office/drawing/2014/main" id="{51609882-2510-C67C-F8E0-992461B7C9EC}"/>
              </a:ext>
            </a:extLst>
          </p:cNvPr>
          <p:cNvSpPr txBox="1"/>
          <p:nvPr/>
        </p:nvSpPr>
        <p:spPr>
          <a:xfrm>
            <a:off x="4144999" y="5844906"/>
            <a:ext cx="3901721" cy="851863"/>
          </a:xfrm>
          <a:prstGeom prst="rect">
            <a:avLst/>
          </a:prstGeom>
        </p:spPr>
        <p:txBody>
          <a:bodyPr>
            <a:noAutofit/>
          </a:bodyPr>
          <a:lstStyle/>
          <a:p>
            <a:pPr>
              <a:spcBef>
                <a:spcPts val="400"/>
              </a:spcBef>
              <a:spcAft>
                <a:spcPct val="0"/>
              </a:spcAft>
            </a:pPr>
            <a:r>
              <a:rPr lang="en-US" altLang="zh-CN" dirty="0">
                <a:latin typeface="Arial" panose="020B0604020202020204" pitchFamily="34" charset="0"/>
                <a:cs typeface="Arial" panose="020B0604020202020204" pitchFamily="34" charset="0"/>
              </a:rPr>
              <a:t>164 species in total, one species per genus + 64 species from genus that contain &gt;1 species.</a:t>
            </a:r>
          </a:p>
        </p:txBody>
      </p:sp>
      <p:sp>
        <p:nvSpPr>
          <p:cNvPr id="13" name="文本框 3">
            <a:extLst>
              <a:ext uri="{FF2B5EF4-FFF2-40B4-BE49-F238E27FC236}">
                <a16:creationId xmlns:a16="http://schemas.microsoft.com/office/drawing/2014/main" id="{FBCF04A5-19DC-F3DE-F3D1-9B1B0DB5A452}"/>
              </a:ext>
            </a:extLst>
          </p:cNvPr>
          <p:cNvSpPr txBox="1"/>
          <p:nvPr/>
        </p:nvSpPr>
        <p:spPr>
          <a:xfrm>
            <a:off x="8295318" y="5344826"/>
            <a:ext cx="3061172" cy="359193"/>
          </a:xfrm>
          <a:prstGeom prst="rect">
            <a:avLst/>
          </a:prstGeom>
        </p:spPr>
        <p:txBody>
          <a:bodyPr>
            <a:noAutofit/>
          </a:bodyPr>
          <a:lstStyle/>
          <a:p>
            <a:pPr algn="ctr">
              <a:spcBef>
                <a:spcPts val="400"/>
              </a:spcBef>
              <a:spcAft>
                <a:spcPct val="0"/>
              </a:spcAft>
            </a:pPr>
            <a:r>
              <a:rPr lang="en-US" altLang="zh-CN" b="1" dirty="0">
                <a:solidFill>
                  <a:srgbClr val="FF0000"/>
                </a:solidFill>
                <a:latin typeface="Arial" panose="020B0604020202020204" pitchFamily="34" charset="0"/>
                <a:cs typeface="Arial" panose="020B0604020202020204" pitchFamily="34" charset="0"/>
              </a:rPr>
              <a:t>Imbalance scenario</a:t>
            </a:r>
          </a:p>
        </p:txBody>
      </p:sp>
      <p:sp>
        <p:nvSpPr>
          <p:cNvPr id="14" name="文本框 3">
            <a:extLst>
              <a:ext uri="{FF2B5EF4-FFF2-40B4-BE49-F238E27FC236}">
                <a16:creationId xmlns:a16="http://schemas.microsoft.com/office/drawing/2014/main" id="{0D292828-D4E3-A779-3968-955253E29FD5}"/>
              </a:ext>
            </a:extLst>
          </p:cNvPr>
          <p:cNvSpPr txBox="1"/>
          <p:nvPr/>
        </p:nvSpPr>
        <p:spPr>
          <a:xfrm>
            <a:off x="8595820" y="5844906"/>
            <a:ext cx="3254752" cy="1104335"/>
          </a:xfrm>
          <a:prstGeom prst="rect">
            <a:avLst/>
          </a:prstGeom>
        </p:spPr>
        <p:txBody>
          <a:bodyPr>
            <a:noAutofit/>
          </a:bodyPr>
          <a:lstStyle/>
          <a:p>
            <a:pPr>
              <a:spcBef>
                <a:spcPts val="400"/>
              </a:spcBef>
              <a:spcAft>
                <a:spcPct val="0"/>
              </a:spcAft>
            </a:pPr>
            <a:r>
              <a:rPr lang="en-US" altLang="zh-CN" dirty="0">
                <a:latin typeface="Arial" panose="020B0604020202020204" pitchFamily="34" charset="0"/>
                <a:cs typeface="Arial" panose="020B0604020202020204" pitchFamily="34" charset="0"/>
              </a:rPr>
              <a:t>300++ species. One species per genus + economically </a:t>
            </a:r>
            <a:r>
              <a:rPr lang="en-US" altLang="zh-CN">
                <a:latin typeface="Arial" panose="020B0604020202020204" pitchFamily="34" charset="0"/>
                <a:cs typeface="Arial" panose="020B0604020202020204" pitchFamily="34" charset="0"/>
              </a:rPr>
              <a:t>important species.</a:t>
            </a:r>
            <a:endParaRPr lang="en-US" altLang="zh-CN" dirty="0">
              <a:latin typeface="Arial" panose="020B0604020202020204" pitchFamily="34" charset="0"/>
              <a:cs typeface="Arial" panose="020B0604020202020204" pitchFamily="34" charset="0"/>
            </a:endParaRPr>
          </a:p>
        </p:txBody>
      </p:sp>
      <p:grpSp>
        <p:nvGrpSpPr>
          <p:cNvPr id="147" name="Group 146">
            <a:extLst>
              <a:ext uri="{FF2B5EF4-FFF2-40B4-BE49-F238E27FC236}">
                <a16:creationId xmlns:a16="http://schemas.microsoft.com/office/drawing/2014/main" id="{7AF8315A-ABF6-0B55-401A-078F2805ECF1}"/>
              </a:ext>
            </a:extLst>
          </p:cNvPr>
          <p:cNvGrpSpPr/>
          <p:nvPr/>
        </p:nvGrpSpPr>
        <p:grpSpPr>
          <a:xfrm>
            <a:off x="158379" y="940339"/>
            <a:ext cx="11546924" cy="3839653"/>
            <a:chOff x="141035" y="3028838"/>
            <a:chExt cx="11546924" cy="3839653"/>
          </a:xfrm>
        </p:grpSpPr>
        <p:sp>
          <p:nvSpPr>
            <p:cNvPr id="146" name="Rectangle 145">
              <a:extLst>
                <a:ext uri="{FF2B5EF4-FFF2-40B4-BE49-F238E27FC236}">
                  <a16:creationId xmlns:a16="http://schemas.microsoft.com/office/drawing/2014/main" id="{E36974BF-9B5D-D6AE-6E71-7BB76AB359CE}"/>
                </a:ext>
              </a:extLst>
            </p:cNvPr>
            <p:cNvSpPr/>
            <p:nvPr/>
          </p:nvSpPr>
          <p:spPr>
            <a:xfrm>
              <a:off x="6434982" y="3082563"/>
              <a:ext cx="1955535" cy="3735376"/>
            </a:xfrm>
            <a:prstGeom prst="rect">
              <a:avLst/>
            </a:prstGeom>
            <a:solidFill>
              <a:srgbClr val="A8EA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6" name="Picture 15">
              <a:extLst>
                <a:ext uri="{FF2B5EF4-FFF2-40B4-BE49-F238E27FC236}">
                  <a16:creationId xmlns:a16="http://schemas.microsoft.com/office/drawing/2014/main" id="{0F533AB2-63AD-6777-7B91-8FE43E66618D}"/>
                </a:ext>
              </a:extLst>
            </p:cNvPr>
            <p:cNvPicPr>
              <a:picLocks noChangeAspect="1"/>
            </p:cNvPicPr>
            <p:nvPr/>
          </p:nvPicPr>
          <p:blipFill>
            <a:blip r:embed="rId4"/>
            <a:stretch>
              <a:fillRect/>
            </a:stretch>
          </p:blipFill>
          <p:spPr>
            <a:xfrm>
              <a:off x="8712423" y="3082563"/>
              <a:ext cx="2975536" cy="3686929"/>
            </a:xfrm>
            <a:prstGeom prst="rect">
              <a:avLst/>
            </a:prstGeom>
          </p:spPr>
        </p:pic>
        <p:pic>
          <p:nvPicPr>
            <p:cNvPr id="25" name="Picture 24">
              <a:extLst>
                <a:ext uri="{FF2B5EF4-FFF2-40B4-BE49-F238E27FC236}">
                  <a16:creationId xmlns:a16="http://schemas.microsoft.com/office/drawing/2014/main" id="{6325DD07-E2EF-A6AB-CB2B-16318755578F}"/>
                </a:ext>
              </a:extLst>
            </p:cNvPr>
            <p:cNvPicPr>
              <a:picLocks noChangeAspect="1"/>
            </p:cNvPicPr>
            <p:nvPr/>
          </p:nvPicPr>
          <p:blipFill>
            <a:blip r:embed="rId5"/>
            <a:stretch>
              <a:fillRect/>
            </a:stretch>
          </p:blipFill>
          <p:spPr>
            <a:xfrm>
              <a:off x="504041" y="3310284"/>
              <a:ext cx="4022335" cy="3507655"/>
            </a:xfrm>
            <a:prstGeom prst="rect">
              <a:avLst/>
            </a:prstGeom>
          </p:spPr>
        </p:pic>
        <p:sp>
          <p:nvSpPr>
            <p:cNvPr id="26" name="文本框 3">
              <a:extLst>
                <a:ext uri="{FF2B5EF4-FFF2-40B4-BE49-F238E27FC236}">
                  <a16:creationId xmlns:a16="http://schemas.microsoft.com/office/drawing/2014/main" id="{B205C0B8-27CE-4D3E-0CE3-D1257219DD71}"/>
                </a:ext>
              </a:extLst>
            </p:cNvPr>
            <p:cNvSpPr txBox="1"/>
            <p:nvPr/>
          </p:nvSpPr>
          <p:spPr>
            <a:xfrm>
              <a:off x="141035" y="3069807"/>
              <a:ext cx="1587205" cy="359193"/>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Subfamily</a:t>
              </a:r>
            </a:p>
          </p:txBody>
        </p:sp>
        <p:sp>
          <p:nvSpPr>
            <p:cNvPr id="32" name="文本框 3">
              <a:extLst>
                <a:ext uri="{FF2B5EF4-FFF2-40B4-BE49-F238E27FC236}">
                  <a16:creationId xmlns:a16="http://schemas.microsoft.com/office/drawing/2014/main" id="{409CC022-A49C-C7EF-1F55-499A0148208D}"/>
                </a:ext>
              </a:extLst>
            </p:cNvPr>
            <p:cNvSpPr txBox="1"/>
            <p:nvPr/>
          </p:nvSpPr>
          <p:spPr>
            <a:xfrm>
              <a:off x="1116140" y="3694680"/>
              <a:ext cx="1009487" cy="359193"/>
            </a:xfrm>
            <a:prstGeom prst="rect">
              <a:avLst/>
            </a:prstGeom>
          </p:spPr>
          <p:txBody>
            <a:bodyPr>
              <a:noAutofit/>
            </a:bodyPr>
            <a:lstStyle/>
            <a:p>
              <a:pPr>
                <a:spcBef>
                  <a:spcPts val="400"/>
                </a:spcBef>
                <a:spcAft>
                  <a:spcPct val="0"/>
                </a:spcAft>
              </a:pPr>
              <a:r>
                <a:rPr lang="en-US" altLang="zh-CN" sz="1400" b="1" dirty="0">
                  <a:solidFill>
                    <a:srgbClr val="076AFF"/>
                  </a:solidFill>
                  <a:latin typeface="Arial" panose="020B0604020202020204" pitchFamily="34" charset="0"/>
                  <a:cs typeface="Arial" panose="020B0604020202020204" pitchFamily="34" charset="0"/>
                </a:rPr>
                <a:t>PACMAD</a:t>
              </a:r>
            </a:p>
          </p:txBody>
        </p:sp>
        <p:sp>
          <p:nvSpPr>
            <p:cNvPr id="34" name="文本框 3">
              <a:extLst>
                <a:ext uri="{FF2B5EF4-FFF2-40B4-BE49-F238E27FC236}">
                  <a16:creationId xmlns:a16="http://schemas.microsoft.com/office/drawing/2014/main" id="{513FE7A2-8B01-ECC7-7D15-5C21774C7742}"/>
                </a:ext>
              </a:extLst>
            </p:cNvPr>
            <p:cNvSpPr txBox="1"/>
            <p:nvPr/>
          </p:nvSpPr>
          <p:spPr>
            <a:xfrm>
              <a:off x="1777729" y="4973672"/>
              <a:ext cx="621969" cy="359193"/>
            </a:xfrm>
            <a:prstGeom prst="rect">
              <a:avLst/>
            </a:prstGeom>
          </p:spPr>
          <p:txBody>
            <a:bodyPr>
              <a:noAutofit/>
            </a:bodyPr>
            <a:lstStyle/>
            <a:p>
              <a:pPr>
                <a:spcBef>
                  <a:spcPts val="400"/>
                </a:spcBef>
                <a:spcAft>
                  <a:spcPct val="0"/>
                </a:spcAft>
              </a:pPr>
              <a:r>
                <a:rPr lang="en-US" altLang="zh-CN" sz="1400" b="1" dirty="0">
                  <a:solidFill>
                    <a:srgbClr val="04CD39"/>
                  </a:solidFill>
                  <a:latin typeface="Arial" panose="020B0604020202020204" pitchFamily="34" charset="0"/>
                  <a:cs typeface="Arial" panose="020B0604020202020204" pitchFamily="34" charset="0"/>
                </a:rPr>
                <a:t>BOP</a:t>
              </a:r>
            </a:p>
          </p:txBody>
        </p:sp>
        <p:sp>
          <p:nvSpPr>
            <p:cNvPr id="35" name="文本框 3">
              <a:extLst>
                <a:ext uri="{FF2B5EF4-FFF2-40B4-BE49-F238E27FC236}">
                  <a16:creationId xmlns:a16="http://schemas.microsoft.com/office/drawing/2014/main" id="{DA5BF356-D715-1386-579A-388B57D55E49}"/>
                </a:ext>
              </a:extLst>
            </p:cNvPr>
            <p:cNvSpPr txBox="1"/>
            <p:nvPr/>
          </p:nvSpPr>
          <p:spPr>
            <a:xfrm>
              <a:off x="4260861" y="3028838"/>
              <a:ext cx="1070264" cy="359193"/>
            </a:xfrm>
            <a:prstGeom prst="rect">
              <a:avLst/>
            </a:prstGeom>
          </p:spPr>
          <p:txBody>
            <a:bodyPr>
              <a:noAutofit/>
            </a:bodyPr>
            <a:lstStyle/>
            <a:p>
              <a:pPr>
                <a:spcBef>
                  <a:spcPts val="400"/>
                </a:spcBef>
                <a:spcAft>
                  <a:spcPct val="0"/>
                </a:spcAft>
              </a:pPr>
              <a:r>
                <a:rPr lang="en-US" altLang="zh-CN" dirty="0">
                  <a:latin typeface="Arial" panose="020B0604020202020204" pitchFamily="34" charset="0"/>
                  <a:cs typeface="Arial" panose="020B0604020202020204" pitchFamily="34" charset="0"/>
                </a:rPr>
                <a:t>genome</a:t>
              </a:r>
            </a:p>
          </p:txBody>
        </p:sp>
        <p:sp>
          <p:nvSpPr>
            <p:cNvPr id="36" name="文本框 3">
              <a:extLst>
                <a:ext uri="{FF2B5EF4-FFF2-40B4-BE49-F238E27FC236}">
                  <a16:creationId xmlns:a16="http://schemas.microsoft.com/office/drawing/2014/main" id="{4EEBEA3E-4F02-929F-E4A2-50DAA43C6EF9}"/>
                </a:ext>
              </a:extLst>
            </p:cNvPr>
            <p:cNvSpPr txBox="1"/>
            <p:nvPr/>
          </p:nvSpPr>
          <p:spPr>
            <a:xfrm>
              <a:off x="5228472" y="3038291"/>
              <a:ext cx="996557" cy="359193"/>
            </a:xfrm>
            <a:prstGeom prst="rect">
              <a:avLst/>
            </a:prstGeom>
          </p:spPr>
          <p:txBody>
            <a:bodyPr>
              <a:noAutofit/>
            </a:bodyPr>
            <a:lstStyle/>
            <a:p>
              <a:pPr>
                <a:spcBef>
                  <a:spcPts val="400"/>
                </a:spcBef>
                <a:spcAft>
                  <a:spcPct val="0"/>
                </a:spcAft>
              </a:pPr>
              <a:r>
                <a:rPr lang="en-US" altLang="zh-CN" dirty="0">
                  <a:latin typeface="Arial" panose="020B0604020202020204" pitchFamily="34" charset="0"/>
                  <a:cs typeface="Arial" panose="020B0604020202020204" pitchFamily="34" charset="0"/>
                </a:rPr>
                <a:t>species</a:t>
              </a:r>
            </a:p>
          </p:txBody>
        </p:sp>
        <p:sp>
          <p:nvSpPr>
            <p:cNvPr id="37" name="文本框 3">
              <a:extLst>
                <a:ext uri="{FF2B5EF4-FFF2-40B4-BE49-F238E27FC236}">
                  <a16:creationId xmlns:a16="http://schemas.microsoft.com/office/drawing/2014/main" id="{17604D92-2913-F100-37BF-038FB7344DF5}"/>
                </a:ext>
              </a:extLst>
            </p:cNvPr>
            <p:cNvSpPr txBox="1"/>
            <p:nvPr/>
          </p:nvSpPr>
          <p:spPr>
            <a:xfrm>
              <a:off x="4536529" y="3386635"/>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30</a:t>
              </a:r>
            </a:p>
          </p:txBody>
        </p:sp>
        <p:sp>
          <p:nvSpPr>
            <p:cNvPr id="38" name="文本框 3">
              <a:extLst>
                <a:ext uri="{FF2B5EF4-FFF2-40B4-BE49-F238E27FC236}">
                  <a16:creationId xmlns:a16="http://schemas.microsoft.com/office/drawing/2014/main" id="{D1447420-6B2D-3815-D92F-CBC176E1E096}"/>
                </a:ext>
              </a:extLst>
            </p:cNvPr>
            <p:cNvSpPr txBox="1"/>
            <p:nvPr/>
          </p:nvSpPr>
          <p:spPr>
            <a:xfrm>
              <a:off x="4536529" y="3657826"/>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39" name="文本框 3">
              <a:extLst>
                <a:ext uri="{FF2B5EF4-FFF2-40B4-BE49-F238E27FC236}">
                  <a16:creationId xmlns:a16="http://schemas.microsoft.com/office/drawing/2014/main" id="{7493A989-66A7-CAF3-6886-EB235B3339D8}"/>
                </a:ext>
              </a:extLst>
            </p:cNvPr>
            <p:cNvSpPr txBox="1"/>
            <p:nvPr/>
          </p:nvSpPr>
          <p:spPr>
            <a:xfrm>
              <a:off x="4536529" y="3929017"/>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a:t>
              </a:r>
            </a:p>
          </p:txBody>
        </p:sp>
        <p:sp>
          <p:nvSpPr>
            <p:cNvPr id="41" name="文本框 3">
              <a:extLst>
                <a:ext uri="{FF2B5EF4-FFF2-40B4-BE49-F238E27FC236}">
                  <a16:creationId xmlns:a16="http://schemas.microsoft.com/office/drawing/2014/main" id="{B1384BA6-8718-577F-E5C5-22596B4761DF}"/>
                </a:ext>
              </a:extLst>
            </p:cNvPr>
            <p:cNvSpPr txBox="1"/>
            <p:nvPr/>
          </p:nvSpPr>
          <p:spPr>
            <a:xfrm>
              <a:off x="4535345" y="4200208"/>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477</a:t>
              </a:r>
            </a:p>
          </p:txBody>
        </p:sp>
        <p:sp>
          <p:nvSpPr>
            <p:cNvPr id="42" name="文本框 3">
              <a:extLst>
                <a:ext uri="{FF2B5EF4-FFF2-40B4-BE49-F238E27FC236}">
                  <a16:creationId xmlns:a16="http://schemas.microsoft.com/office/drawing/2014/main" id="{E9699E35-8932-AC79-8D61-A127E3432BA8}"/>
                </a:ext>
              </a:extLst>
            </p:cNvPr>
            <p:cNvSpPr txBox="1"/>
            <p:nvPr/>
          </p:nvSpPr>
          <p:spPr>
            <a:xfrm>
              <a:off x="4534161" y="4439735"/>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43" name="文本框 3">
              <a:extLst>
                <a:ext uri="{FF2B5EF4-FFF2-40B4-BE49-F238E27FC236}">
                  <a16:creationId xmlns:a16="http://schemas.microsoft.com/office/drawing/2014/main" id="{AFC8EED5-2A68-34A1-8D67-125B9D365C4F}"/>
                </a:ext>
              </a:extLst>
            </p:cNvPr>
            <p:cNvSpPr txBox="1"/>
            <p:nvPr/>
          </p:nvSpPr>
          <p:spPr>
            <a:xfrm>
              <a:off x="4534160" y="4697476"/>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a:t>
              </a:r>
            </a:p>
          </p:txBody>
        </p:sp>
        <p:sp>
          <p:nvSpPr>
            <p:cNvPr id="44" name="文本框 3">
              <a:extLst>
                <a:ext uri="{FF2B5EF4-FFF2-40B4-BE49-F238E27FC236}">
                  <a16:creationId xmlns:a16="http://schemas.microsoft.com/office/drawing/2014/main" id="{F756EEF1-C898-58E5-2C6C-03DD46FDE405}"/>
                </a:ext>
              </a:extLst>
            </p:cNvPr>
            <p:cNvSpPr txBox="1"/>
            <p:nvPr/>
          </p:nvSpPr>
          <p:spPr>
            <a:xfrm>
              <a:off x="4534159" y="4968667"/>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340</a:t>
              </a:r>
            </a:p>
          </p:txBody>
        </p:sp>
        <p:sp>
          <p:nvSpPr>
            <p:cNvPr id="45" name="文本框 3">
              <a:extLst>
                <a:ext uri="{FF2B5EF4-FFF2-40B4-BE49-F238E27FC236}">
                  <a16:creationId xmlns:a16="http://schemas.microsoft.com/office/drawing/2014/main" id="{5573D709-D434-0835-8575-04605F9EAD50}"/>
                </a:ext>
              </a:extLst>
            </p:cNvPr>
            <p:cNvSpPr txBox="1"/>
            <p:nvPr/>
          </p:nvSpPr>
          <p:spPr>
            <a:xfrm>
              <a:off x="4534158" y="5239858"/>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31</a:t>
              </a:r>
            </a:p>
          </p:txBody>
        </p:sp>
        <p:sp>
          <p:nvSpPr>
            <p:cNvPr id="46" name="文本框 3">
              <a:extLst>
                <a:ext uri="{FF2B5EF4-FFF2-40B4-BE49-F238E27FC236}">
                  <a16:creationId xmlns:a16="http://schemas.microsoft.com/office/drawing/2014/main" id="{5AEB18DD-C8E7-EDA1-D565-1805C4926944}"/>
                </a:ext>
              </a:extLst>
            </p:cNvPr>
            <p:cNvSpPr txBox="1"/>
            <p:nvPr/>
          </p:nvSpPr>
          <p:spPr>
            <a:xfrm>
              <a:off x="4554998" y="5492835"/>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620</a:t>
              </a:r>
            </a:p>
          </p:txBody>
        </p:sp>
        <p:sp>
          <p:nvSpPr>
            <p:cNvPr id="47" name="文本框 3">
              <a:extLst>
                <a:ext uri="{FF2B5EF4-FFF2-40B4-BE49-F238E27FC236}">
                  <a16:creationId xmlns:a16="http://schemas.microsoft.com/office/drawing/2014/main" id="{D1DA24C2-5AA5-8D27-43F4-C3C5555AC121}"/>
                </a:ext>
              </a:extLst>
            </p:cNvPr>
            <p:cNvSpPr txBox="1"/>
            <p:nvPr/>
          </p:nvSpPr>
          <p:spPr>
            <a:xfrm>
              <a:off x="4534157" y="5745812"/>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48" name="文本框 3">
              <a:extLst>
                <a:ext uri="{FF2B5EF4-FFF2-40B4-BE49-F238E27FC236}">
                  <a16:creationId xmlns:a16="http://schemas.microsoft.com/office/drawing/2014/main" id="{4CD5D712-83F6-1CBA-A371-43537F3F4495}"/>
                </a:ext>
              </a:extLst>
            </p:cNvPr>
            <p:cNvSpPr txBox="1"/>
            <p:nvPr/>
          </p:nvSpPr>
          <p:spPr>
            <a:xfrm>
              <a:off x="4534157" y="5985339"/>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49" name="文本框 3">
              <a:extLst>
                <a:ext uri="{FF2B5EF4-FFF2-40B4-BE49-F238E27FC236}">
                  <a16:creationId xmlns:a16="http://schemas.microsoft.com/office/drawing/2014/main" id="{52324907-DB98-0D36-6B2E-9C076E6A0EC9}"/>
                </a:ext>
              </a:extLst>
            </p:cNvPr>
            <p:cNvSpPr txBox="1"/>
            <p:nvPr/>
          </p:nvSpPr>
          <p:spPr>
            <a:xfrm>
              <a:off x="4534157" y="6224866"/>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a:t>
              </a:r>
            </a:p>
          </p:txBody>
        </p:sp>
        <p:sp>
          <p:nvSpPr>
            <p:cNvPr id="50" name="文本框 3">
              <a:extLst>
                <a:ext uri="{FF2B5EF4-FFF2-40B4-BE49-F238E27FC236}">
                  <a16:creationId xmlns:a16="http://schemas.microsoft.com/office/drawing/2014/main" id="{B3531939-8950-1858-6226-A0164E1CDCA4}"/>
                </a:ext>
              </a:extLst>
            </p:cNvPr>
            <p:cNvSpPr txBox="1"/>
            <p:nvPr/>
          </p:nvSpPr>
          <p:spPr>
            <a:xfrm>
              <a:off x="4534157" y="6487651"/>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a:t>
              </a:r>
            </a:p>
          </p:txBody>
        </p:sp>
        <p:sp>
          <p:nvSpPr>
            <p:cNvPr id="51" name="文本框 3">
              <a:extLst>
                <a:ext uri="{FF2B5EF4-FFF2-40B4-BE49-F238E27FC236}">
                  <a16:creationId xmlns:a16="http://schemas.microsoft.com/office/drawing/2014/main" id="{5A7FA082-935F-C59F-8671-766007EE053E}"/>
                </a:ext>
              </a:extLst>
            </p:cNvPr>
            <p:cNvSpPr txBox="1"/>
            <p:nvPr/>
          </p:nvSpPr>
          <p:spPr>
            <a:xfrm>
              <a:off x="5430902" y="3402389"/>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23</a:t>
              </a:r>
            </a:p>
          </p:txBody>
        </p:sp>
        <p:sp>
          <p:nvSpPr>
            <p:cNvPr id="52" name="文本框 3">
              <a:extLst>
                <a:ext uri="{FF2B5EF4-FFF2-40B4-BE49-F238E27FC236}">
                  <a16:creationId xmlns:a16="http://schemas.microsoft.com/office/drawing/2014/main" id="{D6ECE532-1E20-2A0C-B962-80077C969354}"/>
                </a:ext>
              </a:extLst>
            </p:cNvPr>
            <p:cNvSpPr txBox="1"/>
            <p:nvPr/>
          </p:nvSpPr>
          <p:spPr>
            <a:xfrm>
              <a:off x="5430902" y="3673580"/>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53" name="文本框 3">
              <a:extLst>
                <a:ext uri="{FF2B5EF4-FFF2-40B4-BE49-F238E27FC236}">
                  <a16:creationId xmlns:a16="http://schemas.microsoft.com/office/drawing/2014/main" id="{2F97F269-F418-E1EA-8D61-F75E88C0BD04}"/>
                </a:ext>
              </a:extLst>
            </p:cNvPr>
            <p:cNvSpPr txBox="1"/>
            <p:nvPr/>
          </p:nvSpPr>
          <p:spPr>
            <a:xfrm>
              <a:off x="5430902" y="3944771"/>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a:t>
              </a:r>
            </a:p>
          </p:txBody>
        </p:sp>
        <p:sp>
          <p:nvSpPr>
            <p:cNvPr id="54" name="文本框 3">
              <a:extLst>
                <a:ext uri="{FF2B5EF4-FFF2-40B4-BE49-F238E27FC236}">
                  <a16:creationId xmlns:a16="http://schemas.microsoft.com/office/drawing/2014/main" id="{09A74B2F-A459-510B-0186-7EFA78266AB4}"/>
                </a:ext>
              </a:extLst>
            </p:cNvPr>
            <p:cNvSpPr txBox="1"/>
            <p:nvPr/>
          </p:nvSpPr>
          <p:spPr>
            <a:xfrm>
              <a:off x="5429718" y="4215962"/>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66</a:t>
              </a:r>
            </a:p>
          </p:txBody>
        </p:sp>
        <p:sp>
          <p:nvSpPr>
            <p:cNvPr id="55" name="文本框 3">
              <a:extLst>
                <a:ext uri="{FF2B5EF4-FFF2-40B4-BE49-F238E27FC236}">
                  <a16:creationId xmlns:a16="http://schemas.microsoft.com/office/drawing/2014/main" id="{FA8BC2FF-12F9-7887-060D-49385293032D}"/>
                </a:ext>
              </a:extLst>
            </p:cNvPr>
            <p:cNvSpPr txBox="1"/>
            <p:nvPr/>
          </p:nvSpPr>
          <p:spPr>
            <a:xfrm>
              <a:off x="5428534" y="4455489"/>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56" name="文本框 3">
              <a:extLst>
                <a:ext uri="{FF2B5EF4-FFF2-40B4-BE49-F238E27FC236}">
                  <a16:creationId xmlns:a16="http://schemas.microsoft.com/office/drawing/2014/main" id="{BED84639-9A80-B3C5-0E86-CAFA0ACD4EE7}"/>
                </a:ext>
              </a:extLst>
            </p:cNvPr>
            <p:cNvSpPr txBox="1"/>
            <p:nvPr/>
          </p:nvSpPr>
          <p:spPr>
            <a:xfrm>
              <a:off x="5428533" y="4713230"/>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a:t>
              </a:r>
            </a:p>
          </p:txBody>
        </p:sp>
        <p:sp>
          <p:nvSpPr>
            <p:cNvPr id="57" name="文本框 3">
              <a:extLst>
                <a:ext uri="{FF2B5EF4-FFF2-40B4-BE49-F238E27FC236}">
                  <a16:creationId xmlns:a16="http://schemas.microsoft.com/office/drawing/2014/main" id="{473101EF-7D92-38CD-718D-8366D261D07C}"/>
                </a:ext>
              </a:extLst>
            </p:cNvPr>
            <p:cNvSpPr txBox="1"/>
            <p:nvPr/>
          </p:nvSpPr>
          <p:spPr>
            <a:xfrm>
              <a:off x="5428532" y="4984421"/>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100</a:t>
              </a:r>
            </a:p>
          </p:txBody>
        </p:sp>
        <p:sp>
          <p:nvSpPr>
            <p:cNvPr id="58" name="文本框 3">
              <a:extLst>
                <a:ext uri="{FF2B5EF4-FFF2-40B4-BE49-F238E27FC236}">
                  <a16:creationId xmlns:a16="http://schemas.microsoft.com/office/drawing/2014/main" id="{DAEE1388-98A7-80ED-9D30-B9F9BC8B7556}"/>
                </a:ext>
              </a:extLst>
            </p:cNvPr>
            <p:cNvSpPr txBox="1"/>
            <p:nvPr/>
          </p:nvSpPr>
          <p:spPr>
            <a:xfrm>
              <a:off x="5428531" y="5255612"/>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20</a:t>
              </a:r>
            </a:p>
          </p:txBody>
        </p:sp>
        <p:sp>
          <p:nvSpPr>
            <p:cNvPr id="59" name="文本框 3">
              <a:extLst>
                <a:ext uri="{FF2B5EF4-FFF2-40B4-BE49-F238E27FC236}">
                  <a16:creationId xmlns:a16="http://schemas.microsoft.com/office/drawing/2014/main" id="{6EE2CAFC-87D5-E3E0-FE39-34A097642AE9}"/>
                </a:ext>
              </a:extLst>
            </p:cNvPr>
            <p:cNvSpPr txBox="1"/>
            <p:nvPr/>
          </p:nvSpPr>
          <p:spPr>
            <a:xfrm>
              <a:off x="5449371" y="5508589"/>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34</a:t>
              </a:r>
            </a:p>
          </p:txBody>
        </p:sp>
        <p:sp>
          <p:nvSpPr>
            <p:cNvPr id="60" name="文本框 3">
              <a:extLst>
                <a:ext uri="{FF2B5EF4-FFF2-40B4-BE49-F238E27FC236}">
                  <a16:creationId xmlns:a16="http://schemas.microsoft.com/office/drawing/2014/main" id="{ADDC5578-3A12-2F18-86C8-5EF6AACFBF38}"/>
                </a:ext>
              </a:extLst>
            </p:cNvPr>
            <p:cNvSpPr txBox="1"/>
            <p:nvPr/>
          </p:nvSpPr>
          <p:spPr>
            <a:xfrm>
              <a:off x="5428530" y="5761566"/>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61" name="文本框 3">
              <a:extLst>
                <a:ext uri="{FF2B5EF4-FFF2-40B4-BE49-F238E27FC236}">
                  <a16:creationId xmlns:a16="http://schemas.microsoft.com/office/drawing/2014/main" id="{67655397-8F76-3D8B-1B36-D2111318D1A6}"/>
                </a:ext>
              </a:extLst>
            </p:cNvPr>
            <p:cNvSpPr txBox="1"/>
            <p:nvPr/>
          </p:nvSpPr>
          <p:spPr>
            <a:xfrm>
              <a:off x="5428530" y="6001093"/>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62" name="文本框 3">
              <a:extLst>
                <a:ext uri="{FF2B5EF4-FFF2-40B4-BE49-F238E27FC236}">
                  <a16:creationId xmlns:a16="http://schemas.microsoft.com/office/drawing/2014/main" id="{434B6E14-E8C6-D314-46E7-7FCF815B2682}"/>
                </a:ext>
              </a:extLst>
            </p:cNvPr>
            <p:cNvSpPr txBox="1"/>
            <p:nvPr/>
          </p:nvSpPr>
          <p:spPr>
            <a:xfrm>
              <a:off x="5428530" y="6240620"/>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a:t>
              </a:r>
            </a:p>
          </p:txBody>
        </p:sp>
        <p:sp>
          <p:nvSpPr>
            <p:cNvPr id="63" name="文本框 3">
              <a:extLst>
                <a:ext uri="{FF2B5EF4-FFF2-40B4-BE49-F238E27FC236}">
                  <a16:creationId xmlns:a16="http://schemas.microsoft.com/office/drawing/2014/main" id="{D096C317-B144-BE59-D695-9B0C052CD4D4}"/>
                </a:ext>
              </a:extLst>
            </p:cNvPr>
            <p:cNvSpPr txBox="1"/>
            <p:nvPr/>
          </p:nvSpPr>
          <p:spPr>
            <a:xfrm>
              <a:off x="5428530" y="6503405"/>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a:t>
              </a:r>
            </a:p>
          </p:txBody>
        </p:sp>
        <p:sp>
          <p:nvSpPr>
            <p:cNvPr id="118" name="文本框 3">
              <a:extLst>
                <a:ext uri="{FF2B5EF4-FFF2-40B4-BE49-F238E27FC236}">
                  <a16:creationId xmlns:a16="http://schemas.microsoft.com/office/drawing/2014/main" id="{864A0B0B-551F-44D0-0A66-ED4109193FD8}"/>
                </a:ext>
              </a:extLst>
            </p:cNvPr>
            <p:cNvSpPr txBox="1"/>
            <p:nvPr/>
          </p:nvSpPr>
          <p:spPr>
            <a:xfrm>
              <a:off x="6426349" y="3034731"/>
              <a:ext cx="1070264" cy="359193"/>
            </a:xfrm>
            <a:prstGeom prst="rect">
              <a:avLst/>
            </a:prstGeom>
          </p:spPr>
          <p:txBody>
            <a:bodyPr>
              <a:noAutofit/>
            </a:bodyPr>
            <a:lstStyle/>
            <a:p>
              <a:pPr>
                <a:spcBef>
                  <a:spcPts val="400"/>
                </a:spcBef>
                <a:spcAft>
                  <a:spcPct val="0"/>
                </a:spcAft>
              </a:pPr>
              <a:r>
                <a:rPr lang="en-US" altLang="zh-CN" dirty="0">
                  <a:latin typeface="Arial" panose="020B0604020202020204" pitchFamily="34" charset="0"/>
                  <a:cs typeface="Arial" panose="020B0604020202020204" pitchFamily="34" charset="0"/>
                </a:rPr>
                <a:t>genome</a:t>
              </a:r>
            </a:p>
          </p:txBody>
        </p:sp>
        <p:sp>
          <p:nvSpPr>
            <p:cNvPr id="119" name="文本框 3">
              <a:extLst>
                <a:ext uri="{FF2B5EF4-FFF2-40B4-BE49-F238E27FC236}">
                  <a16:creationId xmlns:a16="http://schemas.microsoft.com/office/drawing/2014/main" id="{2FB78986-1DBD-55A5-1C09-FABACDF0B609}"/>
                </a:ext>
              </a:extLst>
            </p:cNvPr>
            <p:cNvSpPr txBox="1"/>
            <p:nvPr/>
          </p:nvSpPr>
          <p:spPr>
            <a:xfrm>
              <a:off x="7393960" y="3044184"/>
              <a:ext cx="996557" cy="359193"/>
            </a:xfrm>
            <a:prstGeom prst="rect">
              <a:avLst/>
            </a:prstGeom>
          </p:spPr>
          <p:txBody>
            <a:bodyPr>
              <a:noAutofit/>
            </a:bodyPr>
            <a:lstStyle/>
            <a:p>
              <a:pPr>
                <a:spcBef>
                  <a:spcPts val="400"/>
                </a:spcBef>
                <a:spcAft>
                  <a:spcPct val="0"/>
                </a:spcAft>
              </a:pPr>
              <a:r>
                <a:rPr lang="en-US" altLang="zh-CN" dirty="0">
                  <a:latin typeface="Arial" panose="020B0604020202020204" pitchFamily="34" charset="0"/>
                  <a:cs typeface="Arial" panose="020B0604020202020204" pitchFamily="34" charset="0"/>
                </a:rPr>
                <a:t>species</a:t>
              </a:r>
            </a:p>
          </p:txBody>
        </p:sp>
        <p:sp>
          <p:nvSpPr>
            <p:cNvPr id="120" name="文本框 3">
              <a:extLst>
                <a:ext uri="{FF2B5EF4-FFF2-40B4-BE49-F238E27FC236}">
                  <a16:creationId xmlns:a16="http://schemas.microsoft.com/office/drawing/2014/main" id="{8EAA235C-4BD7-6F1B-CC87-A7B4D061DF48}"/>
                </a:ext>
              </a:extLst>
            </p:cNvPr>
            <p:cNvSpPr txBox="1"/>
            <p:nvPr/>
          </p:nvSpPr>
          <p:spPr>
            <a:xfrm>
              <a:off x="6702017" y="3392528"/>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23</a:t>
              </a:r>
            </a:p>
          </p:txBody>
        </p:sp>
        <p:sp>
          <p:nvSpPr>
            <p:cNvPr id="121" name="文本框 3">
              <a:extLst>
                <a:ext uri="{FF2B5EF4-FFF2-40B4-BE49-F238E27FC236}">
                  <a16:creationId xmlns:a16="http://schemas.microsoft.com/office/drawing/2014/main" id="{29CB055C-9D24-8D81-DA5E-BC46F0C46B05}"/>
                </a:ext>
              </a:extLst>
            </p:cNvPr>
            <p:cNvSpPr txBox="1"/>
            <p:nvPr/>
          </p:nvSpPr>
          <p:spPr>
            <a:xfrm>
              <a:off x="6702017" y="3663719"/>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122" name="文本框 3">
              <a:extLst>
                <a:ext uri="{FF2B5EF4-FFF2-40B4-BE49-F238E27FC236}">
                  <a16:creationId xmlns:a16="http://schemas.microsoft.com/office/drawing/2014/main" id="{3E41A8D5-D64A-ABEB-D092-F8FFC03A6371}"/>
                </a:ext>
              </a:extLst>
            </p:cNvPr>
            <p:cNvSpPr txBox="1"/>
            <p:nvPr/>
          </p:nvSpPr>
          <p:spPr>
            <a:xfrm>
              <a:off x="6702017" y="3934910"/>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a:t>
              </a:r>
            </a:p>
          </p:txBody>
        </p:sp>
        <p:sp>
          <p:nvSpPr>
            <p:cNvPr id="123" name="文本框 3">
              <a:extLst>
                <a:ext uri="{FF2B5EF4-FFF2-40B4-BE49-F238E27FC236}">
                  <a16:creationId xmlns:a16="http://schemas.microsoft.com/office/drawing/2014/main" id="{DC8EAC2D-63DF-AB04-4A17-C15C2CB0D9FD}"/>
                </a:ext>
              </a:extLst>
            </p:cNvPr>
            <p:cNvSpPr txBox="1"/>
            <p:nvPr/>
          </p:nvSpPr>
          <p:spPr>
            <a:xfrm>
              <a:off x="6700833" y="4206101"/>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66</a:t>
              </a:r>
            </a:p>
          </p:txBody>
        </p:sp>
        <p:sp>
          <p:nvSpPr>
            <p:cNvPr id="124" name="文本框 3">
              <a:extLst>
                <a:ext uri="{FF2B5EF4-FFF2-40B4-BE49-F238E27FC236}">
                  <a16:creationId xmlns:a16="http://schemas.microsoft.com/office/drawing/2014/main" id="{73823EB2-39CF-83AE-9A06-7185F6FEFEF0}"/>
                </a:ext>
              </a:extLst>
            </p:cNvPr>
            <p:cNvSpPr txBox="1"/>
            <p:nvPr/>
          </p:nvSpPr>
          <p:spPr>
            <a:xfrm>
              <a:off x="6699649" y="4445628"/>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125" name="文本框 3">
              <a:extLst>
                <a:ext uri="{FF2B5EF4-FFF2-40B4-BE49-F238E27FC236}">
                  <a16:creationId xmlns:a16="http://schemas.microsoft.com/office/drawing/2014/main" id="{8BCACE31-C836-1F23-1114-B9FAF469FEF6}"/>
                </a:ext>
              </a:extLst>
            </p:cNvPr>
            <p:cNvSpPr txBox="1"/>
            <p:nvPr/>
          </p:nvSpPr>
          <p:spPr>
            <a:xfrm>
              <a:off x="6699648" y="4703369"/>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a:t>
              </a:r>
            </a:p>
          </p:txBody>
        </p:sp>
        <p:sp>
          <p:nvSpPr>
            <p:cNvPr id="126" name="文本框 3">
              <a:extLst>
                <a:ext uri="{FF2B5EF4-FFF2-40B4-BE49-F238E27FC236}">
                  <a16:creationId xmlns:a16="http://schemas.microsoft.com/office/drawing/2014/main" id="{F9607AB8-AB21-EC14-5EC2-5F6AA9A65058}"/>
                </a:ext>
              </a:extLst>
            </p:cNvPr>
            <p:cNvSpPr txBox="1"/>
            <p:nvPr/>
          </p:nvSpPr>
          <p:spPr>
            <a:xfrm>
              <a:off x="6699647" y="4974560"/>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100</a:t>
              </a:r>
            </a:p>
          </p:txBody>
        </p:sp>
        <p:sp>
          <p:nvSpPr>
            <p:cNvPr id="127" name="文本框 3">
              <a:extLst>
                <a:ext uri="{FF2B5EF4-FFF2-40B4-BE49-F238E27FC236}">
                  <a16:creationId xmlns:a16="http://schemas.microsoft.com/office/drawing/2014/main" id="{26762B1B-F194-3504-41E3-C24D006FFA96}"/>
                </a:ext>
              </a:extLst>
            </p:cNvPr>
            <p:cNvSpPr txBox="1"/>
            <p:nvPr/>
          </p:nvSpPr>
          <p:spPr>
            <a:xfrm>
              <a:off x="6699646" y="5245751"/>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20</a:t>
              </a:r>
            </a:p>
          </p:txBody>
        </p:sp>
        <p:sp>
          <p:nvSpPr>
            <p:cNvPr id="128" name="文本框 3">
              <a:extLst>
                <a:ext uri="{FF2B5EF4-FFF2-40B4-BE49-F238E27FC236}">
                  <a16:creationId xmlns:a16="http://schemas.microsoft.com/office/drawing/2014/main" id="{193776BE-D859-E41E-C9D0-60D746771AE8}"/>
                </a:ext>
              </a:extLst>
            </p:cNvPr>
            <p:cNvSpPr txBox="1"/>
            <p:nvPr/>
          </p:nvSpPr>
          <p:spPr>
            <a:xfrm>
              <a:off x="6720486" y="5498728"/>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34</a:t>
              </a:r>
            </a:p>
          </p:txBody>
        </p:sp>
        <p:sp>
          <p:nvSpPr>
            <p:cNvPr id="129" name="文本框 3">
              <a:extLst>
                <a:ext uri="{FF2B5EF4-FFF2-40B4-BE49-F238E27FC236}">
                  <a16:creationId xmlns:a16="http://schemas.microsoft.com/office/drawing/2014/main" id="{8C448D34-8E84-7065-1FCF-243A843ACB0D}"/>
                </a:ext>
              </a:extLst>
            </p:cNvPr>
            <p:cNvSpPr txBox="1"/>
            <p:nvPr/>
          </p:nvSpPr>
          <p:spPr>
            <a:xfrm>
              <a:off x="6699645" y="5751705"/>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130" name="文本框 3">
              <a:extLst>
                <a:ext uri="{FF2B5EF4-FFF2-40B4-BE49-F238E27FC236}">
                  <a16:creationId xmlns:a16="http://schemas.microsoft.com/office/drawing/2014/main" id="{08D0BCAE-15A0-4102-14D3-133449FFB3E3}"/>
                </a:ext>
              </a:extLst>
            </p:cNvPr>
            <p:cNvSpPr txBox="1"/>
            <p:nvPr/>
          </p:nvSpPr>
          <p:spPr>
            <a:xfrm>
              <a:off x="6699645" y="5991232"/>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131" name="文本框 3">
              <a:extLst>
                <a:ext uri="{FF2B5EF4-FFF2-40B4-BE49-F238E27FC236}">
                  <a16:creationId xmlns:a16="http://schemas.microsoft.com/office/drawing/2014/main" id="{0FB0A1C1-095A-8532-F552-7B5868C2A8A0}"/>
                </a:ext>
              </a:extLst>
            </p:cNvPr>
            <p:cNvSpPr txBox="1"/>
            <p:nvPr/>
          </p:nvSpPr>
          <p:spPr>
            <a:xfrm>
              <a:off x="6699645" y="6230759"/>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a:t>
              </a:r>
            </a:p>
          </p:txBody>
        </p:sp>
        <p:sp>
          <p:nvSpPr>
            <p:cNvPr id="132" name="文本框 3">
              <a:extLst>
                <a:ext uri="{FF2B5EF4-FFF2-40B4-BE49-F238E27FC236}">
                  <a16:creationId xmlns:a16="http://schemas.microsoft.com/office/drawing/2014/main" id="{30BCCB41-D84E-815F-A186-E2B069AC2335}"/>
                </a:ext>
              </a:extLst>
            </p:cNvPr>
            <p:cNvSpPr txBox="1"/>
            <p:nvPr/>
          </p:nvSpPr>
          <p:spPr>
            <a:xfrm>
              <a:off x="6699645" y="6493544"/>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a:t>
              </a:r>
            </a:p>
          </p:txBody>
        </p:sp>
        <p:sp>
          <p:nvSpPr>
            <p:cNvPr id="133" name="文本框 3">
              <a:extLst>
                <a:ext uri="{FF2B5EF4-FFF2-40B4-BE49-F238E27FC236}">
                  <a16:creationId xmlns:a16="http://schemas.microsoft.com/office/drawing/2014/main" id="{550D9765-E162-2FAD-5BC1-70C376029D08}"/>
                </a:ext>
              </a:extLst>
            </p:cNvPr>
            <p:cNvSpPr txBox="1"/>
            <p:nvPr/>
          </p:nvSpPr>
          <p:spPr>
            <a:xfrm>
              <a:off x="7596390" y="3408282"/>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23</a:t>
              </a:r>
            </a:p>
          </p:txBody>
        </p:sp>
        <p:sp>
          <p:nvSpPr>
            <p:cNvPr id="134" name="文本框 3">
              <a:extLst>
                <a:ext uri="{FF2B5EF4-FFF2-40B4-BE49-F238E27FC236}">
                  <a16:creationId xmlns:a16="http://schemas.microsoft.com/office/drawing/2014/main" id="{ABA650BC-F0C9-4FE2-E1ED-D4338022999F}"/>
                </a:ext>
              </a:extLst>
            </p:cNvPr>
            <p:cNvSpPr txBox="1"/>
            <p:nvPr/>
          </p:nvSpPr>
          <p:spPr>
            <a:xfrm>
              <a:off x="7596390" y="3679473"/>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135" name="文本框 3">
              <a:extLst>
                <a:ext uri="{FF2B5EF4-FFF2-40B4-BE49-F238E27FC236}">
                  <a16:creationId xmlns:a16="http://schemas.microsoft.com/office/drawing/2014/main" id="{7A53B075-5341-3BC7-1509-799945AF4C52}"/>
                </a:ext>
              </a:extLst>
            </p:cNvPr>
            <p:cNvSpPr txBox="1"/>
            <p:nvPr/>
          </p:nvSpPr>
          <p:spPr>
            <a:xfrm>
              <a:off x="7596390" y="3950664"/>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a:t>
              </a:r>
            </a:p>
          </p:txBody>
        </p:sp>
        <p:sp>
          <p:nvSpPr>
            <p:cNvPr id="136" name="文本框 3">
              <a:extLst>
                <a:ext uri="{FF2B5EF4-FFF2-40B4-BE49-F238E27FC236}">
                  <a16:creationId xmlns:a16="http://schemas.microsoft.com/office/drawing/2014/main" id="{244F92EC-4934-2D60-D768-0A4D4CEB6E24}"/>
                </a:ext>
              </a:extLst>
            </p:cNvPr>
            <p:cNvSpPr txBox="1"/>
            <p:nvPr/>
          </p:nvSpPr>
          <p:spPr>
            <a:xfrm>
              <a:off x="7595206" y="4221855"/>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66</a:t>
              </a:r>
            </a:p>
          </p:txBody>
        </p:sp>
        <p:sp>
          <p:nvSpPr>
            <p:cNvPr id="137" name="文本框 3">
              <a:extLst>
                <a:ext uri="{FF2B5EF4-FFF2-40B4-BE49-F238E27FC236}">
                  <a16:creationId xmlns:a16="http://schemas.microsoft.com/office/drawing/2014/main" id="{93A63BDF-8F71-EC91-6FBC-F72ACA1E259B}"/>
                </a:ext>
              </a:extLst>
            </p:cNvPr>
            <p:cNvSpPr txBox="1"/>
            <p:nvPr/>
          </p:nvSpPr>
          <p:spPr>
            <a:xfrm>
              <a:off x="7594022" y="4461382"/>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138" name="文本框 3">
              <a:extLst>
                <a:ext uri="{FF2B5EF4-FFF2-40B4-BE49-F238E27FC236}">
                  <a16:creationId xmlns:a16="http://schemas.microsoft.com/office/drawing/2014/main" id="{3E64A97C-9365-536C-2C93-DD50F8B58465}"/>
                </a:ext>
              </a:extLst>
            </p:cNvPr>
            <p:cNvSpPr txBox="1"/>
            <p:nvPr/>
          </p:nvSpPr>
          <p:spPr>
            <a:xfrm>
              <a:off x="7594021" y="4719123"/>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a:t>
              </a:r>
            </a:p>
          </p:txBody>
        </p:sp>
        <p:sp>
          <p:nvSpPr>
            <p:cNvPr id="139" name="文本框 3">
              <a:extLst>
                <a:ext uri="{FF2B5EF4-FFF2-40B4-BE49-F238E27FC236}">
                  <a16:creationId xmlns:a16="http://schemas.microsoft.com/office/drawing/2014/main" id="{D7C35635-58E8-939B-D2E1-DB11C1B84AD3}"/>
                </a:ext>
              </a:extLst>
            </p:cNvPr>
            <p:cNvSpPr txBox="1"/>
            <p:nvPr/>
          </p:nvSpPr>
          <p:spPr>
            <a:xfrm>
              <a:off x="7594020" y="4990314"/>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100</a:t>
              </a:r>
            </a:p>
          </p:txBody>
        </p:sp>
        <p:sp>
          <p:nvSpPr>
            <p:cNvPr id="140" name="文本框 3">
              <a:extLst>
                <a:ext uri="{FF2B5EF4-FFF2-40B4-BE49-F238E27FC236}">
                  <a16:creationId xmlns:a16="http://schemas.microsoft.com/office/drawing/2014/main" id="{669D6563-1B59-19CB-729B-CABD67D5F397}"/>
                </a:ext>
              </a:extLst>
            </p:cNvPr>
            <p:cNvSpPr txBox="1"/>
            <p:nvPr/>
          </p:nvSpPr>
          <p:spPr>
            <a:xfrm>
              <a:off x="7594019" y="5261505"/>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20</a:t>
              </a:r>
            </a:p>
          </p:txBody>
        </p:sp>
        <p:sp>
          <p:nvSpPr>
            <p:cNvPr id="141" name="文本框 3">
              <a:extLst>
                <a:ext uri="{FF2B5EF4-FFF2-40B4-BE49-F238E27FC236}">
                  <a16:creationId xmlns:a16="http://schemas.microsoft.com/office/drawing/2014/main" id="{6A3E3735-438A-2BA1-4210-136A6A8B6437}"/>
                </a:ext>
              </a:extLst>
            </p:cNvPr>
            <p:cNvSpPr txBox="1"/>
            <p:nvPr/>
          </p:nvSpPr>
          <p:spPr>
            <a:xfrm>
              <a:off x="7614859" y="5514482"/>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34</a:t>
              </a:r>
            </a:p>
          </p:txBody>
        </p:sp>
        <p:sp>
          <p:nvSpPr>
            <p:cNvPr id="142" name="文本框 3">
              <a:extLst>
                <a:ext uri="{FF2B5EF4-FFF2-40B4-BE49-F238E27FC236}">
                  <a16:creationId xmlns:a16="http://schemas.microsoft.com/office/drawing/2014/main" id="{09FE3641-F2E4-5186-459D-F56B39649E87}"/>
                </a:ext>
              </a:extLst>
            </p:cNvPr>
            <p:cNvSpPr txBox="1"/>
            <p:nvPr/>
          </p:nvSpPr>
          <p:spPr>
            <a:xfrm>
              <a:off x="7594018" y="5767459"/>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143" name="文本框 3">
              <a:extLst>
                <a:ext uri="{FF2B5EF4-FFF2-40B4-BE49-F238E27FC236}">
                  <a16:creationId xmlns:a16="http://schemas.microsoft.com/office/drawing/2014/main" id="{DFBEA054-BA33-6FDC-10E4-E99A003F1CB1}"/>
                </a:ext>
              </a:extLst>
            </p:cNvPr>
            <p:cNvSpPr txBox="1"/>
            <p:nvPr/>
          </p:nvSpPr>
          <p:spPr>
            <a:xfrm>
              <a:off x="7594018" y="6006986"/>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0</a:t>
              </a:r>
            </a:p>
          </p:txBody>
        </p:sp>
        <p:sp>
          <p:nvSpPr>
            <p:cNvPr id="144" name="文本框 3">
              <a:extLst>
                <a:ext uri="{FF2B5EF4-FFF2-40B4-BE49-F238E27FC236}">
                  <a16:creationId xmlns:a16="http://schemas.microsoft.com/office/drawing/2014/main" id="{9E80D167-47B5-2548-B4B8-F3EB817A984A}"/>
                </a:ext>
              </a:extLst>
            </p:cNvPr>
            <p:cNvSpPr txBox="1"/>
            <p:nvPr/>
          </p:nvSpPr>
          <p:spPr>
            <a:xfrm>
              <a:off x="7594018" y="6246513"/>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a:t>
              </a:r>
            </a:p>
          </p:txBody>
        </p:sp>
        <p:sp>
          <p:nvSpPr>
            <p:cNvPr id="145" name="文本框 3">
              <a:extLst>
                <a:ext uri="{FF2B5EF4-FFF2-40B4-BE49-F238E27FC236}">
                  <a16:creationId xmlns:a16="http://schemas.microsoft.com/office/drawing/2014/main" id="{9A39FC06-C997-5379-2103-2F30C2AA7823}"/>
                </a:ext>
              </a:extLst>
            </p:cNvPr>
            <p:cNvSpPr txBox="1"/>
            <p:nvPr/>
          </p:nvSpPr>
          <p:spPr>
            <a:xfrm>
              <a:off x="7594018" y="6509298"/>
              <a:ext cx="481989" cy="359193"/>
            </a:xfrm>
            <a:prstGeom prst="rect">
              <a:avLst/>
            </a:prstGeom>
          </p:spPr>
          <p:txBody>
            <a:bodyPr>
              <a:noAutofit/>
            </a:bodyPr>
            <a:lstStyle/>
            <a:p>
              <a:pPr algn="ctr">
                <a:spcBef>
                  <a:spcPts val="400"/>
                </a:spcBef>
                <a:spcAft>
                  <a:spcPct val="0"/>
                </a:spcAft>
              </a:pPr>
              <a:r>
                <a:rPr lang="en-US" altLang="zh-CN" sz="1400" dirty="0">
                  <a:latin typeface="Arial" panose="020B0604020202020204" pitchFamily="34" charset="0"/>
                  <a:cs typeface="Arial" panose="020B0604020202020204" pitchFamily="34" charset="0"/>
                </a:rPr>
                <a:t>1</a:t>
              </a:r>
            </a:p>
          </p:txBody>
        </p:sp>
      </p:grpSp>
    </p:spTree>
    <p:extLst>
      <p:ext uri="{BB962C8B-B14F-4D97-AF65-F5344CB8AC3E}">
        <p14:creationId xmlns:p14="http://schemas.microsoft.com/office/powerpoint/2010/main" val="3241335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77EA2-035C-4C3E-24A2-A4E5963CB162}"/>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1814F5EA-5479-6A1C-2A05-20AD011149AC}"/>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TE Annotation (lightweight)</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472A7D87-C826-F5C9-987A-ECFFEB86BEF2}"/>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2" name="文本框 3">
            <a:extLst>
              <a:ext uri="{FF2B5EF4-FFF2-40B4-BE49-F238E27FC236}">
                <a16:creationId xmlns:a16="http://schemas.microsoft.com/office/drawing/2014/main" id="{66C2797B-B53B-A958-B6CA-EF36F0FD8430}"/>
              </a:ext>
            </a:extLst>
          </p:cNvPr>
          <p:cNvSpPr txBox="1"/>
          <p:nvPr/>
        </p:nvSpPr>
        <p:spPr>
          <a:xfrm>
            <a:off x="474733" y="971138"/>
            <a:ext cx="2792253" cy="36568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Pipeline 1  </a:t>
            </a:r>
          </a:p>
        </p:txBody>
      </p:sp>
      <p:sp>
        <p:nvSpPr>
          <p:cNvPr id="9" name="Rectangle 8">
            <a:extLst>
              <a:ext uri="{FF2B5EF4-FFF2-40B4-BE49-F238E27FC236}">
                <a16:creationId xmlns:a16="http://schemas.microsoft.com/office/drawing/2014/main" id="{AB8CC32C-0E15-6456-EC46-9F2CA9D1F702}"/>
              </a:ext>
            </a:extLst>
          </p:cNvPr>
          <p:cNvSpPr/>
          <p:nvPr/>
        </p:nvSpPr>
        <p:spPr>
          <a:xfrm>
            <a:off x="619956" y="1426377"/>
            <a:ext cx="1250902" cy="365682"/>
          </a:xfrm>
          <a:prstGeom prst="rect">
            <a:avLst/>
          </a:prstGeom>
          <a:solidFill>
            <a:srgbClr val="FFC44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latin typeface="Arial" panose="020B0604020202020204" pitchFamily="34" charset="0"/>
                <a:cs typeface="Arial" panose="020B0604020202020204" pitchFamily="34" charset="0"/>
              </a:rPr>
              <a:t>Genome</a:t>
            </a:r>
          </a:p>
        </p:txBody>
      </p:sp>
      <p:sp>
        <p:nvSpPr>
          <p:cNvPr id="18" name="Rectangle 17">
            <a:extLst>
              <a:ext uri="{FF2B5EF4-FFF2-40B4-BE49-F238E27FC236}">
                <a16:creationId xmlns:a16="http://schemas.microsoft.com/office/drawing/2014/main" id="{5BB55C02-296A-54BD-A4D8-B73186C3720C}"/>
              </a:ext>
            </a:extLst>
          </p:cNvPr>
          <p:cNvSpPr/>
          <p:nvPr/>
        </p:nvSpPr>
        <p:spPr>
          <a:xfrm>
            <a:off x="2579943" y="1429973"/>
            <a:ext cx="2042096" cy="365682"/>
          </a:xfrm>
          <a:prstGeom prst="rect">
            <a:avLst/>
          </a:prstGeom>
          <a:solidFill>
            <a:srgbClr val="FFC44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latin typeface="Arial" panose="020B0604020202020204" pitchFamily="34" charset="0"/>
                <a:cs typeface="Arial" panose="020B0604020202020204" pitchFamily="34" charset="0"/>
              </a:rPr>
              <a:t>1</a:t>
            </a:r>
            <a:r>
              <a:rPr lang="en-CN" baseline="30000" dirty="0">
                <a:solidFill>
                  <a:schemeClr val="tx1"/>
                </a:solidFill>
                <a:latin typeface="Arial" panose="020B0604020202020204" pitchFamily="34" charset="0"/>
                <a:cs typeface="Arial" panose="020B0604020202020204" pitchFamily="34" charset="0"/>
              </a:rPr>
              <a:t>st</a:t>
            </a:r>
            <a:r>
              <a:rPr lang="en-CN" dirty="0">
                <a:solidFill>
                  <a:schemeClr val="tx1"/>
                </a:solidFill>
                <a:latin typeface="Arial" panose="020B0604020202020204" pitchFamily="34" charset="0"/>
                <a:cs typeface="Arial" panose="020B0604020202020204" pitchFamily="34" charset="0"/>
              </a:rPr>
              <a:t> RepeatMasker</a:t>
            </a:r>
          </a:p>
        </p:txBody>
      </p:sp>
      <p:sp>
        <p:nvSpPr>
          <p:cNvPr id="19" name="Rectangle 18">
            <a:extLst>
              <a:ext uri="{FF2B5EF4-FFF2-40B4-BE49-F238E27FC236}">
                <a16:creationId xmlns:a16="http://schemas.microsoft.com/office/drawing/2014/main" id="{84E1638A-CA1C-D3CB-086A-13A5E836D69D}"/>
              </a:ext>
            </a:extLst>
          </p:cNvPr>
          <p:cNvSpPr/>
          <p:nvPr/>
        </p:nvSpPr>
        <p:spPr>
          <a:xfrm>
            <a:off x="5331125" y="1426377"/>
            <a:ext cx="2042096" cy="365682"/>
          </a:xfrm>
          <a:prstGeom prst="rect">
            <a:avLst/>
          </a:prstGeom>
          <a:solidFill>
            <a:srgbClr val="FFC44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latin typeface="Arial" panose="020B0604020202020204" pitchFamily="34" charset="0"/>
                <a:cs typeface="Arial" panose="020B0604020202020204" pitchFamily="34" charset="0"/>
              </a:rPr>
              <a:t>2</a:t>
            </a:r>
            <a:r>
              <a:rPr lang="en-CN" baseline="30000" dirty="0">
                <a:solidFill>
                  <a:schemeClr val="tx1"/>
                </a:solidFill>
                <a:latin typeface="Arial" panose="020B0604020202020204" pitchFamily="34" charset="0"/>
                <a:cs typeface="Arial" panose="020B0604020202020204" pitchFamily="34" charset="0"/>
              </a:rPr>
              <a:t>nd</a:t>
            </a:r>
            <a:r>
              <a:rPr lang="en-CN" dirty="0">
                <a:solidFill>
                  <a:schemeClr val="tx1"/>
                </a:solidFill>
                <a:latin typeface="Arial" panose="020B0604020202020204" pitchFamily="34" charset="0"/>
                <a:cs typeface="Arial" panose="020B0604020202020204" pitchFamily="34" charset="0"/>
              </a:rPr>
              <a:t> RepeatMasker</a:t>
            </a:r>
          </a:p>
        </p:txBody>
      </p:sp>
      <p:sp>
        <p:nvSpPr>
          <p:cNvPr id="20" name="Rectangle 19">
            <a:extLst>
              <a:ext uri="{FF2B5EF4-FFF2-40B4-BE49-F238E27FC236}">
                <a16:creationId xmlns:a16="http://schemas.microsoft.com/office/drawing/2014/main" id="{1AB079BD-138E-2A44-8CD3-BC2F73567AF4}"/>
              </a:ext>
            </a:extLst>
          </p:cNvPr>
          <p:cNvSpPr/>
          <p:nvPr/>
        </p:nvSpPr>
        <p:spPr>
          <a:xfrm>
            <a:off x="2579943" y="2254559"/>
            <a:ext cx="2042096" cy="365682"/>
          </a:xfrm>
          <a:prstGeom prst="rect">
            <a:avLst/>
          </a:prstGeom>
          <a:solidFill>
            <a:srgbClr val="0E606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bg1"/>
                </a:solidFill>
                <a:latin typeface="Arial" panose="020B0604020202020204" pitchFamily="34" charset="0"/>
                <a:cs typeface="Arial" panose="020B0604020202020204" pitchFamily="34" charset="0"/>
              </a:rPr>
              <a:t>Dfam + RepBase</a:t>
            </a:r>
          </a:p>
        </p:txBody>
      </p:sp>
      <p:sp>
        <p:nvSpPr>
          <p:cNvPr id="21" name="Rectangle 20">
            <a:extLst>
              <a:ext uri="{FF2B5EF4-FFF2-40B4-BE49-F238E27FC236}">
                <a16:creationId xmlns:a16="http://schemas.microsoft.com/office/drawing/2014/main" id="{DD36C5CD-F693-801A-06DB-D73ACC15A7A3}"/>
              </a:ext>
            </a:extLst>
          </p:cNvPr>
          <p:cNvSpPr/>
          <p:nvPr/>
        </p:nvSpPr>
        <p:spPr>
          <a:xfrm>
            <a:off x="5331125" y="2254559"/>
            <a:ext cx="2042096" cy="365682"/>
          </a:xfrm>
          <a:prstGeom prst="rect">
            <a:avLst/>
          </a:prstGeom>
          <a:solidFill>
            <a:srgbClr val="0E606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bg1"/>
                </a:solidFill>
                <a:latin typeface="Arial" panose="020B0604020202020204" pitchFamily="34" charset="0"/>
                <a:cs typeface="Arial" panose="020B0604020202020204" pitchFamily="34" charset="0"/>
              </a:rPr>
              <a:t>PlantRep data</a:t>
            </a:r>
          </a:p>
        </p:txBody>
      </p:sp>
      <p:sp>
        <p:nvSpPr>
          <p:cNvPr id="23" name="Rectangle 22">
            <a:extLst>
              <a:ext uri="{FF2B5EF4-FFF2-40B4-BE49-F238E27FC236}">
                <a16:creationId xmlns:a16="http://schemas.microsoft.com/office/drawing/2014/main" id="{D111EDA1-8D2C-56B0-974E-5D760E48214B}"/>
              </a:ext>
            </a:extLst>
          </p:cNvPr>
          <p:cNvSpPr/>
          <p:nvPr/>
        </p:nvSpPr>
        <p:spPr>
          <a:xfrm>
            <a:off x="8082306" y="1426377"/>
            <a:ext cx="1250902" cy="365682"/>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latin typeface="Arial" panose="020B0604020202020204" pitchFamily="34" charset="0"/>
                <a:cs typeface="Arial" panose="020B0604020202020204" pitchFamily="34" charset="0"/>
              </a:rPr>
              <a:t>Result</a:t>
            </a:r>
          </a:p>
        </p:txBody>
      </p:sp>
      <p:cxnSp>
        <p:nvCxnSpPr>
          <p:cNvPr id="27" name="Straight Arrow Connector 26">
            <a:extLst>
              <a:ext uri="{FF2B5EF4-FFF2-40B4-BE49-F238E27FC236}">
                <a16:creationId xmlns:a16="http://schemas.microsoft.com/office/drawing/2014/main" id="{6CCA420B-9217-0B60-118B-49782B875DC5}"/>
              </a:ext>
            </a:extLst>
          </p:cNvPr>
          <p:cNvCxnSpPr>
            <a:stCxn id="9" idx="3"/>
            <a:endCxn id="18" idx="1"/>
          </p:cNvCxnSpPr>
          <p:nvPr/>
        </p:nvCxnSpPr>
        <p:spPr>
          <a:xfrm>
            <a:off x="1870858" y="1609218"/>
            <a:ext cx="709085" cy="359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34C59F4-E8B2-D5E0-B905-82FFBB03EC38}"/>
              </a:ext>
            </a:extLst>
          </p:cNvPr>
          <p:cNvCxnSpPr>
            <a:cxnSpLocks/>
            <a:endCxn id="19" idx="1"/>
          </p:cNvCxnSpPr>
          <p:nvPr/>
        </p:nvCxnSpPr>
        <p:spPr>
          <a:xfrm>
            <a:off x="4622039" y="1609218"/>
            <a:ext cx="70908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9836BE9-3324-47FE-8F72-9ADFD36350BA}"/>
              </a:ext>
            </a:extLst>
          </p:cNvPr>
          <p:cNvCxnSpPr>
            <a:cxnSpLocks/>
            <a:stCxn id="19" idx="3"/>
            <a:endCxn id="23" idx="1"/>
          </p:cNvCxnSpPr>
          <p:nvPr/>
        </p:nvCxnSpPr>
        <p:spPr>
          <a:xfrm>
            <a:off x="7373221" y="1609218"/>
            <a:ext cx="70908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8E8E5B8F-F564-7258-BA69-9C6A8086C101}"/>
              </a:ext>
            </a:extLst>
          </p:cNvPr>
          <p:cNvCxnSpPr>
            <a:cxnSpLocks/>
            <a:stCxn id="20" idx="0"/>
            <a:endCxn id="18" idx="2"/>
          </p:cNvCxnSpPr>
          <p:nvPr/>
        </p:nvCxnSpPr>
        <p:spPr>
          <a:xfrm flipV="1">
            <a:off x="3600991" y="1795655"/>
            <a:ext cx="0" cy="4589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2E5A6D2-E8BC-1F91-5030-1F0E3342BE61}"/>
              </a:ext>
            </a:extLst>
          </p:cNvPr>
          <p:cNvCxnSpPr>
            <a:cxnSpLocks/>
            <a:stCxn id="21" idx="0"/>
            <a:endCxn id="19" idx="2"/>
          </p:cNvCxnSpPr>
          <p:nvPr/>
        </p:nvCxnSpPr>
        <p:spPr>
          <a:xfrm flipV="1">
            <a:off x="6352173" y="1792059"/>
            <a:ext cx="0" cy="4625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文本框 3">
            <a:extLst>
              <a:ext uri="{FF2B5EF4-FFF2-40B4-BE49-F238E27FC236}">
                <a16:creationId xmlns:a16="http://schemas.microsoft.com/office/drawing/2014/main" id="{D2CEAF70-8BC4-42D6-C742-A704AEABA42D}"/>
              </a:ext>
            </a:extLst>
          </p:cNvPr>
          <p:cNvSpPr txBox="1"/>
          <p:nvPr/>
        </p:nvSpPr>
        <p:spPr>
          <a:xfrm>
            <a:off x="474733" y="2896304"/>
            <a:ext cx="2792253" cy="36568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Pipeline 2  </a:t>
            </a:r>
          </a:p>
        </p:txBody>
      </p:sp>
      <p:sp>
        <p:nvSpPr>
          <p:cNvPr id="71" name="Rectangle 70">
            <a:extLst>
              <a:ext uri="{FF2B5EF4-FFF2-40B4-BE49-F238E27FC236}">
                <a16:creationId xmlns:a16="http://schemas.microsoft.com/office/drawing/2014/main" id="{EDDD75CD-BA9C-038A-E99C-106FC09DEC8F}"/>
              </a:ext>
            </a:extLst>
          </p:cNvPr>
          <p:cNvSpPr/>
          <p:nvPr/>
        </p:nvSpPr>
        <p:spPr>
          <a:xfrm>
            <a:off x="619956" y="3358804"/>
            <a:ext cx="1250902" cy="365682"/>
          </a:xfrm>
          <a:prstGeom prst="rect">
            <a:avLst/>
          </a:prstGeom>
          <a:solidFill>
            <a:srgbClr val="FFC44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latin typeface="Arial" panose="020B0604020202020204" pitchFamily="34" charset="0"/>
                <a:cs typeface="Arial" panose="020B0604020202020204" pitchFamily="34" charset="0"/>
              </a:rPr>
              <a:t>Genome</a:t>
            </a:r>
          </a:p>
        </p:txBody>
      </p:sp>
      <p:sp>
        <p:nvSpPr>
          <p:cNvPr id="72" name="Rectangle 71">
            <a:extLst>
              <a:ext uri="{FF2B5EF4-FFF2-40B4-BE49-F238E27FC236}">
                <a16:creationId xmlns:a16="http://schemas.microsoft.com/office/drawing/2014/main" id="{EC615F53-9C3B-30F9-BBAB-01566E3368DD}"/>
              </a:ext>
            </a:extLst>
          </p:cNvPr>
          <p:cNvSpPr/>
          <p:nvPr/>
        </p:nvSpPr>
        <p:spPr>
          <a:xfrm>
            <a:off x="2579943" y="3362400"/>
            <a:ext cx="2042096" cy="365682"/>
          </a:xfrm>
          <a:prstGeom prst="rect">
            <a:avLst/>
          </a:prstGeom>
          <a:solidFill>
            <a:srgbClr val="FFC44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latin typeface="Arial" panose="020B0604020202020204" pitchFamily="34" charset="0"/>
                <a:cs typeface="Arial" panose="020B0604020202020204" pitchFamily="34" charset="0"/>
              </a:rPr>
              <a:t>1</a:t>
            </a:r>
            <a:r>
              <a:rPr lang="en-CN" baseline="30000" dirty="0">
                <a:solidFill>
                  <a:schemeClr val="tx1"/>
                </a:solidFill>
                <a:latin typeface="Arial" panose="020B0604020202020204" pitchFamily="34" charset="0"/>
                <a:cs typeface="Arial" panose="020B0604020202020204" pitchFamily="34" charset="0"/>
              </a:rPr>
              <a:t>st</a:t>
            </a:r>
            <a:r>
              <a:rPr lang="en-CN" dirty="0">
                <a:solidFill>
                  <a:schemeClr val="tx1"/>
                </a:solidFill>
                <a:latin typeface="Arial" panose="020B0604020202020204" pitchFamily="34" charset="0"/>
                <a:cs typeface="Arial" panose="020B0604020202020204" pitchFamily="34" charset="0"/>
              </a:rPr>
              <a:t> RepeatMasker</a:t>
            </a:r>
          </a:p>
        </p:txBody>
      </p:sp>
      <p:cxnSp>
        <p:nvCxnSpPr>
          <p:cNvPr id="73" name="Straight Arrow Connector 72">
            <a:extLst>
              <a:ext uri="{FF2B5EF4-FFF2-40B4-BE49-F238E27FC236}">
                <a16:creationId xmlns:a16="http://schemas.microsoft.com/office/drawing/2014/main" id="{64A6CC0F-1885-7A47-2515-BF74419DE058}"/>
              </a:ext>
            </a:extLst>
          </p:cNvPr>
          <p:cNvCxnSpPr>
            <a:stCxn id="71" idx="3"/>
            <a:endCxn id="72" idx="1"/>
          </p:cNvCxnSpPr>
          <p:nvPr/>
        </p:nvCxnSpPr>
        <p:spPr>
          <a:xfrm>
            <a:off x="1870858" y="3541645"/>
            <a:ext cx="709085" cy="359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DF6A6482-1284-B80D-2964-8F2B422C35D2}"/>
              </a:ext>
            </a:extLst>
          </p:cNvPr>
          <p:cNvSpPr/>
          <p:nvPr/>
        </p:nvSpPr>
        <p:spPr>
          <a:xfrm>
            <a:off x="2579943" y="4190582"/>
            <a:ext cx="2042096" cy="365682"/>
          </a:xfrm>
          <a:prstGeom prst="rect">
            <a:avLst/>
          </a:prstGeom>
          <a:solidFill>
            <a:srgbClr val="0E606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bg1"/>
                </a:solidFill>
                <a:latin typeface="Arial" panose="020B0604020202020204" pitchFamily="34" charset="0"/>
                <a:cs typeface="Arial" panose="020B0604020202020204" pitchFamily="34" charset="0"/>
              </a:rPr>
              <a:t>Dfam + RepBase</a:t>
            </a:r>
          </a:p>
        </p:txBody>
      </p:sp>
      <p:cxnSp>
        <p:nvCxnSpPr>
          <p:cNvPr id="75" name="Straight Arrow Connector 74">
            <a:extLst>
              <a:ext uri="{FF2B5EF4-FFF2-40B4-BE49-F238E27FC236}">
                <a16:creationId xmlns:a16="http://schemas.microsoft.com/office/drawing/2014/main" id="{668293F7-55A6-3C2B-B2C9-F96A03012751}"/>
              </a:ext>
            </a:extLst>
          </p:cNvPr>
          <p:cNvCxnSpPr>
            <a:cxnSpLocks/>
            <a:stCxn id="74" idx="0"/>
          </p:cNvCxnSpPr>
          <p:nvPr/>
        </p:nvCxnSpPr>
        <p:spPr>
          <a:xfrm flipV="1">
            <a:off x="3600991" y="3731678"/>
            <a:ext cx="0" cy="4589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1FCE8F5A-1C0E-BC84-85D1-A43724105F32}"/>
              </a:ext>
            </a:extLst>
          </p:cNvPr>
          <p:cNvCxnSpPr>
            <a:cxnSpLocks/>
          </p:cNvCxnSpPr>
          <p:nvPr/>
        </p:nvCxnSpPr>
        <p:spPr>
          <a:xfrm>
            <a:off x="4622039" y="3541645"/>
            <a:ext cx="70908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AC3CB0F5-0116-C2BA-1FC9-CE2A062EAE9C}"/>
              </a:ext>
            </a:extLst>
          </p:cNvPr>
          <p:cNvSpPr/>
          <p:nvPr/>
        </p:nvSpPr>
        <p:spPr>
          <a:xfrm>
            <a:off x="5331124" y="3365996"/>
            <a:ext cx="1250902" cy="365682"/>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latin typeface="Arial" panose="020B0604020202020204" pitchFamily="34" charset="0"/>
                <a:cs typeface="Arial" panose="020B0604020202020204" pitchFamily="34" charset="0"/>
              </a:rPr>
              <a:t>Result</a:t>
            </a:r>
          </a:p>
        </p:txBody>
      </p:sp>
      <p:sp>
        <p:nvSpPr>
          <p:cNvPr id="79" name="文本框 3">
            <a:extLst>
              <a:ext uri="{FF2B5EF4-FFF2-40B4-BE49-F238E27FC236}">
                <a16:creationId xmlns:a16="http://schemas.microsoft.com/office/drawing/2014/main" id="{87B8D1F6-3146-E810-6BE5-3721ACAF5004}"/>
              </a:ext>
            </a:extLst>
          </p:cNvPr>
          <p:cNvSpPr txBox="1"/>
          <p:nvPr/>
        </p:nvSpPr>
        <p:spPr>
          <a:xfrm>
            <a:off x="474733" y="4777490"/>
            <a:ext cx="2792253" cy="36568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Pipeline 3 </a:t>
            </a:r>
          </a:p>
        </p:txBody>
      </p:sp>
      <p:sp>
        <p:nvSpPr>
          <p:cNvPr id="80" name="Rectangle 79">
            <a:extLst>
              <a:ext uri="{FF2B5EF4-FFF2-40B4-BE49-F238E27FC236}">
                <a16:creationId xmlns:a16="http://schemas.microsoft.com/office/drawing/2014/main" id="{6E10DD45-9001-1F2D-739C-9FD97CDA3C66}"/>
              </a:ext>
            </a:extLst>
          </p:cNvPr>
          <p:cNvSpPr/>
          <p:nvPr/>
        </p:nvSpPr>
        <p:spPr>
          <a:xfrm>
            <a:off x="619956" y="5239990"/>
            <a:ext cx="1250902" cy="365682"/>
          </a:xfrm>
          <a:prstGeom prst="rect">
            <a:avLst/>
          </a:prstGeom>
          <a:solidFill>
            <a:srgbClr val="FFC44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latin typeface="Arial" panose="020B0604020202020204" pitchFamily="34" charset="0"/>
                <a:cs typeface="Arial" panose="020B0604020202020204" pitchFamily="34" charset="0"/>
              </a:rPr>
              <a:t>Genome</a:t>
            </a:r>
          </a:p>
        </p:txBody>
      </p:sp>
      <p:sp>
        <p:nvSpPr>
          <p:cNvPr id="81" name="Rectangle 80">
            <a:extLst>
              <a:ext uri="{FF2B5EF4-FFF2-40B4-BE49-F238E27FC236}">
                <a16:creationId xmlns:a16="http://schemas.microsoft.com/office/drawing/2014/main" id="{9CA56ACF-062E-E4A5-D328-D83747116294}"/>
              </a:ext>
            </a:extLst>
          </p:cNvPr>
          <p:cNvSpPr/>
          <p:nvPr/>
        </p:nvSpPr>
        <p:spPr>
          <a:xfrm>
            <a:off x="2579943" y="5243586"/>
            <a:ext cx="2042096" cy="365682"/>
          </a:xfrm>
          <a:prstGeom prst="rect">
            <a:avLst/>
          </a:prstGeom>
          <a:solidFill>
            <a:srgbClr val="FFC44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latin typeface="Arial" panose="020B0604020202020204" pitchFamily="34" charset="0"/>
                <a:cs typeface="Arial" panose="020B0604020202020204" pitchFamily="34" charset="0"/>
              </a:rPr>
              <a:t>HiTE</a:t>
            </a:r>
          </a:p>
        </p:txBody>
      </p:sp>
      <p:cxnSp>
        <p:nvCxnSpPr>
          <p:cNvPr id="82" name="Straight Arrow Connector 81">
            <a:extLst>
              <a:ext uri="{FF2B5EF4-FFF2-40B4-BE49-F238E27FC236}">
                <a16:creationId xmlns:a16="http://schemas.microsoft.com/office/drawing/2014/main" id="{A299DDA7-00CB-691C-BDEF-BFD5B1E4D75E}"/>
              </a:ext>
            </a:extLst>
          </p:cNvPr>
          <p:cNvCxnSpPr>
            <a:stCxn id="80" idx="3"/>
            <a:endCxn id="81" idx="1"/>
          </p:cNvCxnSpPr>
          <p:nvPr/>
        </p:nvCxnSpPr>
        <p:spPr>
          <a:xfrm>
            <a:off x="1870858" y="5422831"/>
            <a:ext cx="709085" cy="359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B6ABC211-86AA-48BA-5307-E2F1BE35295E}"/>
              </a:ext>
            </a:extLst>
          </p:cNvPr>
          <p:cNvSpPr/>
          <p:nvPr/>
        </p:nvSpPr>
        <p:spPr>
          <a:xfrm>
            <a:off x="2579943" y="6071768"/>
            <a:ext cx="2042096" cy="365682"/>
          </a:xfrm>
          <a:prstGeom prst="rect">
            <a:avLst/>
          </a:prstGeom>
          <a:solidFill>
            <a:srgbClr val="0E606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bg1"/>
                </a:solidFill>
                <a:latin typeface="Arial" panose="020B0604020202020204" pitchFamily="34" charset="0"/>
                <a:cs typeface="Arial" panose="020B0604020202020204" pitchFamily="34" charset="0"/>
              </a:rPr>
              <a:t>Dfam + RepBase</a:t>
            </a:r>
          </a:p>
        </p:txBody>
      </p:sp>
      <p:cxnSp>
        <p:nvCxnSpPr>
          <p:cNvPr id="84" name="Straight Arrow Connector 83">
            <a:extLst>
              <a:ext uri="{FF2B5EF4-FFF2-40B4-BE49-F238E27FC236}">
                <a16:creationId xmlns:a16="http://schemas.microsoft.com/office/drawing/2014/main" id="{BF437C9F-8FBE-33F2-B182-08740143723D}"/>
              </a:ext>
            </a:extLst>
          </p:cNvPr>
          <p:cNvCxnSpPr>
            <a:cxnSpLocks/>
            <a:stCxn id="83" idx="0"/>
          </p:cNvCxnSpPr>
          <p:nvPr/>
        </p:nvCxnSpPr>
        <p:spPr>
          <a:xfrm flipV="1">
            <a:off x="3600991" y="5612864"/>
            <a:ext cx="0" cy="4589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A6D67196-8C1F-96D1-D174-EFFCF9DB213E}"/>
              </a:ext>
            </a:extLst>
          </p:cNvPr>
          <p:cNvCxnSpPr>
            <a:cxnSpLocks/>
          </p:cNvCxnSpPr>
          <p:nvPr/>
        </p:nvCxnSpPr>
        <p:spPr>
          <a:xfrm>
            <a:off x="4622039" y="5422831"/>
            <a:ext cx="70908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6B1F59D9-C3A3-0736-50B8-DE32602FC51D}"/>
              </a:ext>
            </a:extLst>
          </p:cNvPr>
          <p:cNvSpPr/>
          <p:nvPr/>
        </p:nvSpPr>
        <p:spPr>
          <a:xfrm>
            <a:off x="5331124" y="5247182"/>
            <a:ext cx="1250902" cy="365682"/>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tx1"/>
                </a:solidFill>
                <a:latin typeface="Arial" panose="020B0604020202020204" pitchFamily="34" charset="0"/>
                <a:cs typeface="Arial" panose="020B0604020202020204" pitchFamily="34" charset="0"/>
              </a:rPr>
              <a:t>Result</a:t>
            </a:r>
          </a:p>
        </p:txBody>
      </p:sp>
      <p:sp>
        <p:nvSpPr>
          <p:cNvPr id="87" name="文本框 3">
            <a:extLst>
              <a:ext uri="{FF2B5EF4-FFF2-40B4-BE49-F238E27FC236}">
                <a16:creationId xmlns:a16="http://schemas.microsoft.com/office/drawing/2014/main" id="{D61728CF-D355-15B0-AB96-46CAD0BAC6B1}"/>
              </a:ext>
            </a:extLst>
          </p:cNvPr>
          <p:cNvSpPr txBox="1"/>
          <p:nvPr/>
        </p:nvSpPr>
        <p:spPr>
          <a:xfrm>
            <a:off x="7711044" y="4764476"/>
            <a:ext cx="4006223" cy="1672974"/>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Specialized Poaceae TE database</a:t>
            </a:r>
            <a:endParaRPr lang="en-US" altLang="zh-CN" dirty="0">
              <a:latin typeface="Arial" panose="020B0604020202020204" pitchFamily="34" charset="0"/>
              <a:cs typeface="Arial" panose="020B0604020202020204" pitchFamily="34" charset="0"/>
            </a:endParaRPr>
          </a:p>
          <a:p>
            <a:pPr marL="342900" indent="-342900">
              <a:spcBef>
                <a:spcPts val="400"/>
              </a:spcBef>
              <a:spcAft>
                <a:spcPct val="0"/>
              </a:spcAft>
              <a:buFont typeface="+mj-lt"/>
              <a:buAutoNum type="arabicPeriod"/>
            </a:pPr>
            <a:r>
              <a:rPr lang="en-US" altLang="zh-CN" dirty="0" err="1">
                <a:latin typeface="Arial" panose="020B0604020202020204" pitchFamily="34" charset="0"/>
                <a:cs typeface="Arial" panose="020B0604020202020204" pitchFamily="34" charset="0"/>
              </a:rPr>
              <a:t>Repbase</a:t>
            </a:r>
            <a:r>
              <a:rPr lang="en-US" altLang="zh-CN" dirty="0">
                <a:latin typeface="Arial" panose="020B0604020202020204" pitchFamily="34" charset="0"/>
                <a:cs typeface="Arial" panose="020B0604020202020204" pitchFamily="34" charset="0"/>
              </a:rPr>
              <a:t> v30.8: Grass + </a:t>
            </a:r>
            <a:r>
              <a:rPr lang="en-US" altLang="zh-CN" i="1" dirty="0">
                <a:latin typeface="Arial" panose="020B0604020202020204" pitchFamily="34" charset="0"/>
                <a:cs typeface="Arial" panose="020B0604020202020204" pitchFamily="34" charset="0"/>
              </a:rPr>
              <a:t>Oryza</a:t>
            </a:r>
          </a:p>
          <a:p>
            <a:pPr marL="342900" indent="-342900">
              <a:spcBef>
                <a:spcPts val="400"/>
              </a:spcBef>
              <a:spcAft>
                <a:spcPct val="0"/>
              </a:spcAft>
              <a:buFont typeface="+mj-lt"/>
              <a:buAutoNum type="arabicPeriod"/>
            </a:pPr>
            <a:r>
              <a:rPr lang="en-US" altLang="zh-CN" dirty="0" err="1">
                <a:latin typeface="Arial" panose="020B0604020202020204" pitchFamily="34" charset="0"/>
                <a:cs typeface="Arial" panose="020B0604020202020204" pitchFamily="34" charset="0"/>
              </a:rPr>
              <a:t>Dfam</a:t>
            </a:r>
            <a:r>
              <a:rPr lang="en-US" altLang="zh-CN" dirty="0">
                <a:latin typeface="Arial" panose="020B0604020202020204" pitchFamily="34" charset="0"/>
                <a:cs typeface="Arial" panose="020B0604020202020204" pitchFamily="34" charset="0"/>
              </a:rPr>
              <a:t>: Grass</a:t>
            </a:r>
          </a:p>
          <a:p>
            <a:pPr marL="342900" indent="-342900">
              <a:spcBef>
                <a:spcPts val="400"/>
              </a:spcBef>
              <a:spcAft>
                <a:spcPct val="0"/>
              </a:spcAft>
              <a:buFont typeface="+mj-lt"/>
              <a:buAutoNum type="arabicPeriod"/>
            </a:pPr>
            <a:r>
              <a:rPr lang="en-US" altLang="zh-CN" dirty="0" err="1">
                <a:latin typeface="Arial" panose="020B0604020202020204" pitchFamily="34" charset="0"/>
                <a:cs typeface="Arial" panose="020B0604020202020204" pitchFamily="34" charset="0"/>
              </a:rPr>
              <a:t>RepeatModeler</a:t>
            </a:r>
            <a:r>
              <a:rPr lang="en-US" altLang="zh-CN" dirty="0">
                <a:latin typeface="Arial" panose="020B0604020202020204" pitchFamily="34" charset="0"/>
                <a:cs typeface="Arial" panose="020B0604020202020204" pitchFamily="34" charset="0"/>
              </a:rPr>
              <a:t> for selected species</a:t>
            </a:r>
          </a:p>
        </p:txBody>
      </p:sp>
      <p:sp>
        <p:nvSpPr>
          <p:cNvPr id="88" name="Rectangle 87">
            <a:extLst>
              <a:ext uri="{FF2B5EF4-FFF2-40B4-BE49-F238E27FC236}">
                <a16:creationId xmlns:a16="http://schemas.microsoft.com/office/drawing/2014/main" id="{641349F8-E12B-B3DD-7E53-E572F508E0B5}"/>
              </a:ext>
            </a:extLst>
          </p:cNvPr>
          <p:cNvSpPr/>
          <p:nvPr/>
        </p:nvSpPr>
        <p:spPr>
          <a:xfrm>
            <a:off x="7711044" y="4764474"/>
            <a:ext cx="3870482" cy="1672975"/>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0" name="文本框 3">
            <a:extLst>
              <a:ext uri="{FF2B5EF4-FFF2-40B4-BE49-F238E27FC236}">
                <a16:creationId xmlns:a16="http://schemas.microsoft.com/office/drawing/2014/main" id="{96573609-38ED-46DC-4B06-943A90AE3DA6}"/>
              </a:ext>
            </a:extLst>
          </p:cNvPr>
          <p:cNvSpPr txBox="1"/>
          <p:nvPr/>
        </p:nvSpPr>
        <p:spPr>
          <a:xfrm>
            <a:off x="7569963" y="4373423"/>
            <a:ext cx="2792253" cy="365682"/>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Future implementation</a:t>
            </a:r>
          </a:p>
        </p:txBody>
      </p:sp>
      <p:sp>
        <p:nvSpPr>
          <p:cNvPr id="91" name="文本框 3">
            <a:extLst>
              <a:ext uri="{FF2B5EF4-FFF2-40B4-BE49-F238E27FC236}">
                <a16:creationId xmlns:a16="http://schemas.microsoft.com/office/drawing/2014/main" id="{730AE95A-A270-6EFC-E5B0-C6F60A2C306E}"/>
              </a:ext>
            </a:extLst>
          </p:cNvPr>
          <p:cNvSpPr txBox="1"/>
          <p:nvPr/>
        </p:nvSpPr>
        <p:spPr>
          <a:xfrm>
            <a:off x="7569963" y="3340633"/>
            <a:ext cx="3854771" cy="767705"/>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Runtime performance:</a:t>
            </a:r>
          </a:p>
          <a:p>
            <a:pPr>
              <a:spcBef>
                <a:spcPts val="400"/>
              </a:spcBef>
              <a:spcAft>
                <a:spcPct val="0"/>
              </a:spcAft>
            </a:pPr>
            <a:r>
              <a:rPr lang="en-US" altLang="zh-CN" dirty="0">
                <a:latin typeface="Arial" panose="020B0604020202020204" pitchFamily="34" charset="0"/>
                <a:cs typeface="Arial" panose="020B0604020202020204" pitchFamily="34" charset="0"/>
              </a:rPr>
              <a:t>Pipeline 2 &gt; Pipeline 3 &gt; Pipeline 1</a:t>
            </a:r>
          </a:p>
        </p:txBody>
      </p:sp>
    </p:spTree>
    <p:extLst>
      <p:ext uri="{BB962C8B-B14F-4D97-AF65-F5344CB8AC3E}">
        <p14:creationId xmlns:p14="http://schemas.microsoft.com/office/powerpoint/2010/main" val="997267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9ED1D-5946-98C0-CD05-1995466A0421}"/>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7FAACB23-11F1-B4D0-6872-01C1AA74BA91}"/>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TE Annotation (lightweight)</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67F134DE-319F-E39A-18F6-6A059982762A}"/>
              </a:ext>
            </a:extLst>
          </p:cNvPr>
          <p:cNvPicPr>
            <a:picLocks noChangeAspect="1"/>
          </p:cNvPicPr>
          <p:nvPr/>
        </p:nvPicPr>
        <p:blipFill>
          <a:blip r:embed="rId3"/>
          <a:srcRect t="4016" b="5943"/>
          <a:stretch>
            <a:fillRect/>
          </a:stretch>
        </p:blipFill>
        <p:spPr>
          <a:xfrm>
            <a:off x="8046720" y="64719"/>
            <a:ext cx="1855376" cy="767710"/>
          </a:xfrm>
          <a:prstGeom prst="rect">
            <a:avLst/>
          </a:prstGeom>
        </p:spPr>
      </p:pic>
      <p:pic>
        <p:nvPicPr>
          <p:cNvPr id="4" name="Picture 3">
            <a:extLst>
              <a:ext uri="{FF2B5EF4-FFF2-40B4-BE49-F238E27FC236}">
                <a16:creationId xmlns:a16="http://schemas.microsoft.com/office/drawing/2014/main" id="{99063CD8-8CE9-0002-52A6-9E0FCBE88932}"/>
              </a:ext>
            </a:extLst>
          </p:cNvPr>
          <p:cNvPicPr>
            <a:picLocks noChangeAspect="1"/>
          </p:cNvPicPr>
          <p:nvPr/>
        </p:nvPicPr>
        <p:blipFill>
          <a:blip r:embed="rId4"/>
          <a:srcRect t="383"/>
          <a:stretch>
            <a:fillRect/>
          </a:stretch>
        </p:blipFill>
        <p:spPr>
          <a:xfrm>
            <a:off x="492112" y="1198111"/>
            <a:ext cx="3595583" cy="5541434"/>
          </a:xfrm>
          <a:prstGeom prst="rect">
            <a:avLst/>
          </a:prstGeom>
        </p:spPr>
      </p:pic>
      <p:pic>
        <p:nvPicPr>
          <p:cNvPr id="5" name="Picture 4">
            <a:extLst>
              <a:ext uri="{FF2B5EF4-FFF2-40B4-BE49-F238E27FC236}">
                <a16:creationId xmlns:a16="http://schemas.microsoft.com/office/drawing/2014/main" id="{50955535-E1E9-F4B8-5AE1-D4A434602B0C}"/>
              </a:ext>
            </a:extLst>
          </p:cNvPr>
          <p:cNvPicPr>
            <a:picLocks noChangeAspect="1"/>
          </p:cNvPicPr>
          <p:nvPr/>
        </p:nvPicPr>
        <p:blipFill>
          <a:blip r:embed="rId5"/>
          <a:srcRect t="984"/>
          <a:stretch>
            <a:fillRect/>
          </a:stretch>
        </p:blipFill>
        <p:spPr>
          <a:xfrm>
            <a:off x="4170615" y="1200422"/>
            <a:ext cx="3652618" cy="5504232"/>
          </a:xfrm>
          <a:prstGeom prst="rect">
            <a:avLst/>
          </a:prstGeom>
        </p:spPr>
      </p:pic>
      <p:pic>
        <p:nvPicPr>
          <p:cNvPr id="6" name="Picture 5">
            <a:extLst>
              <a:ext uri="{FF2B5EF4-FFF2-40B4-BE49-F238E27FC236}">
                <a16:creationId xmlns:a16="http://schemas.microsoft.com/office/drawing/2014/main" id="{7C9F996F-1C3E-8A7B-8FDC-5711EA9B286F}"/>
              </a:ext>
            </a:extLst>
          </p:cNvPr>
          <p:cNvPicPr>
            <a:picLocks noChangeAspect="1"/>
          </p:cNvPicPr>
          <p:nvPr/>
        </p:nvPicPr>
        <p:blipFill>
          <a:blip r:embed="rId6"/>
          <a:stretch>
            <a:fillRect/>
          </a:stretch>
        </p:blipFill>
        <p:spPr>
          <a:xfrm>
            <a:off x="7777722" y="1247792"/>
            <a:ext cx="3529337" cy="5459172"/>
          </a:xfrm>
          <a:prstGeom prst="rect">
            <a:avLst/>
          </a:prstGeom>
        </p:spPr>
      </p:pic>
      <p:sp>
        <p:nvSpPr>
          <p:cNvPr id="7" name="文本框 3">
            <a:extLst>
              <a:ext uri="{FF2B5EF4-FFF2-40B4-BE49-F238E27FC236}">
                <a16:creationId xmlns:a16="http://schemas.microsoft.com/office/drawing/2014/main" id="{E643EFB2-9F69-DE2A-8E22-B379E1268787}"/>
              </a:ext>
            </a:extLst>
          </p:cNvPr>
          <p:cNvSpPr txBox="1"/>
          <p:nvPr/>
        </p:nvSpPr>
        <p:spPr>
          <a:xfrm>
            <a:off x="492112" y="832429"/>
            <a:ext cx="2792253" cy="36568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Pipeline 1  </a:t>
            </a:r>
          </a:p>
        </p:txBody>
      </p:sp>
      <p:sp>
        <p:nvSpPr>
          <p:cNvPr id="8" name="文本框 3">
            <a:extLst>
              <a:ext uri="{FF2B5EF4-FFF2-40B4-BE49-F238E27FC236}">
                <a16:creationId xmlns:a16="http://schemas.microsoft.com/office/drawing/2014/main" id="{045836D2-CC0C-D2CC-F152-8FC255BF5C51}"/>
              </a:ext>
            </a:extLst>
          </p:cNvPr>
          <p:cNvSpPr txBox="1"/>
          <p:nvPr/>
        </p:nvSpPr>
        <p:spPr>
          <a:xfrm>
            <a:off x="4170614" y="832429"/>
            <a:ext cx="2792253" cy="36568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Pipeline 2  </a:t>
            </a:r>
          </a:p>
        </p:txBody>
      </p:sp>
      <p:sp>
        <p:nvSpPr>
          <p:cNvPr id="10" name="文本框 3">
            <a:extLst>
              <a:ext uri="{FF2B5EF4-FFF2-40B4-BE49-F238E27FC236}">
                <a16:creationId xmlns:a16="http://schemas.microsoft.com/office/drawing/2014/main" id="{B38711A3-2335-E6DE-B972-CABE5C30E98A}"/>
              </a:ext>
            </a:extLst>
          </p:cNvPr>
          <p:cNvSpPr txBox="1"/>
          <p:nvPr/>
        </p:nvSpPr>
        <p:spPr>
          <a:xfrm>
            <a:off x="7695884" y="832429"/>
            <a:ext cx="2792253" cy="365682"/>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Pipeline 3  </a:t>
            </a:r>
          </a:p>
        </p:txBody>
      </p:sp>
      <p:sp>
        <p:nvSpPr>
          <p:cNvPr id="11" name="文本框 3">
            <a:extLst>
              <a:ext uri="{FF2B5EF4-FFF2-40B4-BE49-F238E27FC236}">
                <a16:creationId xmlns:a16="http://schemas.microsoft.com/office/drawing/2014/main" id="{0A0225B9-12CA-E95C-D8DE-8901A8F63065}"/>
              </a:ext>
            </a:extLst>
          </p:cNvPr>
          <p:cNvSpPr txBox="1"/>
          <p:nvPr/>
        </p:nvSpPr>
        <p:spPr>
          <a:xfrm>
            <a:off x="5626061" y="256756"/>
            <a:ext cx="2029381" cy="365682"/>
          </a:xfrm>
          <a:prstGeom prst="rect">
            <a:avLst/>
          </a:prstGeom>
        </p:spPr>
        <p:txBody>
          <a:bodyPr>
            <a:noAutofit/>
          </a:bodyPr>
          <a:lstStyle/>
          <a:p>
            <a:pPr>
              <a:spcBef>
                <a:spcPts val="400"/>
              </a:spcBef>
              <a:spcAft>
                <a:spcPct val="0"/>
              </a:spcAft>
            </a:pPr>
            <a:r>
              <a:rPr lang="en-US" altLang="zh-CN" b="1" dirty="0">
                <a:solidFill>
                  <a:srgbClr val="FF0000"/>
                </a:solidFill>
                <a:latin typeface="Courier New" panose="02070309020205020404" pitchFamily="49" charset="0"/>
                <a:cs typeface="Courier New" panose="02070309020205020404" pitchFamily="49" charset="0"/>
              </a:rPr>
              <a:t>.</a:t>
            </a:r>
            <a:r>
              <a:rPr lang="en-US" altLang="zh-CN" b="1" dirty="0" err="1">
                <a:solidFill>
                  <a:srgbClr val="FF0000"/>
                </a:solidFill>
                <a:latin typeface="Courier New" panose="02070309020205020404" pitchFamily="49" charset="0"/>
                <a:cs typeface="Courier New" panose="02070309020205020404" pitchFamily="49" charset="0"/>
              </a:rPr>
              <a:t>tbl</a:t>
            </a:r>
            <a:r>
              <a:rPr lang="en-US" altLang="zh-CN" b="1" dirty="0">
                <a:solidFill>
                  <a:srgbClr val="FF0000"/>
                </a:solidFill>
                <a:latin typeface="Courier New" panose="02070309020205020404" pitchFamily="49" charset="0"/>
                <a:cs typeface="Courier New" panose="02070309020205020404" pitchFamily="49" charset="0"/>
              </a:rPr>
              <a:t> </a:t>
            </a:r>
            <a:r>
              <a:rPr lang="en-US" altLang="zh-CN" dirty="0">
                <a:solidFill>
                  <a:srgbClr val="FF0000"/>
                </a:solidFill>
                <a:latin typeface="Arial" panose="020B0604020202020204" pitchFamily="34" charset="0"/>
                <a:cs typeface="Arial" panose="020B0604020202020204" pitchFamily="34" charset="0"/>
              </a:rPr>
              <a:t>output file</a:t>
            </a:r>
          </a:p>
        </p:txBody>
      </p:sp>
      <p:sp>
        <p:nvSpPr>
          <p:cNvPr id="2" name="Rectangle 1">
            <a:extLst>
              <a:ext uri="{FF2B5EF4-FFF2-40B4-BE49-F238E27FC236}">
                <a16:creationId xmlns:a16="http://schemas.microsoft.com/office/drawing/2014/main" id="{319CCFE2-F608-48D0-CF08-B93ECA8F35FF}"/>
              </a:ext>
            </a:extLst>
          </p:cNvPr>
          <p:cNvSpPr/>
          <p:nvPr/>
        </p:nvSpPr>
        <p:spPr>
          <a:xfrm>
            <a:off x="368324" y="6333068"/>
            <a:ext cx="10799348" cy="268176"/>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 name="Rectangle 2">
            <a:extLst>
              <a:ext uri="{FF2B5EF4-FFF2-40B4-BE49-F238E27FC236}">
                <a16:creationId xmlns:a16="http://schemas.microsoft.com/office/drawing/2014/main" id="{452F9AC6-4D6B-CF55-A380-66608EE32BA8}"/>
              </a:ext>
            </a:extLst>
          </p:cNvPr>
          <p:cNvSpPr/>
          <p:nvPr/>
        </p:nvSpPr>
        <p:spPr>
          <a:xfrm>
            <a:off x="368323" y="2356381"/>
            <a:ext cx="10799349" cy="3518256"/>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文本框 3">
            <a:extLst>
              <a:ext uri="{FF2B5EF4-FFF2-40B4-BE49-F238E27FC236}">
                <a16:creationId xmlns:a16="http://schemas.microsoft.com/office/drawing/2014/main" id="{AB08D034-B4F6-1EF8-E6BC-D1FB85D50905}"/>
              </a:ext>
            </a:extLst>
          </p:cNvPr>
          <p:cNvSpPr txBox="1"/>
          <p:nvPr/>
        </p:nvSpPr>
        <p:spPr>
          <a:xfrm rot="5400000">
            <a:off x="10078174" y="3932668"/>
            <a:ext cx="2792253" cy="365682"/>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Transposable element</a:t>
            </a:r>
          </a:p>
        </p:txBody>
      </p:sp>
    </p:spTree>
    <p:extLst>
      <p:ext uri="{BB962C8B-B14F-4D97-AF65-F5344CB8AC3E}">
        <p14:creationId xmlns:p14="http://schemas.microsoft.com/office/powerpoint/2010/main" val="63823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F92F1-7658-C342-A8EE-CEE5CD99ADD3}"/>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9CADB62E-3619-B0CB-F8BD-6347A97B3206}"/>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Poaceae Data Training</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792BD553-03C3-97AB-0DDD-F4198C4AAC44}"/>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4" name="Rectangle 3">
            <a:extLst>
              <a:ext uri="{FF2B5EF4-FFF2-40B4-BE49-F238E27FC236}">
                <a16:creationId xmlns:a16="http://schemas.microsoft.com/office/drawing/2014/main" id="{E3A398F0-5F79-996F-D11F-62666EE6321C}"/>
              </a:ext>
            </a:extLst>
          </p:cNvPr>
          <p:cNvSpPr/>
          <p:nvPr/>
        </p:nvSpPr>
        <p:spPr>
          <a:xfrm>
            <a:off x="0" y="27329"/>
            <a:ext cx="12092940" cy="8572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Content Placeholder 3">
            <a:extLst>
              <a:ext uri="{FF2B5EF4-FFF2-40B4-BE49-F238E27FC236}">
                <a16:creationId xmlns:a16="http://schemas.microsoft.com/office/drawing/2014/main" id="{E2CD4107-B0DE-3DCF-73F2-3405AA0F3547}"/>
              </a:ext>
            </a:extLst>
          </p:cNvPr>
          <p:cNvSpPr txBox="1">
            <a:spLocks/>
          </p:cNvSpPr>
          <p:nvPr/>
        </p:nvSpPr>
        <p:spPr>
          <a:xfrm>
            <a:off x="317121" y="2506931"/>
            <a:ext cx="11458697" cy="857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800100" indent="-342900" algn="l" defTabSz="914400" rtl="0" eaLnBrk="1" latinLnBrk="0" hangingPunct="1">
              <a:lnSpc>
                <a:spcPct val="90000"/>
              </a:lnSpc>
              <a:spcBef>
                <a:spcPts val="500"/>
              </a:spcBef>
              <a:buFont typeface="微软雅黑" panose="020B0503020204020204" pitchFamily="34" charset="-122"/>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微软雅黑" panose="020B0503020204020204" pitchFamily="34" charset="-122"/>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altLang="zh-CN" sz="6000" b="1" dirty="0">
                <a:latin typeface="Arial" panose="020B0604020202020204" pitchFamily="34" charset="0"/>
                <a:cs typeface="Arial" panose="020B0604020202020204" pitchFamily="34" charset="0"/>
              </a:rPr>
              <a:t>Model evaluation</a:t>
            </a:r>
          </a:p>
        </p:txBody>
      </p:sp>
      <p:sp>
        <p:nvSpPr>
          <p:cNvPr id="9" name="Title 2">
            <a:extLst>
              <a:ext uri="{FF2B5EF4-FFF2-40B4-BE49-F238E27FC236}">
                <a16:creationId xmlns:a16="http://schemas.microsoft.com/office/drawing/2014/main" id="{1F632B25-7018-9DF4-841C-625EEBD6A1B8}"/>
              </a:ext>
            </a:extLst>
          </p:cNvPr>
          <p:cNvSpPr txBox="1">
            <a:spLocks/>
          </p:cNvSpPr>
          <p:nvPr/>
        </p:nvSpPr>
        <p:spPr>
          <a:xfrm>
            <a:off x="3271328" y="3429000"/>
            <a:ext cx="5649343" cy="500332"/>
          </a:xfrm>
          <a:prstGeom prst="rect">
            <a:avLst/>
          </a:prstGeom>
        </p:spPr>
        <p:txBody>
          <a:bodyPr anchor="ctr"/>
          <a:lstStyle>
            <a:lvl1pPr marL="0" algn="l" defTabSz="914400" rtl="0" eaLnBrk="1" latinLnBrk="0" hangingPunct="1">
              <a:lnSpc>
                <a:spcPct val="90000"/>
              </a:lnSpc>
              <a:spcBef>
                <a:spcPct val="0"/>
              </a:spcBef>
              <a:buNone/>
              <a:defRPr lang="zh-CN" altLang="en-US" sz="2400" b="1" kern="1200" dirty="0">
                <a:solidFill>
                  <a:schemeClr val="bg1"/>
                </a:solidFill>
                <a:latin typeface="微软雅黑" panose="020B0503020204020204" pitchFamily="34" charset="-122"/>
                <a:ea typeface="微软雅黑" panose="020B0503020204020204" pitchFamily="34" charset="-122"/>
                <a:cs typeface="+mj-cs"/>
              </a:defRPr>
            </a:lvl1pPr>
          </a:lstStyle>
          <a:p>
            <a:pPr algn="ctr"/>
            <a:r>
              <a:rPr lang="en-GB" altLang="zh-CN" b="0" dirty="0">
                <a:solidFill>
                  <a:schemeClr val="tx1"/>
                </a:solidFill>
                <a:latin typeface="Arial" panose="020B0604020202020204" pitchFamily="34" charset="0"/>
                <a:cs typeface="Arial" panose="020B0604020202020204" pitchFamily="34" charset="0"/>
              </a:rPr>
              <a:t>Evolutionary benchmark (EVObench)</a:t>
            </a:r>
            <a:endParaRPr lang="en-GB" b="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8800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B0F47-6A38-9EB3-F25B-A09819FB0A9C}"/>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1B4FB89C-0FFB-8FDC-BF75-79A92E5816CB}"/>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C4 Photosynthesis genes</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0B26975D-3EEE-FEC8-547D-A8856078B188}"/>
              </a:ext>
            </a:extLst>
          </p:cNvPr>
          <p:cNvPicPr>
            <a:picLocks noChangeAspect="1"/>
          </p:cNvPicPr>
          <p:nvPr/>
        </p:nvPicPr>
        <p:blipFill>
          <a:blip r:embed="rId3"/>
          <a:srcRect t="4016" b="5943"/>
          <a:stretch>
            <a:fillRect/>
          </a:stretch>
        </p:blipFill>
        <p:spPr>
          <a:xfrm>
            <a:off x="8046720" y="64719"/>
            <a:ext cx="1855376" cy="767710"/>
          </a:xfrm>
          <a:prstGeom prst="rect">
            <a:avLst/>
          </a:prstGeom>
        </p:spPr>
      </p:pic>
      <p:pic>
        <p:nvPicPr>
          <p:cNvPr id="2" name="Picture 1">
            <a:extLst>
              <a:ext uri="{FF2B5EF4-FFF2-40B4-BE49-F238E27FC236}">
                <a16:creationId xmlns:a16="http://schemas.microsoft.com/office/drawing/2014/main" id="{4FE1B9A1-8F91-8288-307D-05B3748908D8}"/>
              </a:ext>
            </a:extLst>
          </p:cNvPr>
          <p:cNvPicPr>
            <a:picLocks noChangeAspect="1"/>
          </p:cNvPicPr>
          <p:nvPr/>
        </p:nvPicPr>
        <p:blipFill>
          <a:blip r:embed="rId4"/>
          <a:srcRect r="6383"/>
          <a:stretch>
            <a:fillRect/>
          </a:stretch>
        </p:blipFill>
        <p:spPr>
          <a:xfrm>
            <a:off x="-1" y="813346"/>
            <a:ext cx="6096001" cy="5961173"/>
          </a:xfrm>
          <a:prstGeom prst="rect">
            <a:avLst/>
          </a:prstGeom>
        </p:spPr>
      </p:pic>
      <p:sp>
        <p:nvSpPr>
          <p:cNvPr id="3" name="Rectangle 2">
            <a:extLst>
              <a:ext uri="{FF2B5EF4-FFF2-40B4-BE49-F238E27FC236}">
                <a16:creationId xmlns:a16="http://schemas.microsoft.com/office/drawing/2014/main" id="{4156B304-BCB1-AFDC-AA58-8ADAFCC4771D}"/>
              </a:ext>
            </a:extLst>
          </p:cNvPr>
          <p:cNvSpPr/>
          <p:nvPr/>
        </p:nvSpPr>
        <p:spPr>
          <a:xfrm>
            <a:off x="249014" y="1082542"/>
            <a:ext cx="295775" cy="87516"/>
          </a:xfrm>
          <a:prstGeom prst="rect">
            <a:avLst/>
          </a:prstGeom>
          <a:solidFill>
            <a:srgbClr val="CA181C"/>
          </a:solidFill>
          <a:ln>
            <a:solidFill>
              <a:srgbClr val="CA18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Rectangle 3">
            <a:extLst>
              <a:ext uri="{FF2B5EF4-FFF2-40B4-BE49-F238E27FC236}">
                <a16:creationId xmlns:a16="http://schemas.microsoft.com/office/drawing/2014/main" id="{7EC1A47D-0AFB-5C8F-BFF3-49AC80F9AA3B}"/>
              </a:ext>
            </a:extLst>
          </p:cNvPr>
          <p:cNvSpPr/>
          <p:nvPr/>
        </p:nvSpPr>
        <p:spPr>
          <a:xfrm>
            <a:off x="249014" y="1418021"/>
            <a:ext cx="295775" cy="87516"/>
          </a:xfrm>
          <a:prstGeom prst="rect">
            <a:avLst/>
          </a:prstGeom>
          <a:solidFill>
            <a:srgbClr val="2500F5"/>
          </a:solidFill>
          <a:ln>
            <a:solidFill>
              <a:srgbClr val="2500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 name="文本框 3">
            <a:extLst>
              <a:ext uri="{FF2B5EF4-FFF2-40B4-BE49-F238E27FC236}">
                <a16:creationId xmlns:a16="http://schemas.microsoft.com/office/drawing/2014/main" id="{BFD2317F-1B8F-0214-F13A-3E6841910344}"/>
              </a:ext>
            </a:extLst>
          </p:cNvPr>
          <p:cNvSpPr txBox="1"/>
          <p:nvPr/>
        </p:nvSpPr>
        <p:spPr>
          <a:xfrm>
            <a:off x="544789" y="946703"/>
            <a:ext cx="512486" cy="359193"/>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C</a:t>
            </a:r>
            <a:r>
              <a:rPr lang="en-US" altLang="zh-CN" baseline="-25000" dirty="0">
                <a:solidFill>
                  <a:srgbClr val="FF0000"/>
                </a:solidFill>
                <a:latin typeface="Arial" panose="020B0604020202020204" pitchFamily="34" charset="0"/>
                <a:cs typeface="Arial" panose="020B0604020202020204" pitchFamily="34" charset="0"/>
              </a:rPr>
              <a:t>4</a:t>
            </a:r>
          </a:p>
        </p:txBody>
      </p:sp>
      <p:sp>
        <p:nvSpPr>
          <p:cNvPr id="6" name="文本框 3">
            <a:extLst>
              <a:ext uri="{FF2B5EF4-FFF2-40B4-BE49-F238E27FC236}">
                <a16:creationId xmlns:a16="http://schemas.microsoft.com/office/drawing/2014/main" id="{6F544164-D795-7AC8-1F5A-DE790C190D7F}"/>
              </a:ext>
            </a:extLst>
          </p:cNvPr>
          <p:cNvSpPr txBox="1"/>
          <p:nvPr/>
        </p:nvSpPr>
        <p:spPr>
          <a:xfrm>
            <a:off x="544789" y="1290776"/>
            <a:ext cx="512487" cy="359193"/>
          </a:xfrm>
          <a:prstGeom prst="rect">
            <a:avLst/>
          </a:prstGeom>
        </p:spPr>
        <p:txBody>
          <a:bodyPr>
            <a:noAutofit/>
          </a:bodyPr>
          <a:lstStyle/>
          <a:p>
            <a:pPr>
              <a:spcBef>
                <a:spcPts val="400"/>
              </a:spcBef>
              <a:spcAft>
                <a:spcPct val="0"/>
              </a:spcAft>
            </a:pPr>
            <a:r>
              <a:rPr lang="en-US" altLang="zh-CN" dirty="0">
                <a:solidFill>
                  <a:srgbClr val="2500F5"/>
                </a:solidFill>
                <a:latin typeface="Arial" panose="020B0604020202020204" pitchFamily="34" charset="0"/>
                <a:cs typeface="Arial" panose="020B0604020202020204" pitchFamily="34" charset="0"/>
              </a:rPr>
              <a:t>C</a:t>
            </a:r>
            <a:r>
              <a:rPr lang="en-US" altLang="zh-CN" baseline="-25000" dirty="0">
                <a:solidFill>
                  <a:srgbClr val="2500F5"/>
                </a:solidFill>
                <a:latin typeface="Arial" panose="020B0604020202020204" pitchFamily="34" charset="0"/>
                <a:cs typeface="Arial" panose="020B0604020202020204" pitchFamily="34" charset="0"/>
              </a:rPr>
              <a:t>3</a:t>
            </a:r>
          </a:p>
        </p:txBody>
      </p:sp>
      <p:sp>
        <p:nvSpPr>
          <p:cNvPr id="7" name="文本框 3">
            <a:extLst>
              <a:ext uri="{FF2B5EF4-FFF2-40B4-BE49-F238E27FC236}">
                <a16:creationId xmlns:a16="http://schemas.microsoft.com/office/drawing/2014/main" id="{89948F08-0273-B6B5-4185-B81FA9DAC03C}"/>
              </a:ext>
            </a:extLst>
          </p:cNvPr>
          <p:cNvSpPr txBox="1"/>
          <p:nvPr/>
        </p:nvSpPr>
        <p:spPr>
          <a:xfrm>
            <a:off x="6148771" y="5904805"/>
            <a:ext cx="5956300" cy="602592"/>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Can the model recognize genomic signatures associated with C4 genes in Poaceae?</a:t>
            </a:r>
          </a:p>
        </p:txBody>
      </p:sp>
      <p:sp>
        <p:nvSpPr>
          <p:cNvPr id="8" name="文本框 3">
            <a:extLst>
              <a:ext uri="{FF2B5EF4-FFF2-40B4-BE49-F238E27FC236}">
                <a16:creationId xmlns:a16="http://schemas.microsoft.com/office/drawing/2014/main" id="{2B5E4706-556C-F73D-A141-F83A0620C0C8}"/>
              </a:ext>
            </a:extLst>
          </p:cNvPr>
          <p:cNvSpPr txBox="1"/>
          <p:nvPr/>
        </p:nvSpPr>
        <p:spPr>
          <a:xfrm>
            <a:off x="6096001" y="958372"/>
            <a:ext cx="4559558" cy="2356328"/>
          </a:xfrm>
          <a:prstGeom prst="rect">
            <a:avLst/>
          </a:prstGeom>
        </p:spPr>
        <p:txBody>
          <a:bodyPr>
            <a:noAutofit/>
          </a:bodyPr>
          <a:lstStyle/>
          <a:p>
            <a:pPr>
              <a:spcBef>
                <a:spcPts val="400"/>
              </a:spcBef>
              <a:spcAft>
                <a:spcPct val="0"/>
              </a:spcAft>
            </a:pPr>
            <a:r>
              <a:rPr lang="en-US" altLang="zh-CN" b="1" dirty="0">
                <a:latin typeface="Arial" panose="020B0604020202020204" pitchFamily="34" charset="0"/>
                <a:cs typeface="Arial" panose="020B0604020202020204" pitchFamily="34" charset="0"/>
              </a:rPr>
              <a:t>Genes related to C4 photosynthesis:</a:t>
            </a:r>
          </a:p>
          <a:p>
            <a:pPr marL="285750" indent="-285750">
              <a:spcBef>
                <a:spcPts val="400"/>
              </a:spcBef>
              <a:spcAft>
                <a:spcPct val="0"/>
              </a:spcAft>
              <a:buFont typeface="Arial" panose="020B0604020202020204" pitchFamily="34" charset="0"/>
              <a:buChar char="•"/>
            </a:pPr>
            <a:r>
              <a:rPr lang="en-US" altLang="zh-CN" b="1" dirty="0">
                <a:latin typeface="Arial" panose="020B0604020202020204" pitchFamily="34" charset="0"/>
                <a:cs typeface="Arial" panose="020B0604020202020204" pitchFamily="34" charset="0"/>
              </a:rPr>
              <a:t>PEPC</a:t>
            </a:r>
          </a:p>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NADP-ME</a:t>
            </a:r>
          </a:p>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NAD-ME</a:t>
            </a:r>
          </a:p>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PPDK</a:t>
            </a:r>
          </a:p>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PCK/PPCK</a:t>
            </a:r>
          </a:p>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CA</a:t>
            </a:r>
          </a:p>
        </p:txBody>
      </p:sp>
      <p:sp>
        <p:nvSpPr>
          <p:cNvPr id="9" name="文本框 3">
            <a:extLst>
              <a:ext uri="{FF2B5EF4-FFF2-40B4-BE49-F238E27FC236}">
                <a16:creationId xmlns:a16="http://schemas.microsoft.com/office/drawing/2014/main" id="{669AC027-7C72-7926-C7EB-F245ADA9ADAF}"/>
              </a:ext>
            </a:extLst>
          </p:cNvPr>
          <p:cNvSpPr txBox="1"/>
          <p:nvPr/>
        </p:nvSpPr>
        <p:spPr>
          <a:xfrm>
            <a:off x="8355432" y="1271092"/>
            <a:ext cx="1542978" cy="2088570"/>
          </a:xfrm>
          <a:prstGeom prst="rect">
            <a:avLst/>
          </a:prstGeom>
        </p:spPr>
        <p:txBody>
          <a:bodyPr>
            <a:noAutofit/>
          </a:bodyPr>
          <a:lstStyle/>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PEPCK</a:t>
            </a:r>
          </a:p>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PPT1</a:t>
            </a:r>
          </a:p>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DCT</a:t>
            </a:r>
          </a:p>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BASS2</a:t>
            </a:r>
          </a:p>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DiT1</a:t>
            </a:r>
          </a:p>
          <a:p>
            <a:pPr marL="285750" indent="-285750">
              <a:spcBef>
                <a:spcPts val="400"/>
              </a:spcBef>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DiT2</a:t>
            </a:r>
          </a:p>
        </p:txBody>
      </p:sp>
      <p:sp>
        <p:nvSpPr>
          <p:cNvPr id="10" name="Rectangle 9">
            <a:extLst>
              <a:ext uri="{FF2B5EF4-FFF2-40B4-BE49-F238E27FC236}">
                <a16:creationId xmlns:a16="http://schemas.microsoft.com/office/drawing/2014/main" id="{E915548B-24EC-D4EB-1F1E-E5552E7609A0}"/>
              </a:ext>
            </a:extLst>
          </p:cNvPr>
          <p:cNvSpPr/>
          <p:nvPr/>
        </p:nvSpPr>
        <p:spPr>
          <a:xfrm>
            <a:off x="6445142" y="4162435"/>
            <a:ext cx="5502166" cy="233043"/>
          </a:xfrm>
          <a:prstGeom prst="rect">
            <a:avLst/>
          </a:prstGeom>
          <a:solidFill>
            <a:srgbClr val="0E606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rgbClr val="F86E68"/>
              </a:solidFill>
            </a:endParaRPr>
          </a:p>
        </p:txBody>
      </p:sp>
      <p:sp>
        <p:nvSpPr>
          <p:cNvPr id="13" name="Rectangle 12">
            <a:extLst>
              <a:ext uri="{FF2B5EF4-FFF2-40B4-BE49-F238E27FC236}">
                <a16:creationId xmlns:a16="http://schemas.microsoft.com/office/drawing/2014/main" id="{71EA9016-A960-8D6B-CEA8-10180732CF9F}"/>
              </a:ext>
            </a:extLst>
          </p:cNvPr>
          <p:cNvSpPr/>
          <p:nvPr/>
        </p:nvSpPr>
        <p:spPr>
          <a:xfrm>
            <a:off x="8130604" y="4162434"/>
            <a:ext cx="2137719" cy="233043"/>
          </a:xfrm>
          <a:prstGeom prst="rect">
            <a:avLst/>
          </a:prstGeom>
          <a:solidFill>
            <a:srgbClr val="FFC44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rgbClr val="F86E68"/>
              </a:solidFill>
            </a:endParaRPr>
          </a:p>
        </p:txBody>
      </p:sp>
      <p:sp>
        <p:nvSpPr>
          <p:cNvPr id="14" name="Right Brace 13">
            <a:extLst>
              <a:ext uri="{FF2B5EF4-FFF2-40B4-BE49-F238E27FC236}">
                <a16:creationId xmlns:a16="http://schemas.microsoft.com/office/drawing/2014/main" id="{BF761A77-A064-93DC-F27C-F11AE2B0D147}"/>
              </a:ext>
            </a:extLst>
          </p:cNvPr>
          <p:cNvSpPr/>
          <p:nvPr/>
        </p:nvSpPr>
        <p:spPr>
          <a:xfrm rot="16200000">
            <a:off x="7151582" y="3181265"/>
            <a:ext cx="233041" cy="1645921"/>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5" name="Right Brace 14">
            <a:extLst>
              <a:ext uri="{FF2B5EF4-FFF2-40B4-BE49-F238E27FC236}">
                <a16:creationId xmlns:a16="http://schemas.microsoft.com/office/drawing/2014/main" id="{A57DB6F0-A147-4227-E81F-ABBD0F2D8FD3}"/>
              </a:ext>
            </a:extLst>
          </p:cNvPr>
          <p:cNvSpPr/>
          <p:nvPr/>
        </p:nvSpPr>
        <p:spPr>
          <a:xfrm rot="16200000">
            <a:off x="10974763" y="3162776"/>
            <a:ext cx="233041" cy="1645921"/>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6" name="文本框 3">
            <a:extLst>
              <a:ext uri="{FF2B5EF4-FFF2-40B4-BE49-F238E27FC236}">
                <a16:creationId xmlns:a16="http://schemas.microsoft.com/office/drawing/2014/main" id="{99ED89C0-EC93-48AF-F888-4B17EF6CDD00}"/>
              </a:ext>
            </a:extLst>
          </p:cNvPr>
          <p:cNvSpPr txBox="1"/>
          <p:nvPr/>
        </p:nvSpPr>
        <p:spPr>
          <a:xfrm>
            <a:off x="8613005" y="4107643"/>
            <a:ext cx="1133375" cy="374786"/>
          </a:xfrm>
          <a:prstGeom prst="rect">
            <a:avLst/>
          </a:prstGeom>
        </p:spPr>
        <p:txBody>
          <a:bodyPr>
            <a:noAutofit/>
          </a:bodyPr>
          <a:lstStyle/>
          <a:p>
            <a:pPr algn="ctr">
              <a:spcBef>
                <a:spcPts val="400"/>
              </a:spcBef>
              <a:spcAft>
                <a:spcPct val="0"/>
              </a:spcAft>
            </a:pPr>
            <a:r>
              <a:rPr lang="en-US" altLang="zh-CN" sz="1600" dirty="0">
                <a:latin typeface="Arial" panose="020B0604020202020204" pitchFamily="34" charset="0"/>
                <a:cs typeface="Arial" panose="020B0604020202020204" pitchFamily="34" charset="0"/>
              </a:rPr>
              <a:t>PEPC</a:t>
            </a:r>
          </a:p>
        </p:txBody>
      </p:sp>
      <p:sp>
        <p:nvSpPr>
          <p:cNvPr id="17" name="文本框 3">
            <a:extLst>
              <a:ext uri="{FF2B5EF4-FFF2-40B4-BE49-F238E27FC236}">
                <a16:creationId xmlns:a16="http://schemas.microsoft.com/office/drawing/2014/main" id="{4CA88EC0-B0A6-3B26-DB59-4588969AD2CE}"/>
              </a:ext>
            </a:extLst>
          </p:cNvPr>
          <p:cNvSpPr txBox="1"/>
          <p:nvPr/>
        </p:nvSpPr>
        <p:spPr>
          <a:xfrm>
            <a:off x="6364128" y="3471229"/>
            <a:ext cx="1807948" cy="374786"/>
          </a:xfrm>
          <a:prstGeom prst="rect">
            <a:avLst/>
          </a:prstGeom>
        </p:spPr>
        <p:txBody>
          <a:bodyPr>
            <a:noAutofit/>
          </a:bodyPr>
          <a:lstStyle/>
          <a:p>
            <a:pPr>
              <a:spcBef>
                <a:spcPts val="400"/>
              </a:spcBef>
              <a:spcAft>
                <a:spcPct val="0"/>
              </a:spcAft>
            </a:pPr>
            <a:r>
              <a:rPr lang="en-US" altLang="zh-CN" sz="1600" dirty="0">
                <a:latin typeface="Arial" panose="020B0604020202020204" pitchFamily="34" charset="0"/>
                <a:cs typeface="Arial" panose="020B0604020202020204" pitchFamily="34" charset="0"/>
              </a:rPr>
              <a:t>1-3 kb upstream</a:t>
            </a:r>
          </a:p>
        </p:txBody>
      </p:sp>
      <p:sp>
        <p:nvSpPr>
          <p:cNvPr id="18" name="文本框 3">
            <a:extLst>
              <a:ext uri="{FF2B5EF4-FFF2-40B4-BE49-F238E27FC236}">
                <a16:creationId xmlns:a16="http://schemas.microsoft.com/office/drawing/2014/main" id="{4172C60C-6E87-E2B3-03BE-21F81D95BD5A}"/>
              </a:ext>
            </a:extLst>
          </p:cNvPr>
          <p:cNvSpPr txBox="1"/>
          <p:nvPr/>
        </p:nvSpPr>
        <p:spPr>
          <a:xfrm>
            <a:off x="10077494" y="3494429"/>
            <a:ext cx="2027577" cy="374786"/>
          </a:xfrm>
          <a:prstGeom prst="rect">
            <a:avLst/>
          </a:prstGeom>
        </p:spPr>
        <p:txBody>
          <a:bodyPr>
            <a:noAutofit/>
          </a:bodyPr>
          <a:lstStyle/>
          <a:p>
            <a:pPr>
              <a:spcBef>
                <a:spcPts val="400"/>
              </a:spcBef>
              <a:spcAft>
                <a:spcPct val="0"/>
              </a:spcAft>
            </a:pPr>
            <a:r>
              <a:rPr lang="en-US" altLang="zh-CN" sz="1600" dirty="0">
                <a:latin typeface="Arial" panose="020B0604020202020204" pitchFamily="34" charset="0"/>
                <a:cs typeface="Arial" panose="020B0604020202020204" pitchFamily="34" charset="0"/>
              </a:rPr>
              <a:t>1-3 kb downstream</a:t>
            </a:r>
          </a:p>
        </p:txBody>
      </p:sp>
      <p:sp>
        <p:nvSpPr>
          <p:cNvPr id="19" name="文本框 3">
            <a:extLst>
              <a:ext uri="{FF2B5EF4-FFF2-40B4-BE49-F238E27FC236}">
                <a16:creationId xmlns:a16="http://schemas.microsoft.com/office/drawing/2014/main" id="{8D998C87-B716-9C1B-5F30-6D70A578B080}"/>
              </a:ext>
            </a:extLst>
          </p:cNvPr>
          <p:cNvSpPr txBox="1"/>
          <p:nvPr/>
        </p:nvSpPr>
        <p:spPr>
          <a:xfrm>
            <a:off x="6148771" y="4638959"/>
            <a:ext cx="5956300" cy="1178893"/>
          </a:xfrm>
          <a:prstGeom prst="rect">
            <a:avLst/>
          </a:prstGeom>
        </p:spPr>
        <p:txBody>
          <a:bodyPr>
            <a:noAutofit/>
          </a:bodyPr>
          <a:lstStyle/>
          <a:p>
            <a:pPr>
              <a:spcAft>
                <a:spcPct val="0"/>
              </a:spcAft>
            </a:pPr>
            <a:r>
              <a:rPr lang="en-US" altLang="zh-CN" dirty="0">
                <a:latin typeface="Arial" panose="020B0604020202020204" pitchFamily="34" charset="0"/>
                <a:cs typeface="Arial" panose="020B0604020202020204" pitchFamily="34" charset="0"/>
              </a:rPr>
              <a:t>Data structure:</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Positive = C4 regulatory sequence</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Negative = C3 ortholog regulatory sequence</a:t>
            </a:r>
          </a:p>
        </p:txBody>
      </p:sp>
    </p:spTree>
    <p:extLst>
      <p:ext uri="{BB962C8B-B14F-4D97-AF65-F5344CB8AC3E}">
        <p14:creationId xmlns:p14="http://schemas.microsoft.com/office/powerpoint/2010/main" val="3287551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5C8B9-95F1-34FE-1982-4D59D50545BE}"/>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129200E3-FAD0-CD8C-2C8A-E6B9FEA41813}"/>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C4 Convergent Sites</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9D486253-25CB-E380-054E-826340B8FB4B}"/>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7" name="文本框 3">
            <a:extLst>
              <a:ext uri="{FF2B5EF4-FFF2-40B4-BE49-F238E27FC236}">
                <a16:creationId xmlns:a16="http://schemas.microsoft.com/office/drawing/2014/main" id="{50C486BE-7B5C-FF5E-CB93-8F664A57BAD0}"/>
              </a:ext>
            </a:extLst>
          </p:cNvPr>
          <p:cNvSpPr txBox="1"/>
          <p:nvPr/>
        </p:nvSpPr>
        <p:spPr>
          <a:xfrm>
            <a:off x="7722522" y="4894748"/>
            <a:ext cx="4359148" cy="977861"/>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Can the model recognize genomic signatures associated with </a:t>
            </a:r>
            <a:r>
              <a:rPr lang="en-US" altLang="zh-CN" b="1" dirty="0">
                <a:solidFill>
                  <a:srgbClr val="FF0000"/>
                </a:solidFill>
                <a:latin typeface="Arial" panose="020B0604020202020204" pitchFamily="34" charset="0"/>
                <a:cs typeface="Arial" panose="020B0604020202020204" pitchFamily="34" charset="0"/>
              </a:rPr>
              <a:t>convergent</a:t>
            </a:r>
            <a:r>
              <a:rPr lang="en-US" altLang="zh-CN" dirty="0">
                <a:solidFill>
                  <a:srgbClr val="FF0000"/>
                </a:solidFill>
                <a:latin typeface="Arial" panose="020B0604020202020204" pitchFamily="34" charset="0"/>
                <a:cs typeface="Arial" panose="020B0604020202020204" pitchFamily="34" charset="0"/>
              </a:rPr>
              <a:t> C4 genes in Poaceae?</a:t>
            </a:r>
          </a:p>
        </p:txBody>
      </p:sp>
      <p:pic>
        <p:nvPicPr>
          <p:cNvPr id="11" name="Picture 10">
            <a:extLst>
              <a:ext uri="{FF2B5EF4-FFF2-40B4-BE49-F238E27FC236}">
                <a16:creationId xmlns:a16="http://schemas.microsoft.com/office/drawing/2014/main" id="{5AE5EE26-E0D6-B220-3CC1-F63D881FEBE5}"/>
              </a:ext>
            </a:extLst>
          </p:cNvPr>
          <p:cNvPicPr>
            <a:picLocks noChangeAspect="1"/>
          </p:cNvPicPr>
          <p:nvPr/>
        </p:nvPicPr>
        <p:blipFill>
          <a:blip r:embed="rId4"/>
          <a:stretch>
            <a:fillRect/>
          </a:stretch>
        </p:blipFill>
        <p:spPr>
          <a:xfrm>
            <a:off x="4749484" y="978203"/>
            <a:ext cx="6997539" cy="2596571"/>
          </a:xfrm>
          <a:prstGeom prst="rect">
            <a:avLst/>
          </a:prstGeom>
        </p:spPr>
      </p:pic>
      <p:sp>
        <p:nvSpPr>
          <p:cNvPr id="21" name="文本框 3">
            <a:extLst>
              <a:ext uri="{FF2B5EF4-FFF2-40B4-BE49-F238E27FC236}">
                <a16:creationId xmlns:a16="http://schemas.microsoft.com/office/drawing/2014/main" id="{22FC78A2-0CC1-74AB-2302-0E2805394365}"/>
              </a:ext>
            </a:extLst>
          </p:cNvPr>
          <p:cNvSpPr txBox="1"/>
          <p:nvPr/>
        </p:nvSpPr>
        <p:spPr>
          <a:xfrm>
            <a:off x="324635" y="978203"/>
            <a:ext cx="4853540" cy="2669123"/>
          </a:xfrm>
          <a:prstGeom prst="rect">
            <a:avLst/>
          </a:prstGeom>
        </p:spPr>
        <p:txBody>
          <a:bodyPr>
            <a:noAutofit/>
          </a:bodyPr>
          <a:lstStyle/>
          <a:p>
            <a:pPr>
              <a:spcAft>
                <a:spcPct val="0"/>
              </a:spcAft>
            </a:pPr>
            <a:r>
              <a:rPr lang="en-US" altLang="zh-CN" b="1" dirty="0">
                <a:latin typeface="Arial" panose="020B0604020202020204" pitchFamily="34" charset="0"/>
                <a:cs typeface="Arial" panose="020B0604020202020204" pitchFamily="34" charset="0"/>
              </a:rPr>
              <a:t>Conserved sites labeling:</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PEPC, NADP-ME, PPDK orthologs</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Multiple sequence alignment</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Gene tree</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PCOC or CSUBST</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Convergent sites</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Map protein sites → CDS</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Extract sequence window</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Negative control (non-convergent sites)</a:t>
            </a:r>
          </a:p>
          <a:p>
            <a:pPr>
              <a:spcAft>
                <a:spcPct val="0"/>
              </a:spcAft>
            </a:pPr>
            <a:endParaRPr lang="en-US" altLang="zh-CN" dirty="0">
              <a:latin typeface="Arial" panose="020B0604020202020204" pitchFamily="34" charset="0"/>
              <a:cs typeface="Arial" panose="020B0604020202020204" pitchFamily="34" charset="0"/>
            </a:endParaRPr>
          </a:p>
        </p:txBody>
      </p:sp>
      <p:pic>
        <p:nvPicPr>
          <p:cNvPr id="26" name="Picture 25">
            <a:extLst>
              <a:ext uri="{FF2B5EF4-FFF2-40B4-BE49-F238E27FC236}">
                <a16:creationId xmlns:a16="http://schemas.microsoft.com/office/drawing/2014/main" id="{8D8BA8BC-FF12-6D08-4C99-E3B3038DF274}"/>
              </a:ext>
            </a:extLst>
          </p:cNvPr>
          <p:cNvPicPr>
            <a:picLocks noChangeAspect="1"/>
          </p:cNvPicPr>
          <p:nvPr/>
        </p:nvPicPr>
        <p:blipFill>
          <a:blip r:embed="rId5"/>
          <a:srcRect l="971" b="3903"/>
          <a:stretch>
            <a:fillRect/>
          </a:stretch>
        </p:blipFill>
        <p:spPr>
          <a:xfrm>
            <a:off x="295584" y="4938516"/>
            <a:ext cx="7153422" cy="1510863"/>
          </a:xfrm>
          <a:prstGeom prst="rect">
            <a:avLst/>
          </a:prstGeom>
        </p:spPr>
      </p:pic>
      <p:pic>
        <p:nvPicPr>
          <p:cNvPr id="27" name="Picture 26">
            <a:extLst>
              <a:ext uri="{FF2B5EF4-FFF2-40B4-BE49-F238E27FC236}">
                <a16:creationId xmlns:a16="http://schemas.microsoft.com/office/drawing/2014/main" id="{8483574E-BA36-B53F-5174-DA9D0182C759}"/>
              </a:ext>
            </a:extLst>
          </p:cNvPr>
          <p:cNvPicPr>
            <a:picLocks noChangeAspect="1"/>
          </p:cNvPicPr>
          <p:nvPr/>
        </p:nvPicPr>
        <p:blipFill>
          <a:blip r:embed="rId6"/>
          <a:srcRect t="7958"/>
          <a:stretch>
            <a:fillRect/>
          </a:stretch>
        </p:blipFill>
        <p:spPr>
          <a:xfrm>
            <a:off x="295583" y="3926789"/>
            <a:ext cx="7153422" cy="967959"/>
          </a:xfrm>
          <a:prstGeom prst="rect">
            <a:avLst/>
          </a:prstGeom>
        </p:spPr>
      </p:pic>
      <p:sp>
        <p:nvSpPr>
          <p:cNvPr id="28" name="文本框 3">
            <a:extLst>
              <a:ext uri="{FF2B5EF4-FFF2-40B4-BE49-F238E27FC236}">
                <a16:creationId xmlns:a16="http://schemas.microsoft.com/office/drawing/2014/main" id="{12BF5C44-D05D-F803-98A0-126134B356E6}"/>
              </a:ext>
            </a:extLst>
          </p:cNvPr>
          <p:cNvSpPr txBox="1"/>
          <p:nvPr/>
        </p:nvSpPr>
        <p:spPr>
          <a:xfrm>
            <a:off x="295584" y="6563804"/>
            <a:ext cx="4359148" cy="294196"/>
          </a:xfrm>
          <a:prstGeom prst="rect">
            <a:avLst/>
          </a:prstGeom>
        </p:spPr>
        <p:txBody>
          <a:bodyPr>
            <a:noAutofit/>
          </a:bodyPr>
          <a:lstStyle/>
          <a:p>
            <a:pPr>
              <a:spcBef>
                <a:spcPts val="400"/>
              </a:spcBef>
              <a:spcAft>
                <a:spcPct val="0"/>
              </a:spcAft>
            </a:pPr>
            <a:r>
              <a:rPr lang="en-US" altLang="zh-CN" sz="1000" i="1" dirty="0">
                <a:latin typeface="Arial" panose="020B0604020202020204" pitchFamily="34" charset="0"/>
                <a:cs typeface="Arial" panose="020B0604020202020204" pitchFamily="34" charset="0"/>
              </a:rPr>
              <a:t>https://</a:t>
            </a:r>
            <a:r>
              <a:rPr lang="en-US" altLang="zh-CN" sz="1000" i="1" dirty="0" err="1">
                <a:latin typeface="Arial" panose="020B0604020202020204" pitchFamily="34" charset="0"/>
                <a:cs typeface="Arial" panose="020B0604020202020204" pitchFamily="34" charset="0"/>
              </a:rPr>
              <a:t>doi.org</a:t>
            </a:r>
            <a:r>
              <a:rPr lang="en-US" altLang="zh-CN" sz="1000" i="1" dirty="0">
                <a:latin typeface="Arial" panose="020B0604020202020204" pitchFamily="34" charset="0"/>
                <a:cs typeface="Arial" panose="020B0604020202020204" pitchFamily="34" charset="0"/>
              </a:rPr>
              <a:t>/10.1093/</a:t>
            </a:r>
            <a:r>
              <a:rPr lang="en-US" altLang="zh-CN" sz="1000" i="1" dirty="0" err="1">
                <a:latin typeface="Arial" panose="020B0604020202020204" pitchFamily="34" charset="0"/>
                <a:cs typeface="Arial" panose="020B0604020202020204" pitchFamily="34" charset="0"/>
              </a:rPr>
              <a:t>gbe</a:t>
            </a:r>
            <a:r>
              <a:rPr lang="en-US" altLang="zh-CN" sz="1000" i="1" dirty="0">
                <a:latin typeface="Arial" panose="020B0604020202020204" pitchFamily="34" charset="0"/>
                <a:cs typeface="Arial" panose="020B0604020202020204" pitchFamily="34" charset="0"/>
              </a:rPr>
              <a:t>/evae163</a:t>
            </a:r>
          </a:p>
        </p:txBody>
      </p:sp>
    </p:spTree>
    <p:extLst>
      <p:ext uri="{BB962C8B-B14F-4D97-AF65-F5344CB8AC3E}">
        <p14:creationId xmlns:p14="http://schemas.microsoft.com/office/powerpoint/2010/main" val="3800093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84A6D-0223-1502-DB2D-1064BFE0F71E}"/>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5023928C-3D95-581B-7212-673ECB0D0549}"/>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Gene Family Evolution</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C7D626E6-8669-3D81-8EC2-7299B5E3AE79}"/>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9" name="文本框 3">
            <a:extLst>
              <a:ext uri="{FF2B5EF4-FFF2-40B4-BE49-F238E27FC236}">
                <a16:creationId xmlns:a16="http://schemas.microsoft.com/office/drawing/2014/main" id="{A0CC01D6-AFA3-E4F5-7697-6D45FA65DD36}"/>
              </a:ext>
            </a:extLst>
          </p:cNvPr>
          <p:cNvSpPr txBox="1"/>
          <p:nvPr/>
        </p:nvSpPr>
        <p:spPr>
          <a:xfrm>
            <a:off x="303575" y="4815006"/>
            <a:ext cx="4771716" cy="1043858"/>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Can the model identify sequence signatures associated with gene-family evolutionary dynamics?</a:t>
            </a:r>
          </a:p>
        </p:txBody>
      </p:sp>
      <p:pic>
        <p:nvPicPr>
          <p:cNvPr id="10" name="Picture 9">
            <a:extLst>
              <a:ext uri="{FF2B5EF4-FFF2-40B4-BE49-F238E27FC236}">
                <a16:creationId xmlns:a16="http://schemas.microsoft.com/office/drawing/2014/main" id="{8EF08D52-8D3B-1775-DF22-6159BA873902}"/>
              </a:ext>
            </a:extLst>
          </p:cNvPr>
          <p:cNvPicPr>
            <a:picLocks noChangeAspect="1"/>
          </p:cNvPicPr>
          <p:nvPr/>
        </p:nvPicPr>
        <p:blipFill>
          <a:blip r:embed="rId4"/>
          <a:srcRect t="14207" r="20669"/>
          <a:stretch>
            <a:fillRect/>
          </a:stretch>
        </p:blipFill>
        <p:spPr>
          <a:xfrm>
            <a:off x="303575" y="1018164"/>
            <a:ext cx="5329686" cy="3091903"/>
          </a:xfrm>
          <a:prstGeom prst="rect">
            <a:avLst/>
          </a:prstGeom>
        </p:spPr>
      </p:pic>
      <p:sp>
        <p:nvSpPr>
          <p:cNvPr id="11" name="文本框 3">
            <a:extLst>
              <a:ext uri="{FF2B5EF4-FFF2-40B4-BE49-F238E27FC236}">
                <a16:creationId xmlns:a16="http://schemas.microsoft.com/office/drawing/2014/main" id="{AB458D59-2E3A-B127-0D09-A1648B3B7724}"/>
              </a:ext>
            </a:extLst>
          </p:cNvPr>
          <p:cNvSpPr txBox="1"/>
          <p:nvPr/>
        </p:nvSpPr>
        <p:spPr>
          <a:xfrm>
            <a:off x="6096000" y="1310955"/>
            <a:ext cx="5554532" cy="1864321"/>
          </a:xfrm>
          <a:prstGeom prst="rect">
            <a:avLst/>
          </a:prstGeom>
        </p:spPr>
        <p:txBody>
          <a:bodyPr>
            <a:noAutofit/>
          </a:bodyPr>
          <a:lstStyle/>
          <a:p>
            <a:pPr>
              <a:spcAft>
                <a:spcPct val="0"/>
              </a:spcAft>
            </a:pPr>
            <a:r>
              <a:rPr lang="en-US" altLang="zh-CN" b="1" dirty="0">
                <a:latin typeface="Arial" panose="020B0604020202020204" pitchFamily="34" charset="0"/>
                <a:cs typeface="Arial" panose="020B0604020202020204" pitchFamily="34" charset="0"/>
              </a:rPr>
              <a:t>Gene family labeling procedure</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Protein with map back to it DNA sequence</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Construct </a:t>
            </a:r>
            <a:r>
              <a:rPr lang="en-US" altLang="zh-CN" dirty="0" err="1">
                <a:latin typeface="Arial" panose="020B0604020202020204" pitchFamily="34" charset="0"/>
                <a:cs typeface="Arial" panose="020B0604020202020204" pitchFamily="34" charset="0"/>
              </a:rPr>
              <a:t>orthogroups</a:t>
            </a:r>
            <a:r>
              <a:rPr lang="en-US" altLang="zh-CN" dirty="0">
                <a:latin typeface="Arial" panose="020B0604020202020204" pitchFamily="34" charset="0"/>
                <a:cs typeface="Arial" panose="020B0604020202020204" pitchFamily="34" charset="0"/>
              </a:rPr>
              <a:t> with </a:t>
            </a:r>
            <a:r>
              <a:rPr lang="en-US" altLang="zh-CN" dirty="0" err="1">
                <a:latin typeface="Arial" panose="020B0604020202020204" pitchFamily="34" charset="0"/>
                <a:cs typeface="Arial" panose="020B0604020202020204" pitchFamily="34" charset="0"/>
              </a:rPr>
              <a:t>OrthoFinder</a:t>
            </a:r>
            <a:r>
              <a:rPr lang="en-US" altLang="zh-CN" dirty="0">
                <a:latin typeface="Arial" panose="020B0604020202020204" pitchFamily="34" charset="0"/>
                <a:cs typeface="Arial" panose="020B0604020202020204" pitchFamily="34" charset="0"/>
              </a:rPr>
              <a:t> or SonicParanoid2</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Gene family evolution inference with CAFE5 or Count with Wagner algorithm</a:t>
            </a:r>
          </a:p>
          <a:p>
            <a:pPr marL="342900" indent="-342900">
              <a:spcAft>
                <a:spcPct val="0"/>
              </a:spcAft>
              <a:buFont typeface="+mj-lt"/>
              <a:buAutoNum type="arabicPeriod"/>
            </a:pPr>
            <a:endParaRPr lang="en-US" altLang="zh-CN" dirty="0">
              <a:latin typeface="Arial" panose="020B0604020202020204" pitchFamily="34" charset="0"/>
              <a:cs typeface="Arial" panose="020B0604020202020204" pitchFamily="34" charset="0"/>
            </a:endParaRPr>
          </a:p>
          <a:p>
            <a:pPr>
              <a:spcAft>
                <a:spcPct val="0"/>
              </a:spcAft>
            </a:pPr>
            <a:endParaRPr lang="en-US" altLang="zh-CN" dirty="0">
              <a:latin typeface="Arial" panose="020B0604020202020204" pitchFamily="34" charset="0"/>
              <a:cs typeface="Arial" panose="020B0604020202020204" pitchFamily="34" charset="0"/>
            </a:endParaRPr>
          </a:p>
        </p:txBody>
      </p:sp>
      <p:sp>
        <p:nvSpPr>
          <p:cNvPr id="13" name="文本框 3">
            <a:extLst>
              <a:ext uri="{FF2B5EF4-FFF2-40B4-BE49-F238E27FC236}">
                <a16:creationId xmlns:a16="http://schemas.microsoft.com/office/drawing/2014/main" id="{9A3AE12D-FCFC-61D9-B498-90D85044D89C}"/>
              </a:ext>
            </a:extLst>
          </p:cNvPr>
          <p:cNvSpPr txBox="1"/>
          <p:nvPr/>
        </p:nvSpPr>
        <p:spPr>
          <a:xfrm>
            <a:off x="295584" y="6563804"/>
            <a:ext cx="4359148" cy="294196"/>
          </a:xfrm>
          <a:prstGeom prst="rect">
            <a:avLst/>
          </a:prstGeom>
        </p:spPr>
        <p:txBody>
          <a:bodyPr>
            <a:noAutofit/>
          </a:bodyPr>
          <a:lstStyle/>
          <a:p>
            <a:pPr>
              <a:spcBef>
                <a:spcPts val="400"/>
              </a:spcBef>
              <a:spcAft>
                <a:spcPct val="0"/>
              </a:spcAft>
            </a:pPr>
            <a:r>
              <a:rPr lang="en-US" altLang="zh-CN" sz="1000" i="1" dirty="0">
                <a:latin typeface="Arial" panose="020B0604020202020204" pitchFamily="34" charset="0"/>
                <a:cs typeface="Arial" panose="020B0604020202020204" pitchFamily="34" charset="0"/>
              </a:rPr>
              <a:t>https://</a:t>
            </a:r>
            <a:r>
              <a:rPr lang="en-US" altLang="zh-CN" sz="1000" i="1" dirty="0" err="1">
                <a:latin typeface="Arial" panose="020B0604020202020204" pitchFamily="34" charset="0"/>
                <a:cs typeface="Arial" panose="020B0604020202020204" pitchFamily="34" charset="0"/>
              </a:rPr>
              <a:t>www.nature.com</a:t>
            </a:r>
            <a:r>
              <a:rPr lang="en-US" altLang="zh-CN" sz="1000" i="1" dirty="0">
                <a:latin typeface="Arial" panose="020B0604020202020204" pitchFamily="34" charset="0"/>
                <a:cs typeface="Arial" panose="020B0604020202020204" pitchFamily="34" charset="0"/>
              </a:rPr>
              <a:t>/articles/s42003-025-07532-y</a:t>
            </a:r>
          </a:p>
        </p:txBody>
      </p:sp>
      <p:sp>
        <p:nvSpPr>
          <p:cNvPr id="14" name="文本框 3">
            <a:extLst>
              <a:ext uri="{FF2B5EF4-FFF2-40B4-BE49-F238E27FC236}">
                <a16:creationId xmlns:a16="http://schemas.microsoft.com/office/drawing/2014/main" id="{11605CA4-E9E9-F675-2250-5DBFA4A2F105}"/>
              </a:ext>
            </a:extLst>
          </p:cNvPr>
          <p:cNvSpPr txBox="1"/>
          <p:nvPr/>
        </p:nvSpPr>
        <p:spPr>
          <a:xfrm>
            <a:off x="6096000" y="3682724"/>
            <a:ext cx="5554532" cy="2866236"/>
          </a:xfrm>
          <a:prstGeom prst="rect">
            <a:avLst/>
          </a:prstGeom>
        </p:spPr>
        <p:txBody>
          <a:bodyPr>
            <a:noAutofit/>
          </a:bodyPr>
          <a:lstStyle/>
          <a:p>
            <a:pPr>
              <a:spcAft>
                <a:spcPct val="0"/>
              </a:spcAft>
            </a:pPr>
            <a:r>
              <a:rPr lang="en-US" altLang="zh-CN" b="1" dirty="0">
                <a:latin typeface="Arial" panose="020B0604020202020204" pitchFamily="34" charset="0"/>
                <a:cs typeface="Arial" panose="020B0604020202020204" pitchFamily="34" charset="0"/>
              </a:rPr>
              <a:t>Expected label:</a:t>
            </a:r>
          </a:p>
          <a:p>
            <a:pPr>
              <a:spcAft>
                <a:spcPct val="0"/>
              </a:spcAft>
            </a:pPr>
            <a:r>
              <a:rPr lang="en-US" altLang="zh-CN" dirty="0">
                <a:latin typeface="Arial" panose="020B0604020202020204" pitchFamily="34" charset="0"/>
                <a:cs typeface="Arial" panose="020B0604020202020204" pitchFamily="34" charset="0"/>
              </a:rPr>
              <a:t>Simple: conserved vs evolutionary event</a:t>
            </a:r>
          </a:p>
          <a:p>
            <a:pPr>
              <a:spcAft>
                <a:spcPct val="0"/>
              </a:spcAft>
            </a:pPr>
            <a:r>
              <a:rPr lang="en-US" altLang="zh-CN" dirty="0">
                <a:latin typeface="Arial" panose="020B0604020202020204" pitchFamily="34" charset="0"/>
                <a:cs typeface="Arial" panose="020B0604020202020204" pitchFamily="34" charset="0"/>
              </a:rPr>
              <a:t>Complex label: </a:t>
            </a:r>
          </a:p>
          <a:p>
            <a:pPr marL="742950" lvl="1" indent="-285750">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Gain</a:t>
            </a:r>
          </a:p>
          <a:p>
            <a:pPr marL="742950" lvl="1" indent="-285750">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Loss</a:t>
            </a:r>
          </a:p>
          <a:p>
            <a:pPr marL="742950" lvl="1" indent="-285750">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Expansion</a:t>
            </a:r>
          </a:p>
          <a:p>
            <a:pPr marL="742950" lvl="1" indent="-285750">
              <a:spcAft>
                <a:spcPct val="0"/>
              </a:spcAft>
              <a:buFont typeface="Arial" panose="020B0604020202020204" pitchFamily="34" charset="0"/>
              <a:buChar char="•"/>
            </a:pPr>
            <a:r>
              <a:rPr lang="en-US" altLang="zh-CN" dirty="0">
                <a:latin typeface="Arial" panose="020B0604020202020204" pitchFamily="34" charset="0"/>
                <a:cs typeface="Arial" panose="020B0604020202020204" pitchFamily="34" charset="0"/>
              </a:rPr>
              <a:t>Contraction</a:t>
            </a:r>
          </a:p>
          <a:p>
            <a:pPr>
              <a:spcAft>
                <a:spcPct val="0"/>
              </a:spcAft>
            </a:pPr>
            <a:r>
              <a:rPr lang="en-US" altLang="zh-CN" dirty="0">
                <a:latin typeface="Arial" panose="020B0604020202020204" pitchFamily="34" charset="0"/>
                <a:cs typeface="Arial" panose="020B0604020202020204" pitchFamily="34" charset="0"/>
              </a:rPr>
              <a:t>Classification + regression: gene family copy number prediction</a:t>
            </a:r>
          </a:p>
          <a:p>
            <a:pPr>
              <a:spcAft>
                <a:spcPct val="0"/>
              </a:spcAft>
            </a:pP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5936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A2FAC-0C0E-2BC0-E39E-87AAE8579337}"/>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8F32F531-C782-65AF-C317-E00873C1B2A5}"/>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Lineage Specific innovation </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8CD065CC-1701-3FBC-06F9-BAC656001D15}"/>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9" name="文本框 3">
            <a:extLst>
              <a:ext uri="{FF2B5EF4-FFF2-40B4-BE49-F238E27FC236}">
                <a16:creationId xmlns:a16="http://schemas.microsoft.com/office/drawing/2014/main" id="{D5DDA4D1-27B9-ADC3-F1BB-12FF915A7C87}"/>
              </a:ext>
            </a:extLst>
          </p:cNvPr>
          <p:cNvSpPr txBox="1"/>
          <p:nvPr/>
        </p:nvSpPr>
        <p:spPr>
          <a:xfrm>
            <a:off x="6884621" y="4622186"/>
            <a:ext cx="4771716" cy="767710"/>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Can the model identify DNA sequences belonging to lineage-specific innovations?</a:t>
            </a:r>
          </a:p>
        </p:txBody>
      </p:sp>
      <p:sp>
        <p:nvSpPr>
          <p:cNvPr id="13" name="文本框 3">
            <a:extLst>
              <a:ext uri="{FF2B5EF4-FFF2-40B4-BE49-F238E27FC236}">
                <a16:creationId xmlns:a16="http://schemas.microsoft.com/office/drawing/2014/main" id="{F03CBD23-6D22-5873-25CA-417C7C181F4B}"/>
              </a:ext>
            </a:extLst>
          </p:cNvPr>
          <p:cNvSpPr txBox="1"/>
          <p:nvPr/>
        </p:nvSpPr>
        <p:spPr>
          <a:xfrm>
            <a:off x="295584" y="6357668"/>
            <a:ext cx="4359148" cy="500332"/>
          </a:xfrm>
          <a:prstGeom prst="rect">
            <a:avLst/>
          </a:prstGeom>
        </p:spPr>
        <p:txBody>
          <a:bodyPr>
            <a:noAutofit/>
          </a:bodyPr>
          <a:lstStyle/>
          <a:p>
            <a:pPr>
              <a:spcAft>
                <a:spcPct val="0"/>
              </a:spcAft>
            </a:pPr>
            <a:r>
              <a:rPr lang="en-US" altLang="zh-CN" sz="1000" i="1" dirty="0">
                <a:latin typeface="Arial" panose="020B0604020202020204" pitchFamily="34" charset="0"/>
                <a:cs typeface="Arial" panose="020B0604020202020204" pitchFamily="34" charset="0"/>
              </a:rPr>
              <a:t>https://</a:t>
            </a:r>
            <a:r>
              <a:rPr lang="en-US" altLang="zh-CN" sz="1000" i="1" dirty="0" err="1">
                <a:latin typeface="Arial" panose="020B0604020202020204" pitchFamily="34" charset="0"/>
                <a:cs typeface="Arial" panose="020B0604020202020204" pitchFamily="34" charset="0"/>
              </a:rPr>
              <a:t>www.sciencedirect.com</a:t>
            </a:r>
            <a:r>
              <a:rPr lang="en-US" altLang="zh-CN" sz="1000" i="1" dirty="0">
                <a:latin typeface="Arial" panose="020B0604020202020204" pitchFamily="34" charset="0"/>
                <a:cs typeface="Arial" panose="020B0604020202020204" pitchFamily="34" charset="0"/>
              </a:rPr>
              <a:t>/science/article/</a:t>
            </a:r>
            <a:r>
              <a:rPr lang="en-US" altLang="zh-CN" sz="1000" i="1" dirty="0" err="1">
                <a:latin typeface="Arial" panose="020B0604020202020204" pitchFamily="34" charset="0"/>
                <a:cs typeface="Arial" panose="020B0604020202020204" pitchFamily="34" charset="0"/>
              </a:rPr>
              <a:t>pii</a:t>
            </a:r>
            <a:r>
              <a:rPr lang="en-US" altLang="zh-CN" sz="1000" i="1" dirty="0">
                <a:latin typeface="Arial" panose="020B0604020202020204" pitchFamily="34" charset="0"/>
                <a:cs typeface="Arial" panose="020B0604020202020204" pitchFamily="34" charset="0"/>
              </a:rPr>
              <a:t>/S1674205226002790</a:t>
            </a:r>
          </a:p>
          <a:p>
            <a:pPr>
              <a:spcAft>
                <a:spcPct val="0"/>
              </a:spcAft>
            </a:pPr>
            <a:r>
              <a:rPr lang="en-US" altLang="zh-CN" sz="1000" i="1" dirty="0">
                <a:latin typeface="Arial" panose="020B0604020202020204" pitchFamily="34" charset="0"/>
                <a:cs typeface="Arial" panose="020B0604020202020204" pitchFamily="34" charset="0"/>
              </a:rPr>
              <a:t>https://</a:t>
            </a:r>
            <a:r>
              <a:rPr lang="en-US" altLang="zh-CN" sz="1000" i="1" dirty="0" err="1">
                <a:latin typeface="Arial" panose="020B0604020202020204" pitchFamily="34" charset="0"/>
                <a:cs typeface="Arial" panose="020B0604020202020204" pitchFamily="34" charset="0"/>
              </a:rPr>
              <a:t>www.nature.com</a:t>
            </a:r>
            <a:r>
              <a:rPr lang="en-US" altLang="zh-CN" sz="1000" i="1" dirty="0">
                <a:latin typeface="Arial" panose="020B0604020202020204" pitchFamily="34" charset="0"/>
                <a:cs typeface="Arial" panose="020B0604020202020204" pitchFamily="34" charset="0"/>
              </a:rPr>
              <a:t>/articles/s41586-025-09722-4</a:t>
            </a:r>
          </a:p>
        </p:txBody>
      </p:sp>
      <p:sp>
        <p:nvSpPr>
          <p:cNvPr id="14" name="文本框 3">
            <a:extLst>
              <a:ext uri="{FF2B5EF4-FFF2-40B4-BE49-F238E27FC236}">
                <a16:creationId xmlns:a16="http://schemas.microsoft.com/office/drawing/2014/main" id="{C9295F59-3D37-0DF2-DEBC-8CA60DD75017}"/>
              </a:ext>
            </a:extLst>
          </p:cNvPr>
          <p:cNvSpPr txBox="1"/>
          <p:nvPr/>
        </p:nvSpPr>
        <p:spPr>
          <a:xfrm>
            <a:off x="383263" y="3924619"/>
            <a:ext cx="5554532" cy="1810137"/>
          </a:xfrm>
          <a:prstGeom prst="rect">
            <a:avLst/>
          </a:prstGeom>
        </p:spPr>
        <p:txBody>
          <a:bodyPr>
            <a:noAutofit/>
          </a:bodyPr>
          <a:lstStyle/>
          <a:p>
            <a:pPr>
              <a:spcAft>
                <a:spcPct val="0"/>
              </a:spcAft>
            </a:pPr>
            <a:r>
              <a:rPr lang="en-US" altLang="zh-CN" b="1" dirty="0">
                <a:latin typeface="Arial" panose="020B0604020202020204" pitchFamily="34" charset="0"/>
                <a:cs typeface="Arial" panose="020B0604020202020204" pitchFamily="34" charset="0"/>
              </a:rPr>
              <a:t>Expected label:</a:t>
            </a:r>
          </a:p>
          <a:p>
            <a:pPr marL="285750" indent="-285750">
              <a:spcAft>
                <a:spcPct val="0"/>
              </a:spcAft>
              <a:buFont typeface="Arial" panose="020B0604020202020204" pitchFamily="34" charset="0"/>
              <a:buChar char="•"/>
            </a:pPr>
            <a:r>
              <a:rPr lang="en-US" altLang="zh-CN" b="1" dirty="0">
                <a:latin typeface="Arial" panose="020B0604020202020204" pitchFamily="34" charset="0"/>
                <a:cs typeface="Arial" panose="020B0604020202020204" pitchFamily="34" charset="0"/>
              </a:rPr>
              <a:t>Lineage specific </a:t>
            </a:r>
            <a:r>
              <a:rPr lang="en-US" altLang="zh-CN" dirty="0">
                <a:latin typeface="Arial" panose="020B0604020202020204" pitchFamily="34" charset="0"/>
                <a:cs typeface="Arial" panose="020B0604020202020204" pitchFamily="34" charset="0"/>
              </a:rPr>
              <a:t>(Novel): gene that are present in the species, while being absent in all species of outgroup</a:t>
            </a:r>
          </a:p>
          <a:p>
            <a:pPr marL="285750" indent="-285750">
              <a:spcAft>
                <a:spcPct val="0"/>
              </a:spcAft>
              <a:buFont typeface="Arial" panose="020B0604020202020204" pitchFamily="34" charset="0"/>
              <a:buChar char="•"/>
            </a:pPr>
            <a:r>
              <a:rPr lang="en-US" altLang="zh-CN" b="1" dirty="0">
                <a:latin typeface="Arial" panose="020B0604020202020204" pitchFamily="34" charset="0"/>
                <a:cs typeface="Arial" panose="020B0604020202020204" pitchFamily="34" charset="0"/>
              </a:rPr>
              <a:t>Conserved</a:t>
            </a:r>
            <a:r>
              <a:rPr lang="en-US" altLang="zh-CN" dirty="0">
                <a:latin typeface="Arial" panose="020B0604020202020204" pitchFamily="34" charset="0"/>
                <a:cs typeface="Arial" panose="020B0604020202020204" pitchFamily="34" charset="0"/>
              </a:rPr>
              <a:t>: present across most Poaceae species</a:t>
            </a:r>
          </a:p>
        </p:txBody>
      </p:sp>
      <p:pic>
        <p:nvPicPr>
          <p:cNvPr id="2" name="Picture 1">
            <a:extLst>
              <a:ext uri="{FF2B5EF4-FFF2-40B4-BE49-F238E27FC236}">
                <a16:creationId xmlns:a16="http://schemas.microsoft.com/office/drawing/2014/main" id="{7FE7F990-778B-0064-F0A0-837EAD494751}"/>
              </a:ext>
            </a:extLst>
          </p:cNvPr>
          <p:cNvPicPr>
            <a:picLocks noChangeAspect="1"/>
          </p:cNvPicPr>
          <p:nvPr/>
        </p:nvPicPr>
        <p:blipFill>
          <a:blip r:embed="rId4"/>
          <a:srcRect l="2143"/>
          <a:stretch>
            <a:fillRect/>
          </a:stretch>
        </p:blipFill>
        <p:spPr>
          <a:xfrm>
            <a:off x="383263" y="976421"/>
            <a:ext cx="9222670" cy="2685471"/>
          </a:xfrm>
          <a:prstGeom prst="rect">
            <a:avLst/>
          </a:prstGeom>
        </p:spPr>
      </p:pic>
    </p:spTree>
    <p:extLst>
      <p:ext uri="{BB962C8B-B14F-4D97-AF65-F5344CB8AC3E}">
        <p14:creationId xmlns:p14="http://schemas.microsoft.com/office/powerpoint/2010/main" val="3029320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E2E7A-0DCC-838F-EB95-4FE78C0EBA76}"/>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E90258CC-A404-8D7C-3C64-20F4BE2584AD}"/>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Gene Duplication Timing</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43AE6B51-375F-5466-6CC5-95166125C89F}"/>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9" name="文本框 3">
            <a:extLst>
              <a:ext uri="{FF2B5EF4-FFF2-40B4-BE49-F238E27FC236}">
                <a16:creationId xmlns:a16="http://schemas.microsoft.com/office/drawing/2014/main" id="{90B70A71-48BB-D8AE-5F24-E0A48350AD0A}"/>
              </a:ext>
            </a:extLst>
          </p:cNvPr>
          <p:cNvSpPr txBox="1"/>
          <p:nvPr/>
        </p:nvSpPr>
        <p:spPr>
          <a:xfrm>
            <a:off x="383264" y="5115287"/>
            <a:ext cx="4771716" cy="767710"/>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Can the model distinguish ancient versus recent duplication?</a:t>
            </a:r>
          </a:p>
        </p:txBody>
      </p:sp>
      <p:sp>
        <p:nvSpPr>
          <p:cNvPr id="14" name="文本框 3">
            <a:extLst>
              <a:ext uri="{FF2B5EF4-FFF2-40B4-BE49-F238E27FC236}">
                <a16:creationId xmlns:a16="http://schemas.microsoft.com/office/drawing/2014/main" id="{EE27A91B-9576-7311-E138-11AE501B6031}"/>
              </a:ext>
            </a:extLst>
          </p:cNvPr>
          <p:cNvSpPr txBox="1"/>
          <p:nvPr/>
        </p:nvSpPr>
        <p:spPr>
          <a:xfrm>
            <a:off x="383264" y="3132094"/>
            <a:ext cx="2941828" cy="1269634"/>
          </a:xfrm>
          <a:prstGeom prst="rect">
            <a:avLst/>
          </a:prstGeom>
        </p:spPr>
        <p:txBody>
          <a:bodyPr>
            <a:noAutofit/>
          </a:bodyPr>
          <a:lstStyle/>
          <a:p>
            <a:pPr>
              <a:spcAft>
                <a:spcPct val="0"/>
              </a:spcAft>
            </a:pPr>
            <a:r>
              <a:rPr lang="en-US" altLang="zh-CN" b="1" dirty="0">
                <a:latin typeface="Arial" panose="020B0604020202020204" pitchFamily="34" charset="0"/>
                <a:cs typeface="Arial" panose="020B0604020202020204" pitchFamily="34" charset="0"/>
              </a:rPr>
              <a:t>Multi label task:</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Ancient duplication</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Recent duplication</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Single copy sequence</a:t>
            </a:r>
          </a:p>
        </p:txBody>
      </p:sp>
      <p:pic>
        <p:nvPicPr>
          <p:cNvPr id="3" name="Picture 2">
            <a:extLst>
              <a:ext uri="{FF2B5EF4-FFF2-40B4-BE49-F238E27FC236}">
                <a16:creationId xmlns:a16="http://schemas.microsoft.com/office/drawing/2014/main" id="{E6109125-D733-D852-A3FB-5DFB2ABC2622}"/>
              </a:ext>
            </a:extLst>
          </p:cNvPr>
          <p:cNvPicPr>
            <a:picLocks noChangeAspect="1"/>
          </p:cNvPicPr>
          <p:nvPr/>
        </p:nvPicPr>
        <p:blipFill>
          <a:blip r:embed="rId4"/>
          <a:stretch>
            <a:fillRect/>
          </a:stretch>
        </p:blipFill>
        <p:spPr>
          <a:xfrm>
            <a:off x="383264" y="975003"/>
            <a:ext cx="5815656" cy="1740944"/>
          </a:xfrm>
          <a:prstGeom prst="rect">
            <a:avLst/>
          </a:prstGeom>
        </p:spPr>
      </p:pic>
      <p:pic>
        <p:nvPicPr>
          <p:cNvPr id="4" name="Picture 3" descr="Fig. 1: Identification of WGD events in Poaceae and other Poales families.">
            <a:extLst>
              <a:ext uri="{FF2B5EF4-FFF2-40B4-BE49-F238E27FC236}">
                <a16:creationId xmlns:a16="http://schemas.microsoft.com/office/drawing/2014/main" id="{3491736E-F1F5-AFC9-5995-354AA3461CD9}"/>
              </a:ext>
            </a:extLst>
          </p:cNvPr>
          <p:cNvPicPr>
            <a:picLocks noChangeAspect="1"/>
          </p:cNvPicPr>
          <p:nvPr/>
        </p:nvPicPr>
        <p:blipFill>
          <a:blip r:embed="rId5"/>
          <a:stretch>
            <a:fillRect/>
          </a:stretch>
        </p:blipFill>
        <p:spPr>
          <a:xfrm>
            <a:off x="6860877" y="64719"/>
            <a:ext cx="5095681" cy="6709313"/>
          </a:xfrm>
          <a:prstGeom prst="rect">
            <a:avLst/>
          </a:prstGeom>
        </p:spPr>
      </p:pic>
    </p:spTree>
    <p:extLst>
      <p:ext uri="{BB962C8B-B14F-4D97-AF65-F5344CB8AC3E}">
        <p14:creationId xmlns:p14="http://schemas.microsoft.com/office/powerpoint/2010/main" val="28419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7B38-0569-C081-0209-C6ECE89C0C35}"/>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C94C6D87-5CC1-32F2-C951-D9F3006E4217}"/>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Selection Pressure</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EB1FE1D-3266-E0A5-6B25-A544E864DD3E}"/>
              </a:ext>
            </a:extLst>
          </p:cNvPr>
          <p:cNvPicPr>
            <a:picLocks noChangeAspect="1"/>
          </p:cNvPicPr>
          <p:nvPr/>
        </p:nvPicPr>
        <p:blipFill>
          <a:blip r:embed="rId3"/>
          <a:srcRect t="4016" b="5943"/>
          <a:stretch>
            <a:fillRect/>
          </a:stretch>
        </p:blipFill>
        <p:spPr>
          <a:xfrm>
            <a:off x="8046720" y="64719"/>
            <a:ext cx="1855376" cy="767710"/>
          </a:xfrm>
          <a:prstGeom prst="rect">
            <a:avLst/>
          </a:prstGeom>
        </p:spPr>
      </p:pic>
      <p:sp>
        <p:nvSpPr>
          <p:cNvPr id="9" name="文本框 3">
            <a:extLst>
              <a:ext uri="{FF2B5EF4-FFF2-40B4-BE49-F238E27FC236}">
                <a16:creationId xmlns:a16="http://schemas.microsoft.com/office/drawing/2014/main" id="{5C770134-7637-B2BD-3A91-0B15F16A2A55}"/>
              </a:ext>
            </a:extLst>
          </p:cNvPr>
          <p:cNvSpPr txBox="1"/>
          <p:nvPr/>
        </p:nvSpPr>
        <p:spPr>
          <a:xfrm>
            <a:off x="6388608" y="4876474"/>
            <a:ext cx="4771716" cy="696794"/>
          </a:xfrm>
          <a:prstGeom prst="rect">
            <a:avLst/>
          </a:prstGeom>
        </p:spPr>
        <p:txBody>
          <a:bodyPr>
            <a:noAutofit/>
          </a:bodyPr>
          <a:lstStyle/>
          <a:p>
            <a:pPr>
              <a:spcBef>
                <a:spcPts val="400"/>
              </a:spcBef>
              <a:spcAft>
                <a:spcPct val="0"/>
              </a:spcAft>
            </a:pPr>
            <a:r>
              <a:rPr lang="en-US" altLang="zh-CN" dirty="0">
                <a:solidFill>
                  <a:srgbClr val="FF0000"/>
                </a:solidFill>
                <a:latin typeface="Arial" panose="020B0604020202020204" pitchFamily="34" charset="0"/>
                <a:cs typeface="Arial" panose="020B0604020202020204" pitchFamily="34" charset="0"/>
              </a:rPr>
              <a:t>Are there sequence signatures that correlate with a particular evolutionary pressure?</a:t>
            </a:r>
          </a:p>
        </p:txBody>
      </p:sp>
      <p:sp>
        <p:nvSpPr>
          <p:cNvPr id="11" name="文本框 3">
            <a:extLst>
              <a:ext uri="{FF2B5EF4-FFF2-40B4-BE49-F238E27FC236}">
                <a16:creationId xmlns:a16="http://schemas.microsoft.com/office/drawing/2014/main" id="{959FF0B2-8DA3-C692-2CE7-06F358DA83D1}"/>
              </a:ext>
            </a:extLst>
          </p:cNvPr>
          <p:cNvSpPr txBox="1"/>
          <p:nvPr/>
        </p:nvSpPr>
        <p:spPr>
          <a:xfrm>
            <a:off x="6096000" y="1018164"/>
            <a:ext cx="5554532" cy="1864321"/>
          </a:xfrm>
          <a:prstGeom prst="rect">
            <a:avLst/>
          </a:prstGeom>
        </p:spPr>
        <p:txBody>
          <a:bodyPr>
            <a:noAutofit/>
          </a:bodyPr>
          <a:lstStyle/>
          <a:p>
            <a:pPr>
              <a:spcAft>
                <a:spcPct val="0"/>
              </a:spcAft>
            </a:pPr>
            <a:r>
              <a:rPr lang="en-US" altLang="zh-CN" b="1" dirty="0">
                <a:latin typeface="Arial" panose="020B0604020202020204" pitchFamily="34" charset="0"/>
                <a:cs typeface="Arial" panose="020B0604020202020204" pitchFamily="34" charset="0"/>
              </a:rPr>
              <a:t>Selection pressure labeling procedure</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Orthologues CDS</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Codon alignment</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Selection pressure analysis →  </a:t>
            </a:r>
            <a:r>
              <a:rPr lang="en-US" altLang="zh-CN" b="1" dirty="0">
                <a:latin typeface="Arial" panose="020B0604020202020204" pitchFamily="34" charset="0"/>
                <a:cs typeface="Arial" panose="020B0604020202020204" pitchFamily="34" charset="0"/>
              </a:rPr>
              <a:t>Hyphy</a:t>
            </a:r>
            <a:r>
              <a:rPr lang="en-US" altLang="zh-CN" dirty="0">
                <a:latin typeface="Arial" panose="020B0604020202020204" pitchFamily="34" charset="0"/>
                <a:cs typeface="Arial" panose="020B0604020202020204" pitchFamily="34" charset="0"/>
              </a:rPr>
              <a:t>: MEME, FEL, </a:t>
            </a:r>
            <a:r>
              <a:rPr lang="en-US" altLang="zh-CN" dirty="0" err="1">
                <a:latin typeface="Arial" panose="020B0604020202020204" pitchFamily="34" charset="0"/>
                <a:cs typeface="Arial" panose="020B0604020202020204" pitchFamily="34" charset="0"/>
              </a:rPr>
              <a:t>aBSREL</a:t>
            </a:r>
            <a:r>
              <a:rPr lang="en-US" altLang="zh-CN" dirty="0">
                <a:latin typeface="Arial" panose="020B0604020202020204" pitchFamily="34" charset="0"/>
                <a:cs typeface="Arial" panose="020B0604020202020204" pitchFamily="34" charset="0"/>
              </a:rPr>
              <a:t>, Relax</a:t>
            </a:r>
          </a:p>
          <a:p>
            <a:pPr marL="342900" indent="-342900">
              <a:spcAft>
                <a:spcPct val="0"/>
              </a:spcAft>
              <a:buFont typeface="+mj-lt"/>
              <a:buAutoNum type="arabicPeriod"/>
            </a:pPr>
            <a:r>
              <a:rPr lang="en-US" altLang="zh-CN" dirty="0">
                <a:latin typeface="Arial" panose="020B0604020202020204" pitchFamily="34" charset="0"/>
                <a:cs typeface="Arial" panose="020B0604020202020204" pitchFamily="34" charset="0"/>
              </a:rPr>
              <a:t>Selected site → map to DNA sequence</a:t>
            </a:r>
          </a:p>
          <a:p>
            <a:pPr>
              <a:spcAft>
                <a:spcPct val="0"/>
              </a:spcAft>
            </a:pPr>
            <a:endParaRPr lang="en-US" altLang="zh-CN" dirty="0">
              <a:latin typeface="Arial" panose="020B0604020202020204" pitchFamily="34" charset="0"/>
              <a:cs typeface="Arial" panose="020B0604020202020204" pitchFamily="34" charset="0"/>
            </a:endParaRPr>
          </a:p>
        </p:txBody>
      </p:sp>
      <p:sp>
        <p:nvSpPr>
          <p:cNvPr id="14" name="文本框 3">
            <a:extLst>
              <a:ext uri="{FF2B5EF4-FFF2-40B4-BE49-F238E27FC236}">
                <a16:creationId xmlns:a16="http://schemas.microsoft.com/office/drawing/2014/main" id="{D3816BCF-F405-7F38-8229-F9FF5D480E58}"/>
              </a:ext>
            </a:extLst>
          </p:cNvPr>
          <p:cNvSpPr txBox="1"/>
          <p:nvPr/>
        </p:nvSpPr>
        <p:spPr>
          <a:xfrm>
            <a:off x="6096000" y="3075610"/>
            <a:ext cx="5554532" cy="1008480"/>
          </a:xfrm>
          <a:prstGeom prst="rect">
            <a:avLst/>
          </a:prstGeom>
        </p:spPr>
        <p:txBody>
          <a:bodyPr>
            <a:noAutofit/>
          </a:bodyPr>
          <a:lstStyle/>
          <a:p>
            <a:pPr>
              <a:spcAft>
                <a:spcPct val="0"/>
              </a:spcAft>
            </a:pPr>
            <a:r>
              <a:rPr lang="en-US" altLang="zh-CN" b="1" dirty="0">
                <a:latin typeface="Arial" panose="020B0604020202020204" pitchFamily="34" charset="0"/>
                <a:cs typeface="Arial" panose="020B0604020202020204" pitchFamily="34" charset="0"/>
              </a:rPr>
              <a:t>Expected label:</a:t>
            </a:r>
          </a:p>
          <a:p>
            <a:pPr>
              <a:spcAft>
                <a:spcPct val="0"/>
              </a:spcAft>
            </a:pPr>
            <a:r>
              <a:rPr lang="en-US" altLang="zh-CN" dirty="0">
                <a:latin typeface="Arial" panose="020B0604020202020204" pitchFamily="34" charset="0"/>
                <a:cs typeface="Arial" panose="020B0604020202020204" pitchFamily="34" charset="0"/>
              </a:rPr>
              <a:t>Binary: positive vs negative</a:t>
            </a:r>
          </a:p>
          <a:p>
            <a:pPr>
              <a:spcAft>
                <a:spcPct val="0"/>
              </a:spcAft>
            </a:pPr>
            <a:r>
              <a:rPr lang="en-US" altLang="zh-CN" dirty="0">
                <a:latin typeface="Arial" panose="020B0604020202020204" pitchFamily="34" charset="0"/>
                <a:cs typeface="Arial" panose="020B0604020202020204" pitchFamily="34" charset="0"/>
              </a:rPr>
              <a:t>Multilabel: intensified, relaxed, </a:t>
            </a:r>
            <a:r>
              <a:rPr lang="en-US" altLang="zh-CN" dirty="0" err="1">
                <a:latin typeface="Arial" panose="020B0604020202020204" pitchFamily="34" charset="0"/>
                <a:cs typeface="Arial" panose="020B0604020202020204" pitchFamily="34" charset="0"/>
              </a:rPr>
              <a:t>unchange</a:t>
            </a:r>
            <a:endParaRPr lang="en-US" altLang="zh-CN"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A7A810A2-94DB-953B-1AF5-84D3606B2189}"/>
              </a:ext>
            </a:extLst>
          </p:cNvPr>
          <p:cNvPicPr>
            <a:picLocks noChangeAspect="1"/>
          </p:cNvPicPr>
          <p:nvPr/>
        </p:nvPicPr>
        <p:blipFill>
          <a:blip r:embed="rId4"/>
          <a:stretch>
            <a:fillRect/>
          </a:stretch>
        </p:blipFill>
        <p:spPr>
          <a:xfrm>
            <a:off x="316848" y="1110651"/>
            <a:ext cx="5329686" cy="2051173"/>
          </a:xfrm>
          <a:prstGeom prst="rect">
            <a:avLst/>
          </a:prstGeom>
        </p:spPr>
      </p:pic>
      <p:pic>
        <p:nvPicPr>
          <p:cNvPr id="3" name="Picture 2">
            <a:extLst>
              <a:ext uri="{FF2B5EF4-FFF2-40B4-BE49-F238E27FC236}">
                <a16:creationId xmlns:a16="http://schemas.microsoft.com/office/drawing/2014/main" id="{CBD50FDF-3250-3EEE-77F3-804EA96CCB61}"/>
              </a:ext>
            </a:extLst>
          </p:cNvPr>
          <p:cNvPicPr>
            <a:picLocks noChangeAspect="1"/>
          </p:cNvPicPr>
          <p:nvPr/>
        </p:nvPicPr>
        <p:blipFill>
          <a:blip r:embed="rId5"/>
          <a:stretch>
            <a:fillRect/>
          </a:stretch>
        </p:blipFill>
        <p:spPr>
          <a:xfrm>
            <a:off x="316848" y="3317149"/>
            <a:ext cx="5329686" cy="881287"/>
          </a:xfrm>
          <a:prstGeom prst="rect">
            <a:avLst/>
          </a:prstGeom>
        </p:spPr>
      </p:pic>
      <p:pic>
        <p:nvPicPr>
          <p:cNvPr id="4" name="Picture 3">
            <a:extLst>
              <a:ext uri="{FF2B5EF4-FFF2-40B4-BE49-F238E27FC236}">
                <a16:creationId xmlns:a16="http://schemas.microsoft.com/office/drawing/2014/main" id="{30AFC5FB-8853-C294-7A37-C12E70AE0FF1}"/>
              </a:ext>
            </a:extLst>
          </p:cNvPr>
          <p:cNvPicPr>
            <a:picLocks noChangeAspect="1"/>
          </p:cNvPicPr>
          <p:nvPr/>
        </p:nvPicPr>
        <p:blipFill>
          <a:blip r:embed="rId6"/>
          <a:stretch>
            <a:fillRect/>
          </a:stretch>
        </p:blipFill>
        <p:spPr>
          <a:xfrm>
            <a:off x="295584" y="4353762"/>
            <a:ext cx="5205561" cy="1783164"/>
          </a:xfrm>
          <a:prstGeom prst="rect">
            <a:avLst/>
          </a:prstGeom>
        </p:spPr>
      </p:pic>
    </p:spTree>
    <p:extLst>
      <p:ext uri="{BB962C8B-B14F-4D97-AF65-F5344CB8AC3E}">
        <p14:creationId xmlns:p14="http://schemas.microsoft.com/office/powerpoint/2010/main" val="2368962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469DD-C8C9-74A0-96E4-0CCBF9BD139D}"/>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86941DFB-B858-C7E7-1EF8-5E71815FFFD6}"/>
              </a:ext>
            </a:extLst>
          </p:cNvPr>
          <p:cNvSpPr>
            <a:spLocks noGrp="1"/>
          </p:cNvSpPr>
          <p:nvPr>
            <p:ph type="title"/>
          </p:nvPr>
        </p:nvSpPr>
        <p:spPr>
          <a:xfrm>
            <a:off x="1439" y="198408"/>
            <a:ext cx="5329686" cy="500332"/>
          </a:xfrm>
        </p:spPr>
        <p:txBody>
          <a:bodyPr/>
          <a:lstStyle/>
          <a:p>
            <a:r>
              <a:rPr lang="en-GB" altLang="zh-CN" dirty="0">
                <a:latin typeface="Arial" panose="020B0604020202020204" pitchFamily="34" charset="0"/>
                <a:cs typeface="Arial" panose="020B0604020202020204" pitchFamily="34" charset="0"/>
              </a:rPr>
              <a:t>Repetitive Element</a:t>
            </a:r>
            <a:endParaRPr lang="zh-CN" altLang="en-US"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0A0355C2-7EC6-DE93-08DD-4C9E99BE5F37}"/>
              </a:ext>
            </a:extLst>
          </p:cNvPr>
          <p:cNvPicPr>
            <a:picLocks noChangeAspect="1"/>
          </p:cNvPicPr>
          <p:nvPr/>
        </p:nvPicPr>
        <p:blipFill>
          <a:blip r:embed="rId3"/>
          <a:srcRect t="4016" b="5943"/>
          <a:stretch>
            <a:fillRect/>
          </a:stretch>
        </p:blipFill>
        <p:spPr>
          <a:xfrm>
            <a:off x="8046720" y="64719"/>
            <a:ext cx="1855376" cy="767710"/>
          </a:xfrm>
          <a:prstGeom prst="rect">
            <a:avLst/>
          </a:prstGeom>
        </p:spPr>
      </p:pic>
      <p:pic>
        <p:nvPicPr>
          <p:cNvPr id="5" name="Picture 4">
            <a:extLst>
              <a:ext uri="{FF2B5EF4-FFF2-40B4-BE49-F238E27FC236}">
                <a16:creationId xmlns:a16="http://schemas.microsoft.com/office/drawing/2014/main" id="{B6F08980-4312-DA85-C587-CECF4C9F33DC}"/>
              </a:ext>
            </a:extLst>
          </p:cNvPr>
          <p:cNvPicPr>
            <a:picLocks noChangeAspect="1"/>
          </p:cNvPicPr>
          <p:nvPr/>
        </p:nvPicPr>
        <p:blipFill>
          <a:blip r:embed="rId4"/>
          <a:stretch>
            <a:fillRect/>
          </a:stretch>
        </p:blipFill>
        <p:spPr>
          <a:xfrm>
            <a:off x="274320" y="938554"/>
            <a:ext cx="6013746" cy="3233596"/>
          </a:xfrm>
          <a:prstGeom prst="rect">
            <a:avLst/>
          </a:prstGeom>
        </p:spPr>
      </p:pic>
      <p:pic>
        <p:nvPicPr>
          <p:cNvPr id="6" name="Picture 5">
            <a:extLst>
              <a:ext uri="{FF2B5EF4-FFF2-40B4-BE49-F238E27FC236}">
                <a16:creationId xmlns:a16="http://schemas.microsoft.com/office/drawing/2014/main" id="{3B21E28C-D026-5E59-3274-2E07B547FCF2}"/>
              </a:ext>
            </a:extLst>
          </p:cNvPr>
          <p:cNvPicPr>
            <a:picLocks noChangeAspect="1"/>
          </p:cNvPicPr>
          <p:nvPr/>
        </p:nvPicPr>
        <p:blipFill>
          <a:blip r:embed="rId5"/>
          <a:stretch>
            <a:fillRect/>
          </a:stretch>
        </p:blipFill>
        <p:spPr>
          <a:xfrm>
            <a:off x="377764" y="4411964"/>
            <a:ext cx="5806857" cy="1313541"/>
          </a:xfrm>
          <a:prstGeom prst="rect">
            <a:avLst/>
          </a:prstGeom>
        </p:spPr>
      </p:pic>
    </p:spTree>
    <p:extLst>
      <p:ext uri="{BB962C8B-B14F-4D97-AF65-F5344CB8AC3E}">
        <p14:creationId xmlns:p14="http://schemas.microsoft.com/office/powerpoint/2010/main" val="33771435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74d71ab-c0a9-42ed-83f2-adfb37171394"/>
  <p:tag name="COMMONDATA" val="eyJoZGlkIjoiMWM0YThiMjA0YWUzZTY0Y2E5Zjk1ZjJlNTM4NmExYj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74325</TotalTime>
  <Words>1022</Words>
  <Application>Microsoft Macintosh PowerPoint</Application>
  <PresentationFormat>Widescreen</PresentationFormat>
  <Paragraphs>257</Paragraphs>
  <Slides>18</Slides>
  <Notes>18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18</vt:i4>
      </vt:variant>
    </vt:vector>
  </HeadingPairs>
  <TitlesOfParts>
    <vt:vector size="27" baseType="lpstr">
      <vt:lpstr>等线</vt:lpstr>
      <vt:lpstr>等线 Light</vt:lpstr>
      <vt:lpstr>微软雅黑</vt:lpstr>
      <vt:lpstr>方正兰亭黑简体</vt:lpstr>
      <vt:lpstr>方正正粗黑简体</vt:lpstr>
      <vt:lpstr>Arial</vt:lpstr>
      <vt:lpstr>Courier New</vt:lpstr>
      <vt:lpstr>Office 主题​​</vt:lpstr>
      <vt:lpstr>自定义设计方案</vt:lpstr>
      <vt:lpstr>PowerPoint Presentation</vt:lpstr>
      <vt:lpstr>Low Repeat Benchmarking</vt:lpstr>
      <vt:lpstr>Plant-CAD2 Approach</vt:lpstr>
      <vt:lpstr>Low Repeat Benchmarking</vt:lpstr>
      <vt:lpstr>Low Repeat Benchmarking</vt:lpstr>
      <vt:lpstr>Adding UTR information on GFF</vt:lpstr>
      <vt:lpstr>Poaceae Genome List</vt:lpstr>
      <vt:lpstr>Poaceae Data Training</vt:lpstr>
      <vt:lpstr>TE Annotation (lightweight)</vt:lpstr>
      <vt:lpstr>TE Annotation (lightweight)</vt:lpstr>
      <vt:lpstr>Poaceae Data Training</vt:lpstr>
      <vt:lpstr>C4 Photosynthesis genes</vt:lpstr>
      <vt:lpstr>C4 Convergent Sites</vt:lpstr>
      <vt:lpstr>Gene Family Evolution</vt:lpstr>
      <vt:lpstr>Lineage Specific innovation </vt:lpstr>
      <vt:lpstr>Gene Duplication Timing</vt:lpstr>
      <vt:lpstr>Selection Pressure</vt:lpstr>
      <vt:lpstr>Repetitive Element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田娇(Jiao Tian)</dc:creator>
  <cp:lastModifiedBy>dedearkun</cp:lastModifiedBy>
  <cp:revision>2871</cp:revision>
  <dcterms:created xsi:type="dcterms:W3CDTF">2021-12-13T10:01:00Z</dcterms:created>
  <dcterms:modified xsi:type="dcterms:W3CDTF">2026-09-04T12:47:22Z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0x0101000E76F9444DF3BB45B07ECAA6841CADF3</vt:lpwstr>
  </property>
  <property fmtid="{D5CDD505-2E9C-101B-9397-08002B2CF9AE}" pid="3" name="KSOProductBuildVer">
    <vt:lpwstr>2052-11.1.0.12980</vt:lpwstr>
  </property>
  <property fmtid="{D5CDD505-2E9C-101B-9397-08002B2CF9AE}" pid="4" name="ICV">
    <vt:lpwstr>2034F0A78F06453283A555326C42F191</vt:lpwstr>
  </property>
</Properties>
</file>