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1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4" r:id="rId12"/>
    <p:sldId id="266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A6B"/>
          </a:solidFill>
          <a:ln w="12700">
            <a:solidFill>
              <a:srgbClr val="17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680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831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DNA–RNA–表型：按信息流划分的四类方法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310896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7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从“多组学并列”到“显式生物级联”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111556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7395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8794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A6B"/>
          </a:solidFill>
          <a:ln w="12700">
            <a:solidFill>
              <a:srgbClr val="17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680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831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DNA–RNA–表型：按信息流划分的四类方法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310896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7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从“多组学并列”到“显式生物级联”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111556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7395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8794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7395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8794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7395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8794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3.xml"/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786384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E88B2A"/>
          </a:solidFill>
          <a:ln w="12700">
            <a:solidFill>
              <a:srgbClr val="E88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868680"/>
            <a:ext cx="218541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① 串联预测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999232" y="786384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072384" y="868680"/>
            <a:ext cx="218541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5758A"/>
                </a:solidFill>
              </a:rPr>
              <a:t>② 并行整合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95544" y="786384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68696" y="868680"/>
            <a:ext cx="218541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5758A"/>
                </a:solidFill>
              </a:rPr>
              <a:t>③ RNA辅助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991856" y="786384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65008" y="868680"/>
            <a:ext cx="218541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5758A"/>
                </a:solidFill>
              </a:rPr>
              <a:t>④ 中介定位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325880"/>
            <a:ext cx="64008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88B2A"/>
                </a:solidFill>
              </a:rPr>
              <a:t>① 真正串联 DNA → RNA → 表型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502920" y="1764792"/>
            <a:ext cx="7772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</a:rPr>
              <a:t>判据：新个体只给 DNA；模型显式产生可解释的 RNA / gene state，再据此预测复杂表型。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02590" y="2263267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F8FBFF"/>
          </a:solidFill>
          <a:ln w="19050">
            <a:solidFill>
              <a:srgbClr val="E88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742" y="2409571"/>
            <a:ext cx="1773936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4364B"/>
                </a:solidFill>
              </a:rPr>
              <a:t>Personal DNA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368550" y="2400427"/>
            <a:ext cx="411480" cy="274320"/>
          </a:xfrm>
          <a:prstGeom prst="chevron">
            <a:avLst/>
          </a:prstGeom>
          <a:solidFill>
            <a:srgbClr val="E88B2A"/>
          </a:solidFill>
          <a:ln w="12700">
            <a:solidFill>
              <a:srgbClr val="E88B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25750" y="2263267"/>
            <a:ext cx="2331720" cy="566928"/>
          </a:xfrm>
          <a:prstGeom prst="roundRect">
            <a:avLst>
              <a:gd name="adj" fmla="val 12903"/>
            </a:avLst>
          </a:prstGeom>
          <a:solidFill>
            <a:srgbClr val="F8FBFF"/>
          </a:solidFill>
          <a:ln w="19050">
            <a:solidFill>
              <a:srgbClr val="E88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98902" y="2409571"/>
            <a:ext cx="2185416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4364B"/>
                </a:solidFill>
              </a:rPr>
              <a:t>预测 RNA / gene state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203190" y="2400427"/>
            <a:ext cx="411480" cy="274320"/>
          </a:xfrm>
          <a:prstGeom prst="chevron">
            <a:avLst/>
          </a:prstGeom>
          <a:solidFill>
            <a:srgbClr val="E88B2A"/>
          </a:solidFill>
          <a:ln w="12700">
            <a:solidFill>
              <a:srgbClr val="E88B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0390" y="2263267"/>
            <a:ext cx="20574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E88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33542" y="2409571"/>
            <a:ext cx="1911096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8B2A"/>
                </a:solidFill>
              </a:rPr>
              <a:t>Complex phenotype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5800" y="292608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4748B"/>
                </a:solidFill>
              </a:rPr>
              <a:t>G → T̂ → Ŷ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2920" y="3218815"/>
            <a:ext cx="3337560" cy="2595245"/>
          </a:xfrm>
          <a:prstGeom prst="roundRect">
            <a:avLst>
              <a:gd name="adj" fmla="val 2996"/>
            </a:avLst>
          </a:prstGeom>
          <a:solidFill>
            <a:srgbClr val="FFFFFF"/>
          </a:solidFill>
          <a:ln w="12700">
            <a:solidFill>
              <a:srgbClr val="D6DF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" y="3346704"/>
            <a:ext cx="300837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8B2A"/>
                </a:solidFill>
              </a:rPr>
              <a:t>现有工作处于什么位置？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67512" y="3694176"/>
            <a:ext cx="3008376" cy="0"/>
          </a:xfrm>
          <a:prstGeom prst="line">
            <a:avLst/>
          </a:prstGeom>
          <a:noFill/>
          <a:ln w="12700">
            <a:solidFill>
              <a:srgbClr val="E6EC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803904"/>
            <a:ext cx="2971800" cy="172821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4364B"/>
                </a:solidFill>
              </a:rPr>
              <a:t>• PrediXcan / TWAS：形式上 G→Ê→Y，但主要做 gene–trait association，而不是个体表型回归。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4364B"/>
                </a:solidFill>
              </a:rPr>
              <a:t>• Wade et al.（2022, poplar）：用 eQTL 联结 genomic 与 transcriptomic prediction，是最接近植物串联思路的工作之一。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4364B"/>
                </a:solidFill>
              </a:rPr>
              <a:t>• 目前尚少见“raw personal sequence → predicted transcriptome → quantitative trait”的成熟植物框架。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004945" y="3218815"/>
            <a:ext cx="3767455" cy="2595245"/>
          </a:xfrm>
          <a:prstGeom prst="roundRect">
            <a:avLst>
              <a:gd name="adj" fmla="val 2996"/>
            </a:avLst>
          </a:prstGeom>
          <a:solidFill>
            <a:srgbClr val="FFFFFF"/>
          </a:solidFill>
          <a:ln w="12700">
            <a:solidFill>
              <a:srgbClr val="D6DF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69664" y="3346704"/>
            <a:ext cx="34381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8B2A"/>
                </a:solidFill>
              </a:rPr>
              <a:t>为什么这类方法对 OGR 最关键？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4169664" y="3694176"/>
            <a:ext cx="3438144" cy="0"/>
          </a:xfrm>
          <a:prstGeom prst="line">
            <a:avLst/>
          </a:prstGeom>
          <a:noFill/>
          <a:ln w="12700">
            <a:solidFill>
              <a:srgbClr val="E6ECF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87952" y="3803904"/>
            <a:ext cx="3401568" cy="172821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4364B"/>
                </a:solidFill>
              </a:rPr>
              <a:t>OGR 已经提供第一段：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4364B"/>
                </a:solidFill>
              </a:rPr>
              <a:t>X_g^(32 kb) → OGR → z_g , Ê_g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4364B"/>
                </a:solidFill>
              </a:rPr>
              <a:t>下一步可把全基因组压缩成 gene-level states：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4364B"/>
                </a:solidFill>
              </a:rPr>
              <a:t>[ z_1, z_2, …, z_G ] → population / network model → ŷ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4364B"/>
                </a:solidFill>
              </a:rPr>
              <a:t>这样既能预测新品种，也能回溯 variant → RNA → trait。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936865" y="1371600"/>
            <a:ext cx="3749040" cy="444246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D6DF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01584" y="1499616"/>
            <a:ext cx="341985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8B2A"/>
                </a:solidFill>
              </a:rPr>
              <a:t>目标能力检查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8101584" y="1847088"/>
            <a:ext cx="3419856" cy="0"/>
          </a:xfrm>
          <a:prstGeom prst="line">
            <a:avLst/>
          </a:prstGeom>
          <a:noFill/>
          <a:ln w="12700">
            <a:solidFill>
              <a:srgbClr val="E6ECF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19872" y="1956816"/>
            <a:ext cx="3383280" cy="3575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4364B"/>
                </a:solidFill>
              </a:rPr>
              <a:t>✓ 测试新个体无需 RNA-seq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4364B"/>
                </a:solidFill>
              </a:rPr>
              <a:t>✓ DNA→RNA 中间层显式、可解释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4364B"/>
                </a:solidFill>
              </a:rPr>
              <a:t>✓ 适合 genotype-held-out 的真正新品种预测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4364B"/>
                </a:solidFill>
              </a:rPr>
              <a:t>✓ 可同时做 phenotype prediction 与 locus / gene prioritization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4364B"/>
                </a:solidFill>
              </a:rPr>
              <a:t>△ 难点：全基因组计算量、trans 调控、gene network、环境与组织状态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211312" y="4828032"/>
            <a:ext cx="3200400" cy="640080"/>
          </a:xfrm>
          <a:prstGeom prst="roundRect">
            <a:avLst/>
          </a:prstGeom>
          <a:solidFill>
            <a:srgbClr val="FFF6E8"/>
          </a:solidFill>
          <a:ln w="15240">
            <a:solidFill>
              <a:srgbClr val="F2C97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39328" y="4965192"/>
            <a:ext cx="294436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A25A00"/>
                </a:solidFill>
              </a:rPr>
              <a:t>研究缺口：显式的 G → T̂ → Y</a:t>
            </a:r>
            <a:endParaRPr lang="en-US" sz="1230" dirty="0"/>
          </a:p>
          <a:p>
            <a:pPr marL="0" indent="0" algn="ctr">
              <a:buNone/>
            </a:pPr>
            <a:r>
              <a:rPr lang="en-US" sz="1230" b="1" dirty="0">
                <a:solidFill>
                  <a:srgbClr val="A25A00"/>
                </a:solidFill>
              </a:rPr>
              <a:t>目前比并行多组学更不成熟</a:t>
            </a:r>
            <a:endParaRPr lang="en-US" sz="1230" dirty="0"/>
          </a:p>
        </p:txBody>
      </p:sp>
      <p:sp>
        <p:nvSpPr>
          <p:cNvPr id="35" name="Text 33"/>
          <p:cNvSpPr/>
          <p:nvPr/>
        </p:nvSpPr>
        <p:spPr>
          <a:xfrm>
            <a:off x="502920" y="6355080"/>
            <a:ext cx="1069848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7A8491"/>
                </a:solidFill>
              </a:rPr>
              <a:t>代表工作：PrediXcan (2015); TWAS/FUSION (2016); Wade et al., 2022, New Phytologist.</a:t>
            </a:r>
            <a:endParaRPr lang="en-US" sz="75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7395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8794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786384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868680"/>
            <a:ext cx="218541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5758A"/>
                </a:solidFill>
              </a:rPr>
              <a:t>① 串联预测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999232" y="786384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246BCE"/>
          </a:solidFill>
          <a:ln w="12700">
            <a:solidFill>
              <a:srgbClr val="246B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072384" y="868680"/>
            <a:ext cx="218541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② 并行整合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95544" y="786384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68696" y="868680"/>
            <a:ext cx="218541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5758A"/>
                </a:solidFill>
              </a:rPr>
              <a:t>③ RNA辅助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991856" y="786384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65008" y="868680"/>
            <a:ext cx="218541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5758A"/>
                </a:solidFill>
              </a:rPr>
              <a:t>④ 中介定位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325880"/>
            <a:ext cx="64008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46BCE"/>
                </a:solidFill>
              </a:rPr>
              <a:t>② DNA / RNA 并行输入表型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502920" y="1764792"/>
            <a:ext cx="79552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</a:rPr>
              <a:t>RNA 与 DNA 是并列的 predictor；优势是预测强，代价是测试新品种往往仍需 RNA-seq。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704848" y="2157984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F8FBFF"/>
          </a:solidFill>
          <a:ln w="19050">
            <a:solidFill>
              <a:srgbClr val="246B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78000" y="2304288"/>
            <a:ext cx="1682496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4364B"/>
                </a:solidFill>
              </a:rPr>
              <a:t>DNA / markers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767328" y="2295144"/>
            <a:ext cx="411480" cy="274320"/>
          </a:xfrm>
          <a:prstGeom prst="chevron">
            <a:avLst/>
          </a:prstGeom>
          <a:solidFill>
            <a:srgbClr val="246BCE"/>
          </a:solidFill>
          <a:ln w="12700">
            <a:solidFill>
              <a:srgbClr val="246BC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073" y="2157984"/>
            <a:ext cx="2057400" cy="566928"/>
          </a:xfrm>
          <a:prstGeom prst="roundRect">
            <a:avLst>
              <a:gd name="adj" fmla="val 12903"/>
            </a:avLst>
          </a:prstGeom>
          <a:solidFill>
            <a:srgbClr val="F8FBFF"/>
          </a:solidFill>
          <a:ln w="19050">
            <a:solidFill>
              <a:srgbClr val="246B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88225" y="2304288"/>
            <a:ext cx="1911096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4364B"/>
                </a:solidFill>
              </a:rPr>
              <a:t>RNA / expression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 rot="10800000">
            <a:off x="6615938" y="2295144"/>
            <a:ext cx="411480" cy="274320"/>
          </a:xfrm>
          <a:prstGeom prst="chevron">
            <a:avLst/>
          </a:prstGeom>
          <a:solidFill>
            <a:srgbClr val="246BCE"/>
          </a:solidFill>
          <a:ln w="12700">
            <a:solidFill>
              <a:srgbClr val="246BC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75023" y="2157984"/>
            <a:ext cx="19659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246BC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48175" y="2304288"/>
            <a:ext cx="1819656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46BCE"/>
                </a:solidFill>
              </a:rPr>
              <a:t>Phenotype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49808" y="2816352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4748B"/>
                </a:solidFill>
              </a:rPr>
              <a:t>常见形式：G→Y、T→Y，或 [G,T,M,P]→Y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2920" y="3063240"/>
            <a:ext cx="1901129" cy="420624"/>
          </a:xfrm>
          <a:prstGeom prst="rect">
            <a:avLst/>
          </a:prstGeom>
          <a:solidFill>
            <a:srgbClr val="E8EEF7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127248"/>
            <a:ext cx="180968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73A6B"/>
                </a:solidFill>
              </a:rPr>
              <a:t>工作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2404049" y="3063240"/>
            <a:ext cx="1006480" cy="420624"/>
          </a:xfrm>
          <a:prstGeom prst="rect">
            <a:avLst/>
          </a:prstGeom>
          <a:solidFill>
            <a:srgbClr val="E8EEF7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49769" y="3127248"/>
            <a:ext cx="9150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73A6B"/>
                </a:solidFill>
              </a:rPr>
              <a:t>样本量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3410529" y="3063240"/>
            <a:ext cx="2236622" cy="420624"/>
          </a:xfrm>
          <a:prstGeom prst="rect">
            <a:avLst/>
          </a:prstGeom>
          <a:solidFill>
            <a:srgbClr val="E8EEF7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56249" y="3127248"/>
            <a:ext cx="214518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73A6B"/>
                </a:solidFill>
              </a:rPr>
              <a:t>输入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5647152" y="3063240"/>
            <a:ext cx="2348454" cy="420624"/>
          </a:xfrm>
          <a:prstGeom prst="rect">
            <a:avLst/>
          </a:prstGeom>
          <a:solidFill>
            <a:srgbClr val="E8EEF7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92872" y="3127248"/>
            <a:ext cx="2257014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73A6B"/>
                </a:solidFill>
              </a:rPr>
              <a:t>模型/划分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7995605" y="3063240"/>
            <a:ext cx="1006480" cy="420624"/>
          </a:xfrm>
          <a:prstGeom prst="rect">
            <a:avLst/>
          </a:prstGeom>
          <a:solidFill>
            <a:srgbClr val="E8EEF7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1325" y="3127248"/>
            <a:ext cx="9150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73A6B"/>
                </a:solidFill>
              </a:rPr>
              <a:t>新个体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9002085" y="3063240"/>
            <a:ext cx="1341973" cy="420624"/>
          </a:xfrm>
          <a:prstGeom prst="rect">
            <a:avLst/>
          </a:prstGeom>
          <a:solidFill>
            <a:srgbClr val="E8EEF7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47805" y="3127248"/>
            <a:ext cx="1250533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73A6B"/>
                </a:solidFill>
              </a:rPr>
              <a:t>位点/基因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10344059" y="3063240"/>
            <a:ext cx="1341973" cy="420624"/>
          </a:xfrm>
          <a:prstGeom prst="rect">
            <a:avLst/>
          </a:prstGeom>
          <a:solidFill>
            <a:srgbClr val="E8EEF7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389779" y="3127248"/>
            <a:ext cx="1250533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73A6B"/>
                </a:solidFill>
              </a:rPr>
              <a:t>测试RNA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502920" y="3483864"/>
            <a:ext cx="1901129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3547872"/>
            <a:ext cx="180968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24364B"/>
                </a:solidFill>
              </a:rPr>
              <a:t>Azodi 玉米 2020</a:t>
            </a:r>
            <a:endParaRPr lang="en-US" sz="1040" dirty="0"/>
          </a:p>
        </p:txBody>
      </p:sp>
      <p:sp>
        <p:nvSpPr>
          <p:cNvPr id="37" name="Shape 35"/>
          <p:cNvSpPr/>
          <p:nvPr/>
        </p:nvSpPr>
        <p:spPr>
          <a:xfrm>
            <a:off x="2404049" y="3483864"/>
            <a:ext cx="100648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49769" y="3547872"/>
            <a:ext cx="9150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24364B"/>
                </a:solidFill>
              </a:rPr>
              <a:t>388</a:t>
            </a:r>
            <a:endParaRPr lang="en-US" sz="1040" dirty="0"/>
          </a:p>
        </p:txBody>
      </p:sp>
      <p:sp>
        <p:nvSpPr>
          <p:cNvPr id="39" name="Shape 37"/>
          <p:cNvSpPr/>
          <p:nvPr/>
        </p:nvSpPr>
        <p:spPr>
          <a:xfrm>
            <a:off x="3410529" y="3483864"/>
            <a:ext cx="2236622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56249" y="3547872"/>
            <a:ext cx="214518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24364B"/>
                </a:solidFill>
              </a:rPr>
              <a:t>332k markers / 31k transcripts</a:t>
            </a:r>
            <a:endParaRPr lang="en-US" sz="1040" dirty="0"/>
          </a:p>
        </p:txBody>
      </p:sp>
      <p:sp>
        <p:nvSpPr>
          <p:cNvPr id="41" name="Shape 39"/>
          <p:cNvSpPr/>
          <p:nvPr/>
        </p:nvSpPr>
        <p:spPr>
          <a:xfrm>
            <a:off x="5647152" y="3483864"/>
            <a:ext cx="234845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92872" y="3547872"/>
            <a:ext cx="2257014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24364B"/>
                </a:solidFill>
              </a:rPr>
              <a:t>rrBLUP / BL / RF；100×5-fold</a:t>
            </a:r>
            <a:endParaRPr lang="en-US" sz="1040" dirty="0"/>
          </a:p>
        </p:txBody>
      </p:sp>
      <p:sp>
        <p:nvSpPr>
          <p:cNvPr id="43" name="Shape 41"/>
          <p:cNvSpPr/>
          <p:nvPr/>
        </p:nvSpPr>
        <p:spPr>
          <a:xfrm>
            <a:off x="7995605" y="3483864"/>
            <a:ext cx="100648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41325" y="3547872"/>
            <a:ext cx="9150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24364B"/>
                </a:solidFill>
              </a:rPr>
              <a:t>是</a:t>
            </a:r>
            <a:endParaRPr lang="en-US" sz="1040" dirty="0"/>
          </a:p>
        </p:txBody>
      </p:sp>
      <p:sp>
        <p:nvSpPr>
          <p:cNvPr id="45" name="Shape 43"/>
          <p:cNvSpPr/>
          <p:nvPr/>
        </p:nvSpPr>
        <p:spPr>
          <a:xfrm>
            <a:off x="9002085" y="3483864"/>
            <a:ext cx="1341973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047805" y="3547872"/>
            <a:ext cx="1250533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24364B"/>
                </a:solidFill>
              </a:rPr>
              <a:t>中–强</a:t>
            </a:r>
            <a:endParaRPr lang="en-US" sz="1040" dirty="0"/>
          </a:p>
        </p:txBody>
      </p:sp>
      <p:sp>
        <p:nvSpPr>
          <p:cNvPr id="47" name="Shape 45"/>
          <p:cNvSpPr/>
          <p:nvPr/>
        </p:nvSpPr>
        <p:spPr>
          <a:xfrm>
            <a:off x="10344059" y="3483864"/>
            <a:ext cx="1341973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389779" y="3547872"/>
            <a:ext cx="1250533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24364B"/>
                </a:solidFill>
              </a:rPr>
              <a:t>T模型需</a:t>
            </a:r>
            <a:endParaRPr lang="en-US" sz="1040" dirty="0"/>
          </a:p>
        </p:txBody>
      </p:sp>
      <p:sp>
        <p:nvSpPr>
          <p:cNvPr id="49" name="Shape 47"/>
          <p:cNvSpPr/>
          <p:nvPr/>
        </p:nvSpPr>
        <p:spPr>
          <a:xfrm>
            <a:off x="502920" y="3904488"/>
            <a:ext cx="1901129" cy="420624"/>
          </a:xfrm>
          <a:prstGeom prst="rect">
            <a:avLst/>
          </a:prstGeom>
          <a:solidFill>
            <a:srgbClr val="F8FAFD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" y="3968496"/>
            <a:ext cx="180968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24364B"/>
                </a:solidFill>
              </a:rPr>
              <a:t>Tanaka 水稻 2024</a:t>
            </a:r>
            <a:endParaRPr lang="en-US" sz="1040" dirty="0"/>
          </a:p>
        </p:txBody>
      </p:sp>
      <p:sp>
        <p:nvSpPr>
          <p:cNvPr id="51" name="Shape 49"/>
          <p:cNvSpPr/>
          <p:nvPr/>
        </p:nvSpPr>
        <p:spPr>
          <a:xfrm>
            <a:off x="2404049" y="3904488"/>
            <a:ext cx="1006480" cy="420624"/>
          </a:xfrm>
          <a:prstGeom prst="rect">
            <a:avLst/>
          </a:prstGeom>
          <a:solidFill>
            <a:srgbClr val="F8FAFD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449769" y="3968496"/>
            <a:ext cx="9150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24364B"/>
                </a:solidFill>
              </a:rPr>
              <a:t>57</a:t>
            </a:r>
            <a:endParaRPr lang="en-US" sz="1040" dirty="0"/>
          </a:p>
        </p:txBody>
      </p:sp>
      <p:sp>
        <p:nvSpPr>
          <p:cNvPr id="53" name="Shape 51"/>
          <p:cNvSpPr/>
          <p:nvPr/>
        </p:nvSpPr>
        <p:spPr>
          <a:xfrm>
            <a:off x="3410529" y="3904488"/>
            <a:ext cx="2236622" cy="420624"/>
          </a:xfrm>
          <a:prstGeom prst="rect">
            <a:avLst/>
          </a:prstGeom>
          <a:solidFill>
            <a:srgbClr val="F8FAFD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56249" y="3968496"/>
            <a:ext cx="214518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24364B"/>
                </a:solidFill>
              </a:rPr>
              <a:t>leaf/root RNA；WGS可用</a:t>
            </a:r>
            <a:endParaRPr lang="en-US" sz="1040" dirty="0"/>
          </a:p>
        </p:txBody>
      </p:sp>
      <p:sp>
        <p:nvSpPr>
          <p:cNvPr id="55" name="Shape 53"/>
          <p:cNvSpPr/>
          <p:nvPr/>
        </p:nvSpPr>
        <p:spPr>
          <a:xfrm>
            <a:off x="5647152" y="3904488"/>
            <a:ext cx="2348454" cy="420624"/>
          </a:xfrm>
          <a:prstGeom prst="rect">
            <a:avLst/>
          </a:prstGeom>
          <a:solidFill>
            <a:srgbClr val="F8FAFD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692872" y="3968496"/>
            <a:ext cx="2257014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24364B"/>
                </a:solidFill>
              </a:rPr>
              <a:t>转录组预测；CV</a:t>
            </a:r>
            <a:endParaRPr lang="en-US" sz="1040" dirty="0"/>
          </a:p>
        </p:txBody>
      </p:sp>
      <p:sp>
        <p:nvSpPr>
          <p:cNvPr id="57" name="Shape 55"/>
          <p:cNvSpPr/>
          <p:nvPr/>
        </p:nvSpPr>
        <p:spPr>
          <a:xfrm>
            <a:off x="7995605" y="3904488"/>
            <a:ext cx="1006480" cy="420624"/>
          </a:xfrm>
          <a:prstGeom prst="rect">
            <a:avLst/>
          </a:prstGeom>
          <a:solidFill>
            <a:srgbClr val="F8FAFD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041325" y="3968496"/>
            <a:ext cx="9150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24364B"/>
                </a:solidFill>
              </a:rPr>
              <a:t>是</a:t>
            </a:r>
            <a:endParaRPr lang="en-US" sz="1040" dirty="0"/>
          </a:p>
        </p:txBody>
      </p:sp>
      <p:sp>
        <p:nvSpPr>
          <p:cNvPr id="59" name="Shape 57"/>
          <p:cNvSpPr/>
          <p:nvPr/>
        </p:nvSpPr>
        <p:spPr>
          <a:xfrm>
            <a:off x="9002085" y="3904488"/>
            <a:ext cx="1341973" cy="420624"/>
          </a:xfrm>
          <a:prstGeom prst="rect">
            <a:avLst/>
          </a:prstGeom>
          <a:solidFill>
            <a:srgbClr val="F8FAFD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047805" y="3968496"/>
            <a:ext cx="1250533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24364B"/>
                </a:solidFill>
              </a:rPr>
              <a:t>基因中 / locus弱</a:t>
            </a:r>
            <a:endParaRPr lang="en-US" sz="1040" dirty="0"/>
          </a:p>
        </p:txBody>
      </p:sp>
      <p:sp>
        <p:nvSpPr>
          <p:cNvPr id="61" name="Shape 59"/>
          <p:cNvSpPr/>
          <p:nvPr/>
        </p:nvSpPr>
        <p:spPr>
          <a:xfrm>
            <a:off x="10344059" y="3904488"/>
            <a:ext cx="1341973" cy="420624"/>
          </a:xfrm>
          <a:prstGeom prst="rect">
            <a:avLst/>
          </a:prstGeom>
          <a:solidFill>
            <a:srgbClr val="F8FAFD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389779" y="3968496"/>
            <a:ext cx="1250533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24364B"/>
                </a:solidFill>
              </a:rPr>
              <a:t>需要</a:t>
            </a:r>
            <a:endParaRPr lang="en-US" sz="1040" dirty="0"/>
          </a:p>
        </p:txBody>
      </p:sp>
      <p:sp>
        <p:nvSpPr>
          <p:cNvPr id="63" name="Shape 61"/>
          <p:cNvSpPr/>
          <p:nvPr/>
        </p:nvSpPr>
        <p:spPr>
          <a:xfrm>
            <a:off x="502920" y="4325112"/>
            <a:ext cx="1901129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8640" y="4389120"/>
            <a:ext cx="180968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24364B"/>
                </a:solidFill>
              </a:rPr>
              <a:t>Wang 拟南芥 2024</a:t>
            </a:r>
            <a:endParaRPr lang="en-US" sz="1040" dirty="0"/>
          </a:p>
        </p:txBody>
      </p:sp>
      <p:sp>
        <p:nvSpPr>
          <p:cNvPr id="65" name="Shape 63"/>
          <p:cNvSpPr/>
          <p:nvPr/>
        </p:nvSpPr>
        <p:spPr>
          <a:xfrm>
            <a:off x="2404049" y="4325112"/>
            <a:ext cx="100648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449769" y="4389120"/>
            <a:ext cx="9150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24364B"/>
                </a:solidFill>
              </a:rPr>
              <a:t>383</a:t>
            </a:r>
            <a:endParaRPr lang="en-US" sz="1040" dirty="0"/>
          </a:p>
        </p:txBody>
      </p:sp>
      <p:sp>
        <p:nvSpPr>
          <p:cNvPr id="67" name="Shape 65"/>
          <p:cNvSpPr/>
          <p:nvPr/>
        </p:nvSpPr>
        <p:spPr>
          <a:xfrm>
            <a:off x="3410529" y="4325112"/>
            <a:ext cx="2236622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456249" y="4389120"/>
            <a:ext cx="214518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24364B"/>
                </a:solidFill>
              </a:rPr>
              <a:t>G + T + M</a:t>
            </a:r>
            <a:endParaRPr lang="en-US" sz="1040" dirty="0"/>
          </a:p>
        </p:txBody>
      </p:sp>
      <p:sp>
        <p:nvSpPr>
          <p:cNvPr id="69" name="Shape 67"/>
          <p:cNvSpPr/>
          <p:nvPr/>
        </p:nvSpPr>
        <p:spPr>
          <a:xfrm>
            <a:off x="5647152" y="4325112"/>
            <a:ext cx="234845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692872" y="4389120"/>
            <a:ext cx="2257014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24364B"/>
                </a:solidFill>
              </a:rPr>
              <a:t>rrBLUP / RF；80/20 + 5-fold</a:t>
            </a:r>
            <a:endParaRPr lang="en-US" sz="1040" dirty="0"/>
          </a:p>
        </p:txBody>
      </p:sp>
      <p:sp>
        <p:nvSpPr>
          <p:cNvPr id="71" name="Shape 69"/>
          <p:cNvSpPr/>
          <p:nvPr/>
        </p:nvSpPr>
        <p:spPr>
          <a:xfrm>
            <a:off x="7995605" y="4325112"/>
            <a:ext cx="100648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041325" y="4389120"/>
            <a:ext cx="9150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24364B"/>
                </a:solidFill>
              </a:rPr>
              <a:t>是</a:t>
            </a:r>
            <a:endParaRPr lang="en-US" sz="1040" dirty="0"/>
          </a:p>
        </p:txBody>
      </p:sp>
      <p:sp>
        <p:nvSpPr>
          <p:cNvPr id="73" name="Shape 71"/>
          <p:cNvSpPr/>
          <p:nvPr/>
        </p:nvSpPr>
        <p:spPr>
          <a:xfrm>
            <a:off x="9002085" y="4325112"/>
            <a:ext cx="1341973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047805" y="4389120"/>
            <a:ext cx="1250533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24364B"/>
                </a:solidFill>
              </a:rPr>
              <a:t>强；含interaction</a:t>
            </a:r>
            <a:endParaRPr lang="en-US" sz="1040" dirty="0"/>
          </a:p>
        </p:txBody>
      </p:sp>
      <p:sp>
        <p:nvSpPr>
          <p:cNvPr id="75" name="Shape 73"/>
          <p:cNvSpPr/>
          <p:nvPr/>
        </p:nvSpPr>
        <p:spPr>
          <a:xfrm>
            <a:off x="10344059" y="4325112"/>
            <a:ext cx="1341973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389779" y="4389120"/>
            <a:ext cx="1250533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24364B"/>
                </a:solidFill>
              </a:rPr>
              <a:t>组合模型需</a:t>
            </a:r>
            <a:endParaRPr lang="en-US" sz="1040" dirty="0"/>
          </a:p>
        </p:txBody>
      </p:sp>
      <p:sp>
        <p:nvSpPr>
          <p:cNvPr id="77" name="Shape 75"/>
          <p:cNvSpPr/>
          <p:nvPr/>
        </p:nvSpPr>
        <p:spPr>
          <a:xfrm>
            <a:off x="502920" y="4745736"/>
            <a:ext cx="1901129" cy="420624"/>
          </a:xfrm>
          <a:prstGeom prst="rect">
            <a:avLst/>
          </a:prstGeom>
          <a:solidFill>
            <a:srgbClr val="F8FAFD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48640" y="4809744"/>
            <a:ext cx="180968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24364B"/>
                </a:solidFill>
              </a:rPr>
              <a:t>Creach 玉米 2025/26</a:t>
            </a:r>
            <a:endParaRPr lang="en-US" sz="1040" dirty="0"/>
          </a:p>
        </p:txBody>
      </p:sp>
      <p:sp>
        <p:nvSpPr>
          <p:cNvPr id="79" name="Shape 77"/>
          <p:cNvSpPr/>
          <p:nvPr/>
        </p:nvSpPr>
        <p:spPr>
          <a:xfrm>
            <a:off x="2404049" y="4745736"/>
            <a:ext cx="1006480" cy="420624"/>
          </a:xfrm>
          <a:prstGeom prst="rect">
            <a:avLst/>
          </a:prstGeom>
          <a:solidFill>
            <a:srgbClr val="F8FAFD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449769" y="4809744"/>
            <a:ext cx="9150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24364B"/>
                </a:solidFill>
              </a:rPr>
              <a:t>~750</a:t>
            </a:r>
            <a:endParaRPr lang="en-US" sz="1040" dirty="0"/>
          </a:p>
        </p:txBody>
      </p:sp>
      <p:sp>
        <p:nvSpPr>
          <p:cNvPr id="81" name="Shape 79"/>
          <p:cNvSpPr/>
          <p:nvPr/>
        </p:nvSpPr>
        <p:spPr>
          <a:xfrm>
            <a:off x="3410529" y="4745736"/>
            <a:ext cx="2236622" cy="420624"/>
          </a:xfrm>
          <a:prstGeom prst="rect">
            <a:avLst/>
          </a:prstGeom>
          <a:solidFill>
            <a:srgbClr val="F8FAFD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456249" y="4809744"/>
            <a:ext cx="214518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24364B"/>
                </a:solidFill>
              </a:rPr>
              <a:t>34k SNP + ~30k RNA + phenomics</a:t>
            </a:r>
            <a:endParaRPr lang="en-US" sz="1040" dirty="0"/>
          </a:p>
        </p:txBody>
      </p:sp>
      <p:sp>
        <p:nvSpPr>
          <p:cNvPr id="83" name="Shape 81"/>
          <p:cNvSpPr/>
          <p:nvPr/>
        </p:nvSpPr>
        <p:spPr>
          <a:xfrm>
            <a:off x="5647152" y="4745736"/>
            <a:ext cx="2348454" cy="420624"/>
          </a:xfrm>
          <a:prstGeom prst="rect">
            <a:avLst/>
          </a:prstGeom>
          <a:solidFill>
            <a:srgbClr val="F8FAFD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692872" y="4809744"/>
            <a:ext cx="2257014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24364B"/>
                </a:solidFill>
              </a:rPr>
              <a:t>rrBLUP / SVR；genotype 5-fold</a:t>
            </a:r>
            <a:endParaRPr lang="en-US" sz="1040" dirty="0"/>
          </a:p>
        </p:txBody>
      </p:sp>
      <p:sp>
        <p:nvSpPr>
          <p:cNvPr id="85" name="Shape 83"/>
          <p:cNvSpPr/>
          <p:nvPr/>
        </p:nvSpPr>
        <p:spPr>
          <a:xfrm>
            <a:off x="7995605" y="4745736"/>
            <a:ext cx="1006480" cy="420624"/>
          </a:xfrm>
          <a:prstGeom prst="rect">
            <a:avLst/>
          </a:prstGeom>
          <a:solidFill>
            <a:srgbClr val="F8FAFD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041325" y="4809744"/>
            <a:ext cx="9150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24364B"/>
                </a:solidFill>
              </a:rPr>
              <a:t>是</a:t>
            </a:r>
            <a:endParaRPr lang="en-US" sz="1040" dirty="0"/>
          </a:p>
        </p:txBody>
      </p:sp>
      <p:sp>
        <p:nvSpPr>
          <p:cNvPr id="87" name="Shape 85"/>
          <p:cNvSpPr/>
          <p:nvPr/>
        </p:nvSpPr>
        <p:spPr>
          <a:xfrm>
            <a:off x="9002085" y="4745736"/>
            <a:ext cx="1341973" cy="420624"/>
          </a:xfrm>
          <a:prstGeom prst="rect">
            <a:avLst/>
          </a:prstGeom>
          <a:solidFill>
            <a:srgbClr val="F8FAFD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9047805" y="4809744"/>
            <a:ext cx="1250533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24364B"/>
                </a:solidFill>
              </a:rPr>
              <a:t>中–强</a:t>
            </a:r>
            <a:endParaRPr lang="en-US" sz="1040" dirty="0"/>
          </a:p>
        </p:txBody>
      </p:sp>
      <p:sp>
        <p:nvSpPr>
          <p:cNvPr id="89" name="Shape 87"/>
          <p:cNvSpPr/>
          <p:nvPr/>
        </p:nvSpPr>
        <p:spPr>
          <a:xfrm>
            <a:off x="10344059" y="4745736"/>
            <a:ext cx="1341973" cy="420624"/>
          </a:xfrm>
          <a:prstGeom prst="rect">
            <a:avLst/>
          </a:prstGeom>
          <a:solidFill>
            <a:srgbClr val="F8FAFD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0389779" y="4809744"/>
            <a:ext cx="1250533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24364B"/>
                </a:solidFill>
              </a:rPr>
              <a:t>组合模型需</a:t>
            </a:r>
            <a:endParaRPr lang="en-US" sz="1040" dirty="0"/>
          </a:p>
        </p:txBody>
      </p:sp>
      <p:sp>
        <p:nvSpPr>
          <p:cNvPr id="91" name="Shape 89"/>
          <p:cNvSpPr/>
          <p:nvPr/>
        </p:nvSpPr>
        <p:spPr>
          <a:xfrm>
            <a:off x="502920" y="5358130"/>
            <a:ext cx="3429000" cy="993775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6DFE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67512" y="5486400"/>
            <a:ext cx="309981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46BCE"/>
                </a:solidFill>
              </a:rPr>
              <a:t>优势</a:t>
            </a:r>
            <a:endParaRPr lang="en-US" sz="1350" dirty="0"/>
          </a:p>
        </p:txBody>
      </p:sp>
      <p:sp>
        <p:nvSpPr>
          <p:cNvPr id="93" name="Shape 91"/>
          <p:cNvSpPr/>
          <p:nvPr/>
        </p:nvSpPr>
        <p:spPr>
          <a:xfrm>
            <a:off x="667512" y="5833872"/>
            <a:ext cx="3099816" cy="0"/>
          </a:xfrm>
          <a:prstGeom prst="line">
            <a:avLst/>
          </a:prstGeom>
          <a:noFill/>
          <a:ln w="12700">
            <a:solidFill>
              <a:srgbClr val="E6ECF3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85800" y="5943600"/>
            <a:ext cx="3063240" cy="3657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4364B"/>
                </a:solidFill>
              </a:rPr>
              <a:t>实测 RNA 接近功能状态；对复杂性状往往有很强预测力，并能筛候选基因。</a:t>
            </a:r>
            <a:endParaRPr lang="en-US" sz="1150" dirty="0"/>
          </a:p>
        </p:txBody>
      </p:sp>
      <p:sp>
        <p:nvSpPr>
          <p:cNvPr id="95" name="Shape 93"/>
          <p:cNvSpPr/>
          <p:nvPr/>
        </p:nvSpPr>
        <p:spPr>
          <a:xfrm>
            <a:off x="4069080" y="5358130"/>
            <a:ext cx="3429000" cy="991235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6DFEA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233672" y="5486400"/>
            <a:ext cx="309981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84A4A"/>
                </a:solidFill>
              </a:rPr>
              <a:t>核心局限</a:t>
            </a:r>
            <a:endParaRPr lang="en-US" sz="1350" dirty="0"/>
          </a:p>
        </p:txBody>
      </p:sp>
      <p:sp>
        <p:nvSpPr>
          <p:cNvPr id="97" name="Shape 95"/>
          <p:cNvSpPr/>
          <p:nvPr/>
        </p:nvSpPr>
        <p:spPr>
          <a:xfrm>
            <a:off x="4233672" y="5833872"/>
            <a:ext cx="3099816" cy="0"/>
          </a:xfrm>
          <a:prstGeom prst="line">
            <a:avLst/>
          </a:prstGeom>
          <a:noFill/>
          <a:ln w="12700">
            <a:solidFill>
              <a:srgbClr val="E6ECF3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251960" y="5943600"/>
            <a:ext cx="3063240" cy="3657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4364B"/>
                </a:solidFill>
              </a:rPr>
              <a:t>一旦模型依赖 T，新品种推理通常要重新测 RNA；大规模育种成本高。</a:t>
            </a:r>
            <a:endParaRPr lang="en-US" sz="1150" dirty="0"/>
          </a:p>
        </p:txBody>
      </p:sp>
      <p:sp>
        <p:nvSpPr>
          <p:cNvPr id="99" name="Shape 97"/>
          <p:cNvSpPr/>
          <p:nvPr/>
        </p:nvSpPr>
        <p:spPr>
          <a:xfrm>
            <a:off x="7635240" y="5358130"/>
            <a:ext cx="4050665" cy="9969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6DFEA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7799832" y="5486400"/>
            <a:ext cx="372160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8B57"/>
                </a:solidFill>
              </a:rPr>
              <a:t>对 OGR 的价值</a:t>
            </a:r>
            <a:endParaRPr lang="en-US" sz="1350" dirty="0"/>
          </a:p>
        </p:txBody>
      </p:sp>
      <p:sp>
        <p:nvSpPr>
          <p:cNvPr id="101" name="Shape 99"/>
          <p:cNvSpPr/>
          <p:nvPr/>
        </p:nvSpPr>
        <p:spPr>
          <a:xfrm>
            <a:off x="7799832" y="5833872"/>
            <a:ext cx="3721608" cy="0"/>
          </a:xfrm>
          <a:prstGeom prst="line">
            <a:avLst/>
          </a:prstGeom>
          <a:noFill/>
          <a:ln w="12700">
            <a:solidFill>
              <a:srgbClr val="E6ECF3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7818120" y="5943600"/>
            <a:ext cx="3685032" cy="3657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4364B"/>
                </a:solidFill>
              </a:rPr>
              <a:t>证明“RNA / gene state → phenotype”这一后半段是可行的；OGR可尝试把实测RNA替换为预测RNA。</a:t>
            </a:r>
            <a:endParaRPr lang="en-US" sz="1150" dirty="0"/>
          </a:p>
        </p:txBody>
      </p:sp>
      <p:sp>
        <p:nvSpPr>
          <p:cNvPr id="103" name="Text 101"/>
          <p:cNvSpPr/>
          <p:nvPr/>
        </p:nvSpPr>
        <p:spPr>
          <a:xfrm>
            <a:off x="502920" y="6355080"/>
            <a:ext cx="1069848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7A8491"/>
                </a:solidFill>
              </a:rPr>
              <a:t>代表工作：Azodi et al., The Plant Cell 2020; Tanaka et al., BMC Genomics 2024; Wang et al., Nature Communications 2024; Creach et al., The Plant Cell 2026.</a:t>
            </a:r>
            <a:endParaRPr lang="en-US" sz="750" dirty="0"/>
          </a:p>
        </p:txBody>
      </p:sp>
      <p:sp>
        <p:nvSpPr>
          <p:cNvPr id="10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7395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8794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786384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868680"/>
            <a:ext cx="218541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5758A"/>
                </a:solidFill>
              </a:rPr>
              <a:t>① 串联预测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999232" y="786384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072384" y="868680"/>
            <a:ext cx="218541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5758A"/>
                </a:solidFill>
              </a:rPr>
              <a:t>② 并行整合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95544" y="786384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178F8A"/>
          </a:solidFill>
          <a:ln w="12700">
            <a:solidFill>
              <a:srgbClr val="178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68696" y="868680"/>
            <a:ext cx="218541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③ RNA辅助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991856" y="786384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65008" y="868680"/>
            <a:ext cx="218541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5758A"/>
                </a:solidFill>
              </a:rPr>
              <a:t>④ 中介定位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325880"/>
            <a:ext cx="64008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8F8A"/>
                </a:solidFill>
              </a:rPr>
              <a:t>③ 利用 RNA 辅助 DNA → 表型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502920" y="1764792"/>
            <a:ext cx="7589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</a:rPr>
              <a:t>训练时让 RNA 充当“教师”或高层表示；推理时只输入 DNA / mutation。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2240280"/>
            <a:ext cx="1965960" cy="621792"/>
          </a:xfrm>
          <a:prstGeom prst="roundRect">
            <a:avLst/>
          </a:prstGeom>
          <a:solidFill>
            <a:srgbClr val="F2FBFA"/>
          </a:solidFill>
          <a:ln w="19050">
            <a:solidFill>
              <a:srgbClr val="178F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441448"/>
            <a:ext cx="1691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8F8A"/>
                </a:solidFill>
              </a:rPr>
              <a:t>RNA / expression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88920" y="2386584"/>
            <a:ext cx="438912" cy="292608"/>
          </a:xfrm>
          <a:prstGeom prst="chevron">
            <a:avLst/>
          </a:prstGeom>
          <a:solidFill>
            <a:srgbClr val="178F8A"/>
          </a:solidFill>
          <a:ln w="12700">
            <a:solidFill>
              <a:srgbClr val="178F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0" y="2240280"/>
            <a:ext cx="1417320" cy="621792"/>
          </a:xfrm>
          <a:prstGeom prst="roundRect">
            <a:avLst/>
          </a:prstGeom>
          <a:solidFill>
            <a:srgbClr val="F2FBFA"/>
          </a:solidFill>
          <a:ln w="19050">
            <a:solidFill>
              <a:srgbClr val="178F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12464" y="2432304"/>
            <a:ext cx="777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8F8A"/>
                </a:solidFill>
              </a:rPr>
              <a:t>z_T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87368" y="2907792"/>
            <a:ext cx="0" cy="411480"/>
          </a:xfrm>
          <a:prstGeom prst="line">
            <a:avLst/>
          </a:prstGeom>
          <a:noFill/>
          <a:ln w="15240">
            <a:solidFill>
              <a:srgbClr val="8A96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87368" y="3273552"/>
            <a:ext cx="0" cy="420624"/>
          </a:xfrm>
          <a:prstGeom prst="line">
            <a:avLst/>
          </a:prstGeom>
          <a:noFill/>
          <a:ln w="15240">
            <a:solidFill>
              <a:srgbClr val="8A96A8"/>
            </a:solidFill>
            <a:prstDash val="solid"/>
            <a:headEnd type="triangl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85800" y="3749040"/>
            <a:ext cx="1965960" cy="621792"/>
          </a:xfrm>
          <a:prstGeom prst="roundRect">
            <a:avLst/>
          </a:prstGeom>
          <a:solidFill>
            <a:srgbClr val="F6FAFF"/>
          </a:solidFill>
          <a:ln w="19050">
            <a:solidFill>
              <a:srgbClr val="17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950208"/>
            <a:ext cx="1691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A6B"/>
                </a:solidFill>
              </a:rPr>
              <a:t>DNA / mutation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788920" y="3895344"/>
            <a:ext cx="438912" cy="292608"/>
          </a:xfrm>
          <a:prstGeom prst="chevron">
            <a:avLst/>
          </a:prstGeom>
          <a:solidFill>
            <a:srgbClr val="173A6B"/>
          </a:solidFill>
          <a:ln w="12700">
            <a:solidFill>
              <a:srgbClr val="173A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83280" y="3749040"/>
            <a:ext cx="1417320" cy="621792"/>
          </a:xfrm>
          <a:prstGeom prst="roundRect">
            <a:avLst/>
          </a:prstGeom>
          <a:solidFill>
            <a:srgbClr val="F6FAFF"/>
          </a:solidFill>
          <a:ln w="19050">
            <a:solidFill>
              <a:srgbClr val="173A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12464" y="3941064"/>
            <a:ext cx="777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A6B"/>
                </a:solidFill>
              </a:rPr>
              <a:t>z_G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090672" y="3072384"/>
            <a:ext cx="199339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</a:rPr>
              <a:t>representation alignment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</a:rPr>
              <a:t>z_G ≈ z_T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74920" y="3913632"/>
            <a:ext cx="502920" cy="292608"/>
          </a:xfrm>
          <a:prstGeom prst="chevron">
            <a:avLst/>
          </a:prstGeom>
          <a:solidFill>
            <a:srgbClr val="178F8A"/>
          </a:solidFill>
          <a:ln w="12700">
            <a:solidFill>
              <a:srgbClr val="178F8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15000" y="3730752"/>
            <a:ext cx="1874520" cy="658368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178F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97880" y="3931920"/>
            <a:ext cx="151790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8F8A"/>
                </a:solidFill>
              </a:rPr>
              <a:t>Phenotype / response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909560" y="2176272"/>
            <a:ext cx="3767328" cy="2359152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12700">
            <a:solidFill>
              <a:srgbClr val="D6DF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74152" y="2304288"/>
            <a:ext cx="34381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8F8A"/>
                </a:solidFill>
              </a:rPr>
              <a:t>代表：CLEIT（2020/2022）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8074152" y="2651760"/>
            <a:ext cx="3438144" cy="0"/>
          </a:xfrm>
          <a:prstGeom prst="line">
            <a:avLst/>
          </a:prstGeom>
          <a:noFill/>
          <a:ln w="12700">
            <a:solidFill>
              <a:srgbClr val="E6ECF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92440" y="2761488"/>
            <a:ext cx="3401568" cy="16459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4364B"/>
                </a:solidFill>
              </a:rPr>
              <a:t>数据：575 paired cell lines（mutation + expression + drug response）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4364B"/>
                </a:solidFill>
              </a:rPr>
              <a:t>独立 mutation-only test：222 cell lines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4364B"/>
                </a:solidFill>
              </a:rPr>
              <a:t>另有 ~10k unlabeled expression 与 ~10k unlabeled mutation samples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4364B"/>
                </a:solidFill>
              </a:rPr>
              <a:t>结构：dual autoencoder + cross-level representation transfer / alignment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02920" y="4864608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DF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" y="4992624"/>
            <a:ext cx="309981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8F8A"/>
                </a:solidFill>
              </a:rPr>
              <a:t>为什么比并行整合更适合新品种？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667512" y="5340096"/>
            <a:ext cx="3099816" cy="0"/>
          </a:xfrm>
          <a:prstGeom prst="line">
            <a:avLst/>
          </a:prstGeom>
          <a:noFill/>
          <a:ln w="12700">
            <a:solidFill>
              <a:srgbClr val="E6ECF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5449824"/>
            <a:ext cx="3063240" cy="4297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4364B"/>
                </a:solidFill>
              </a:rPr>
              <a:t>推理阶段只需 DNA。RNA 主要作为训练监督，帮助 genotype encoder 学到更接近 phenotype 的表示。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069080" y="4864608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DF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33672" y="4992624"/>
            <a:ext cx="309981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84A4A"/>
                </a:solidFill>
              </a:rPr>
              <a:t>主要不足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4233672" y="5340096"/>
            <a:ext cx="3099816" cy="0"/>
          </a:xfrm>
          <a:prstGeom prst="line">
            <a:avLst/>
          </a:prstGeom>
          <a:noFill/>
          <a:ln w="12700">
            <a:solidFill>
              <a:srgbClr val="E6ECF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51960" y="5449824"/>
            <a:ext cx="3063240" cy="4297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4364B"/>
                </a:solidFill>
              </a:rPr>
              <a:t>中间层是 RNA-informed latent，而不是真实可解释的 gene expression；难直接解释“哪个基因表达改变了多少”。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7635240" y="4864608"/>
            <a:ext cx="405079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DF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99832" y="4992624"/>
            <a:ext cx="372160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8B57"/>
                </a:solidFill>
              </a:rPr>
              <a:t>与 OGR 的互补关系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7799832" y="5340096"/>
            <a:ext cx="3721608" cy="0"/>
          </a:xfrm>
          <a:prstGeom prst="line">
            <a:avLst/>
          </a:prstGeom>
          <a:noFill/>
          <a:ln w="12700">
            <a:solidFill>
              <a:srgbClr val="E6ECF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818120" y="5449824"/>
            <a:ext cx="3685032" cy="4297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4364B"/>
                </a:solidFill>
              </a:rPr>
              <a:t>CLEIT：DNA → RNA-like latent → 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4364B"/>
                </a:solidFill>
              </a:rPr>
              <a:t>OGR式：DNA → predicted RNA / gene state → 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4364B"/>
                </a:solidFill>
              </a:rPr>
              <a:t>后者更适合做 variant→gene→trait 追踪。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02920" y="6355080"/>
            <a:ext cx="1069848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7A8491"/>
                </a:solidFill>
              </a:rPr>
              <a:t>代表工作：He &amp; Xie, CLEIT, Bioinformatics 2022（预印本 2020）。</a:t>
            </a:r>
            <a:endParaRPr lang="en-US" sz="75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7395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8794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786384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868680"/>
            <a:ext cx="218541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5758A"/>
                </a:solidFill>
              </a:rPr>
              <a:t>① 串联预测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999232" y="786384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072384" y="868680"/>
            <a:ext cx="218541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5758A"/>
                </a:solidFill>
              </a:rPr>
              <a:t>② 并行整合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95544" y="786384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68696" y="868680"/>
            <a:ext cx="218541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5758A"/>
                </a:solidFill>
              </a:rPr>
              <a:t>③ RNA辅助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991856" y="786384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6E55B3"/>
          </a:solidFill>
          <a:ln w="12700">
            <a:solidFill>
              <a:srgbClr val="6E55B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65008" y="868680"/>
            <a:ext cx="218541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④ 中介定位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325880"/>
            <a:ext cx="73152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6E55B3"/>
                </a:solidFill>
              </a:rPr>
              <a:t>④ 用 RNA 做中介定位因果 / 候选基因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502920" y="1764792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</a:rPr>
              <a:t>重点不是预测一个新个体的表型，而是问：哪些基因的遗传调控表达与性状相关？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13232" y="2176272"/>
            <a:ext cx="1874520" cy="566928"/>
          </a:xfrm>
          <a:prstGeom prst="roundRect">
            <a:avLst>
              <a:gd name="adj" fmla="val 12903"/>
            </a:avLst>
          </a:prstGeom>
          <a:solidFill>
            <a:srgbClr val="F8FBFF"/>
          </a:solidFill>
          <a:ln w="19050">
            <a:solidFill>
              <a:srgbClr val="6E55B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2322576"/>
            <a:ext cx="1728216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4364B"/>
                </a:solidFill>
              </a:rPr>
              <a:t>cis genotype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633472" y="2313432"/>
            <a:ext cx="411480" cy="274320"/>
          </a:xfrm>
          <a:prstGeom prst="chevron">
            <a:avLst/>
          </a:prstGeom>
          <a:solidFill>
            <a:srgbClr val="6E55B3"/>
          </a:solidFill>
          <a:ln w="12700">
            <a:solidFill>
              <a:srgbClr val="6E55B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90672" y="2176272"/>
            <a:ext cx="2514600" cy="566928"/>
          </a:xfrm>
          <a:prstGeom prst="roundRect">
            <a:avLst>
              <a:gd name="adj" fmla="val 12903"/>
            </a:avLst>
          </a:prstGeom>
          <a:solidFill>
            <a:srgbClr val="F8FBFF"/>
          </a:solidFill>
          <a:ln w="19050">
            <a:solidFill>
              <a:srgbClr val="6E55B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63824" y="2322576"/>
            <a:ext cx="2368296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4364B"/>
                </a:solidFill>
              </a:rPr>
              <a:t>genetically predicted RNA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650992" y="2313432"/>
            <a:ext cx="411480" cy="274320"/>
          </a:xfrm>
          <a:prstGeom prst="chevron">
            <a:avLst/>
          </a:prstGeom>
          <a:solidFill>
            <a:srgbClr val="6E55B3"/>
          </a:solidFill>
          <a:ln w="12700">
            <a:solidFill>
              <a:srgbClr val="6E55B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08192" y="2176272"/>
            <a:ext cx="2514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6E55B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81344" y="2322576"/>
            <a:ext cx="2368296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E55B3"/>
                </a:solidFill>
              </a:rPr>
              <a:t>gene–trait association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13232" y="2834640"/>
            <a:ext cx="7909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4748B"/>
                </a:solidFill>
              </a:rPr>
              <a:t>G → Ê_g ↔ Y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2920" y="3090672"/>
            <a:ext cx="1677467" cy="443484"/>
          </a:xfrm>
          <a:prstGeom prst="rect">
            <a:avLst/>
          </a:prstGeom>
          <a:solidFill>
            <a:srgbClr val="E8EEF7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154680"/>
            <a:ext cx="1586027" cy="3337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73A6B"/>
                </a:solidFill>
              </a:rPr>
              <a:t>工作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2180387" y="3090672"/>
            <a:ext cx="1901129" cy="443484"/>
          </a:xfrm>
          <a:prstGeom prst="rect">
            <a:avLst/>
          </a:prstGeom>
          <a:solidFill>
            <a:srgbClr val="E8EEF7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26107" y="3154680"/>
            <a:ext cx="1809689" cy="3337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73A6B"/>
                </a:solidFill>
              </a:rPr>
              <a:t>DNA→RNA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4081516" y="3090672"/>
            <a:ext cx="1789298" cy="443484"/>
          </a:xfrm>
          <a:prstGeom prst="rect">
            <a:avLst/>
          </a:prstGeom>
          <a:solidFill>
            <a:srgbClr val="E8EEF7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27236" y="3154680"/>
            <a:ext cx="1697858" cy="3337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73A6B"/>
                </a:solidFill>
              </a:rPr>
              <a:t>表型层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5870814" y="3090672"/>
            <a:ext cx="2124791" cy="443484"/>
          </a:xfrm>
          <a:prstGeom prst="rect">
            <a:avLst/>
          </a:prstGeom>
          <a:solidFill>
            <a:srgbClr val="E8EEF7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16534" y="3154680"/>
            <a:ext cx="2033351" cy="3337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73A6B"/>
                </a:solidFill>
              </a:rPr>
              <a:t>样本/数据规模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7995605" y="3090672"/>
            <a:ext cx="1453805" cy="443484"/>
          </a:xfrm>
          <a:prstGeom prst="rect">
            <a:avLst/>
          </a:prstGeom>
          <a:solidFill>
            <a:srgbClr val="E8EEF7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1325" y="3154680"/>
            <a:ext cx="1362365" cy="3337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73A6B"/>
                </a:solidFill>
              </a:rPr>
              <a:t>是否预测新个体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9449410" y="3090672"/>
            <a:ext cx="1341973" cy="443484"/>
          </a:xfrm>
          <a:prstGeom prst="rect">
            <a:avLst/>
          </a:prstGeom>
          <a:solidFill>
            <a:srgbClr val="E8EEF7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495130" y="3154680"/>
            <a:ext cx="1250533" cy="3337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73A6B"/>
                </a:solidFill>
              </a:rPr>
              <a:t>定位能力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10791383" y="3090672"/>
            <a:ext cx="894649" cy="443484"/>
          </a:xfrm>
          <a:prstGeom prst="rect">
            <a:avLst/>
          </a:prstGeom>
          <a:solidFill>
            <a:srgbClr val="E8EEF7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837103" y="3154680"/>
            <a:ext cx="803209" cy="3337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73A6B"/>
                </a:solidFill>
              </a:rPr>
              <a:t>测试RNA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502920" y="3534156"/>
            <a:ext cx="1677467" cy="4434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3598164"/>
            <a:ext cx="1586027" cy="3337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24364B"/>
                </a:solidFill>
              </a:rPr>
              <a:t>PrediXcan 2015</a:t>
            </a:r>
            <a:endParaRPr lang="en-US" sz="1040" dirty="0"/>
          </a:p>
        </p:txBody>
      </p:sp>
      <p:sp>
        <p:nvSpPr>
          <p:cNvPr id="37" name="Shape 35"/>
          <p:cNvSpPr/>
          <p:nvPr/>
        </p:nvSpPr>
        <p:spPr>
          <a:xfrm>
            <a:off x="2180387" y="3534156"/>
            <a:ext cx="1901129" cy="4434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26107" y="3598164"/>
            <a:ext cx="1809689" cy="3337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24364B"/>
                </a:solidFill>
              </a:rPr>
              <a:t>Elastic Net cis-SNP</a:t>
            </a:r>
            <a:endParaRPr lang="en-US" sz="1040" dirty="0"/>
          </a:p>
        </p:txBody>
      </p:sp>
      <p:sp>
        <p:nvSpPr>
          <p:cNvPr id="39" name="Shape 37"/>
          <p:cNvSpPr/>
          <p:nvPr/>
        </p:nvSpPr>
        <p:spPr>
          <a:xfrm>
            <a:off x="4081516" y="3534156"/>
            <a:ext cx="1789298" cy="4434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27236" y="3598164"/>
            <a:ext cx="1697858" cy="3337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24364B"/>
                </a:solidFill>
              </a:rPr>
              <a:t>gene-wise association</a:t>
            </a:r>
            <a:endParaRPr lang="en-US" sz="1040" dirty="0"/>
          </a:p>
        </p:txBody>
      </p:sp>
      <p:sp>
        <p:nvSpPr>
          <p:cNvPr id="41" name="Shape 39"/>
          <p:cNvSpPr/>
          <p:nvPr/>
        </p:nvSpPr>
        <p:spPr>
          <a:xfrm>
            <a:off x="5870814" y="3534156"/>
            <a:ext cx="2124791" cy="4434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16534" y="3598164"/>
            <a:ext cx="2033351" cy="3337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24364B"/>
                </a:solidFill>
              </a:rPr>
              <a:t>reference RNA 数百–千；GWAS可很大</a:t>
            </a:r>
            <a:endParaRPr lang="en-US" sz="1040" dirty="0"/>
          </a:p>
        </p:txBody>
      </p:sp>
      <p:sp>
        <p:nvSpPr>
          <p:cNvPr id="43" name="Shape 41"/>
          <p:cNvSpPr/>
          <p:nvPr/>
        </p:nvSpPr>
        <p:spPr>
          <a:xfrm>
            <a:off x="7995605" y="3534156"/>
            <a:ext cx="1453805" cy="4434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41325" y="3598164"/>
            <a:ext cx="1362365" cy="3337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24364B"/>
                </a:solidFill>
              </a:rPr>
              <a:t>非主要目标</a:t>
            </a:r>
            <a:endParaRPr lang="en-US" sz="1040" dirty="0"/>
          </a:p>
        </p:txBody>
      </p:sp>
      <p:sp>
        <p:nvSpPr>
          <p:cNvPr id="45" name="Shape 43"/>
          <p:cNvSpPr/>
          <p:nvPr/>
        </p:nvSpPr>
        <p:spPr>
          <a:xfrm>
            <a:off x="9449410" y="3534156"/>
            <a:ext cx="1341973" cy="4434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495130" y="3598164"/>
            <a:ext cx="1250533" cy="3337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24364B"/>
                </a:solidFill>
              </a:rPr>
              <a:t>gene / eQTL 强</a:t>
            </a:r>
            <a:endParaRPr lang="en-US" sz="1040" dirty="0"/>
          </a:p>
        </p:txBody>
      </p:sp>
      <p:sp>
        <p:nvSpPr>
          <p:cNvPr id="47" name="Shape 45"/>
          <p:cNvSpPr/>
          <p:nvPr/>
        </p:nvSpPr>
        <p:spPr>
          <a:xfrm>
            <a:off x="10791383" y="3534156"/>
            <a:ext cx="894649" cy="4434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837103" y="3598164"/>
            <a:ext cx="803209" cy="3337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24364B"/>
                </a:solidFill>
              </a:rPr>
              <a:t>否</a:t>
            </a:r>
            <a:endParaRPr lang="en-US" sz="1040" dirty="0"/>
          </a:p>
        </p:txBody>
      </p:sp>
      <p:sp>
        <p:nvSpPr>
          <p:cNvPr id="49" name="Shape 47"/>
          <p:cNvSpPr/>
          <p:nvPr/>
        </p:nvSpPr>
        <p:spPr>
          <a:xfrm>
            <a:off x="502920" y="3977640"/>
            <a:ext cx="1677467" cy="443484"/>
          </a:xfrm>
          <a:prstGeom prst="rect">
            <a:avLst/>
          </a:prstGeom>
          <a:solidFill>
            <a:srgbClr val="F8FAFD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" y="4041648"/>
            <a:ext cx="1586027" cy="3337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24364B"/>
                </a:solidFill>
              </a:rPr>
              <a:t>FUSION/TWAS 2016</a:t>
            </a:r>
            <a:endParaRPr lang="en-US" sz="1040" dirty="0"/>
          </a:p>
        </p:txBody>
      </p:sp>
      <p:sp>
        <p:nvSpPr>
          <p:cNvPr id="51" name="Shape 49"/>
          <p:cNvSpPr/>
          <p:nvPr/>
        </p:nvSpPr>
        <p:spPr>
          <a:xfrm>
            <a:off x="2180387" y="3977640"/>
            <a:ext cx="1901129" cy="443484"/>
          </a:xfrm>
          <a:prstGeom prst="rect">
            <a:avLst/>
          </a:prstGeom>
          <a:solidFill>
            <a:srgbClr val="F8FAFD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226107" y="4041648"/>
            <a:ext cx="1809689" cy="3337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24364B"/>
                </a:solidFill>
              </a:rPr>
              <a:t>BLUP/LASSO/EN/BSLMM</a:t>
            </a:r>
            <a:endParaRPr lang="en-US" sz="1040" dirty="0"/>
          </a:p>
        </p:txBody>
      </p:sp>
      <p:sp>
        <p:nvSpPr>
          <p:cNvPr id="53" name="Shape 51"/>
          <p:cNvSpPr/>
          <p:nvPr/>
        </p:nvSpPr>
        <p:spPr>
          <a:xfrm>
            <a:off x="4081516" y="3977640"/>
            <a:ext cx="1789298" cy="443484"/>
          </a:xfrm>
          <a:prstGeom prst="rect">
            <a:avLst/>
          </a:prstGeom>
          <a:solidFill>
            <a:srgbClr val="F8FAFD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27236" y="4041648"/>
            <a:ext cx="1697858" cy="3337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24364B"/>
                </a:solidFill>
              </a:rPr>
              <a:t>GWAS summary association</a:t>
            </a:r>
            <a:endParaRPr lang="en-US" sz="1040" dirty="0"/>
          </a:p>
        </p:txBody>
      </p:sp>
      <p:sp>
        <p:nvSpPr>
          <p:cNvPr id="55" name="Shape 53"/>
          <p:cNvSpPr/>
          <p:nvPr/>
        </p:nvSpPr>
        <p:spPr>
          <a:xfrm>
            <a:off x="5870814" y="3977640"/>
            <a:ext cx="2124791" cy="443484"/>
          </a:xfrm>
          <a:prstGeom prst="rect">
            <a:avLst/>
          </a:prstGeom>
          <a:solidFill>
            <a:srgbClr val="F8FAFD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916534" y="4041648"/>
            <a:ext cx="2033351" cy="3337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24364B"/>
                </a:solidFill>
              </a:rPr>
              <a:t>reference panel + large GWAS</a:t>
            </a:r>
            <a:endParaRPr lang="en-US" sz="1040" dirty="0"/>
          </a:p>
        </p:txBody>
      </p:sp>
      <p:sp>
        <p:nvSpPr>
          <p:cNvPr id="57" name="Shape 55"/>
          <p:cNvSpPr/>
          <p:nvPr/>
        </p:nvSpPr>
        <p:spPr>
          <a:xfrm>
            <a:off x="7995605" y="3977640"/>
            <a:ext cx="1453805" cy="443484"/>
          </a:xfrm>
          <a:prstGeom prst="rect">
            <a:avLst/>
          </a:prstGeom>
          <a:solidFill>
            <a:srgbClr val="F8FAFD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041325" y="4041648"/>
            <a:ext cx="1362365" cy="3337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24364B"/>
                </a:solidFill>
              </a:rPr>
              <a:t>否</a:t>
            </a:r>
            <a:endParaRPr lang="en-US" sz="1040" dirty="0"/>
          </a:p>
        </p:txBody>
      </p:sp>
      <p:sp>
        <p:nvSpPr>
          <p:cNvPr id="59" name="Shape 57"/>
          <p:cNvSpPr/>
          <p:nvPr/>
        </p:nvSpPr>
        <p:spPr>
          <a:xfrm>
            <a:off x="9449410" y="3977640"/>
            <a:ext cx="1341973" cy="443484"/>
          </a:xfrm>
          <a:prstGeom prst="rect">
            <a:avLst/>
          </a:prstGeom>
          <a:solidFill>
            <a:srgbClr val="F8FAFD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495130" y="4041648"/>
            <a:ext cx="1250533" cy="3337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24364B"/>
                </a:solidFill>
              </a:rPr>
              <a:t>gene 强；可fine-map</a:t>
            </a:r>
            <a:endParaRPr lang="en-US" sz="1040" dirty="0"/>
          </a:p>
        </p:txBody>
      </p:sp>
      <p:sp>
        <p:nvSpPr>
          <p:cNvPr id="61" name="Shape 59"/>
          <p:cNvSpPr/>
          <p:nvPr/>
        </p:nvSpPr>
        <p:spPr>
          <a:xfrm>
            <a:off x="10791383" y="3977640"/>
            <a:ext cx="894649" cy="443484"/>
          </a:xfrm>
          <a:prstGeom prst="rect">
            <a:avLst/>
          </a:prstGeom>
          <a:solidFill>
            <a:srgbClr val="F8FAFD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837103" y="4041648"/>
            <a:ext cx="803209" cy="3337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24364B"/>
                </a:solidFill>
              </a:rPr>
              <a:t>否</a:t>
            </a:r>
            <a:endParaRPr lang="en-US" sz="1040" dirty="0"/>
          </a:p>
        </p:txBody>
      </p:sp>
      <p:sp>
        <p:nvSpPr>
          <p:cNvPr id="63" name="Shape 61"/>
          <p:cNvSpPr/>
          <p:nvPr/>
        </p:nvSpPr>
        <p:spPr>
          <a:xfrm>
            <a:off x="502920" y="4421124"/>
            <a:ext cx="1677467" cy="4434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8640" y="4485132"/>
            <a:ext cx="1586027" cy="3337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24364B"/>
                </a:solidFill>
              </a:rPr>
              <a:t>SMR 2016</a:t>
            </a:r>
            <a:endParaRPr lang="en-US" sz="1040" dirty="0"/>
          </a:p>
        </p:txBody>
      </p:sp>
      <p:sp>
        <p:nvSpPr>
          <p:cNvPr id="65" name="Shape 63"/>
          <p:cNvSpPr/>
          <p:nvPr/>
        </p:nvSpPr>
        <p:spPr>
          <a:xfrm>
            <a:off x="2180387" y="4421124"/>
            <a:ext cx="1901129" cy="4434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226107" y="4485132"/>
            <a:ext cx="1809689" cy="3337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24364B"/>
                </a:solidFill>
              </a:rPr>
              <a:t>eQTL summary</a:t>
            </a:r>
            <a:endParaRPr lang="en-US" sz="1040" dirty="0"/>
          </a:p>
        </p:txBody>
      </p:sp>
      <p:sp>
        <p:nvSpPr>
          <p:cNvPr id="67" name="Shape 65"/>
          <p:cNvSpPr/>
          <p:nvPr/>
        </p:nvSpPr>
        <p:spPr>
          <a:xfrm>
            <a:off x="4081516" y="4421124"/>
            <a:ext cx="1789298" cy="4434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127236" y="4485132"/>
            <a:ext cx="1697858" cy="3337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24364B"/>
                </a:solidFill>
              </a:rPr>
              <a:t>SMR + HEIDI</a:t>
            </a:r>
            <a:endParaRPr lang="en-US" sz="1040" dirty="0"/>
          </a:p>
        </p:txBody>
      </p:sp>
      <p:sp>
        <p:nvSpPr>
          <p:cNvPr id="69" name="Shape 67"/>
          <p:cNvSpPr/>
          <p:nvPr/>
        </p:nvSpPr>
        <p:spPr>
          <a:xfrm>
            <a:off x="5870814" y="4421124"/>
            <a:ext cx="2124791" cy="4434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916534" y="4485132"/>
            <a:ext cx="2033351" cy="3337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24364B"/>
                </a:solidFill>
              </a:rPr>
              <a:t>eQTL n=5,311 + large GWAS</a:t>
            </a:r>
            <a:endParaRPr lang="en-US" sz="1040" dirty="0"/>
          </a:p>
        </p:txBody>
      </p:sp>
      <p:sp>
        <p:nvSpPr>
          <p:cNvPr id="71" name="Shape 69"/>
          <p:cNvSpPr/>
          <p:nvPr/>
        </p:nvSpPr>
        <p:spPr>
          <a:xfrm>
            <a:off x="7995605" y="4421124"/>
            <a:ext cx="1453805" cy="4434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041325" y="4485132"/>
            <a:ext cx="1362365" cy="3337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24364B"/>
                </a:solidFill>
              </a:rPr>
              <a:t>否</a:t>
            </a:r>
            <a:endParaRPr lang="en-US" sz="1040" dirty="0"/>
          </a:p>
        </p:txBody>
      </p:sp>
      <p:sp>
        <p:nvSpPr>
          <p:cNvPr id="73" name="Shape 71"/>
          <p:cNvSpPr/>
          <p:nvPr/>
        </p:nvSpPr>
        <p:spPr>
          <a:xfrm>
            <a:off x="9449410" y="4421124"/>
            <a:ext cx="1341973" cy="4434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495130" y="4485132"/>
            <a:ext cx="1250533" cy="3337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24364B"/>
                </a:solidFill>
              </a:rPr>
              <a:t>gene / locus 很强</a:t>
            </a:r>
            <a:endParaRPr lang="en-US" sz="1040" dirty="0"/>
          </a:p>
        </p:txBody>
      </p:sp>
      <p:sp>
        <p:nvSpPr>
          <p:cNvPr id="75" name="Shape 73"/>
          <p:cNvSpPr/>
          <p:nvPr/>
        </p:nvSpPr>
        <p:spPr>
          <a:xfrm>
            <a:off x="10791383" y="4421124"/>
            <a:ext cx="894649" cy="4434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837103" y="4485132"/>
            <a:ext cx="803209" cy="3337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24364B"/>
                </a:solidFill>
              </a:rPr>
              <a:t>否</a:t>
            </a:r>
            <a:endParaRPr lang="en-US" sz="1040" dirty="0"/>
          </a:p>
        </p:txBody>
      </p:sp>
      <p:sp>
        <p:nvSpPr>
          <p:cNvPr id="77" name="Shape 75"/>
          <p:cNvSpPr/>
          <p:nvPr/>
        </p:nvSpPr>
        <p:spPr>
          <a:xfrm>
            <a:off x="502920" y="5083810"/>
            <a:ext cx="3429000" cy="126873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6DFE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67512" y="5212080"/>
            <a:ext cx="309981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E55B3"/>
                </a:solidFill>
              </a:rPr>
              <a:t>这类方法最擅长什么？</a:t>
            </a:r>
            <a:endParaRPr lang="en-US" sz="1350" dirty="0"/>
          </a:p>
        </p:txBody>
      </p:sp>
      <p:sp>
        <p:nvSpPr>
          <p:cNvPr id="79" name="Shape 77"/>
          <p:cNvSpPr/>
          <p:nvPr/>
        </p:nvSpPr>
        <p:spPr>
          <a:xfrm>
            <a:off x="667512" y="5559552"/>
            <a:ext cx="3099816" cy="0"/>
          </a:xfrm>
          <a:prstGeom prst="line">
            <a:avLst/>
          </a:prstGeom>
          <a:noFill/>
          <a:ln w="12700">
            <a:solidFill>
              <a:srgbClr val="E6ECF3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85800" y="5669280"/>
            <a:ext cx="3063240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just">
              <a:buNone/>
            </a:pPr>
            <a:r>
              <a:rPr lang="en-US" sz="1150" dirty="0">
                <a:solidFill>
                  <a:srgbClr val="24364B"/>
                </a:solidFill>
              </a:rPr>
              <a:t>把 GWAS 信号提升到 gene-level，并借助 eQTL / predicted expression 进行候选基因与 locus prioritization。</a:t>
            </a:r>
            <a:endParaRPr lang="en-US" sz="1150" dirty="0"/>
          </a:p>
        </p:txBody>
      </p:sp>
      <p:sp>
        <p:nvSpPr>
          <p:cNvPr id="81" name="Shape 79"/>
          <p:cNvSpPr/>
          <p:nvPr/>
        </p:nvSpPr>
        <p:spPr>
          <a:xfrm>
            <a:off x="4069080" y="5083810"/>
            <a:ext cx="3429000" cy="126873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6DFE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233672" y="5212080"/>
            <a:ext cx="309981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84A4A"/>
                </a:solidFill>
              </a:rPr>
              <a:t>不能简单等同于因果证明</a:t>
            </a:r>
            <a:endParaRPr lang="en-US" sz="1350" dirty="0"/>
          </a:p>
        </p:txBody>
      </p:sp>
      <p:sp>
        <p:nvSpPr>
          <p:cNvPr id="83" name="Shape 81"/>
          <p:cNvSpPr/>
          <p:nvPr/>
        </p:nvSpPr>
        <p:spPr>
          <a:xfrm>
            <a:off x="4233672" y="5559552"/>
            <a:ext cx="3099816" cy="0"/>
          </a:xfrm>
          <a:prstGeom prst="line">
            <a:avLst/>
          </a:prstGeom>
          <a:noFill/>
          <a:ln w="12700">
            <a:solidFill>
              <a:srgbClr val="E6ECF3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251960" y="5669280"/>
            <a:ext cx="3063240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4364B"/>
                </a:solidFill>
              </a:rPr>
              <a:t>TWAS/SMR 可以支持 mediation / pleiotropy 假设，但 LD、共调控等仍可能造成共定位或关联信号。</a:t>
            </a:r>
            <a:endParaRPr lang="en-US" sz="1150" dirty="0"/>
          </a:p>
        </p:txBody>
      </p:sp>
      <p:sp>
        <p:nvSpPr>
          <p:cNvPr id="85" name="Shape 83"/>
          <p:cNvSpPr/>
          <p:nvPr/>
        </p:nvSpPr>
        <p:spPr>
          <a:xfrm>
            <a:off x="7635240" y="5083810"/>
            <a:ext cx="4050665" cy="126873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6DFE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799832" y="5212080"/>
            <a:ext cx="372160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8B57"/>
                </a:solidFill>
              </a:rPr>
              <a:t>对 OGR 的直接启发</a:t>
            </a:r>
            <a:endParaRPr lang="en-US" sz="1350" dirty="0"/>
          </a:p>
        </p:txBody>
      </p:sp>
      <p:sp>
        <p:nvSpPr>
          <p:cNvPr id="87" name="Shape 85"/>
          <p:cNvSpPr/>
          <p:nvPr/>
        </p:nvSpPr>
        <p:spPr>
          <a:xfrm>
            <a:off x="7799832" y="5559552"/>
            <a:ext cx="3721608" cy="0"/>
          </a:xfrm>
          <a:prstGeom prst="line">
            <a:avLst/>
          </a:prstGeom>
          <a:noFill/>
          <a:ln w="12700">
            <a:solidFill>
              <a:srgbClr val="E6ECF3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818120" y="5669280"/>
            <a:ext cx="3685032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4364B"/>
                </a:solidFill>
              </a:rPr>
              <a:t>OGR 可把传统线性 cis-eQTL expression predictor 换成 sequence model，再把 phenotype attribution 回溯到 variant→RNA→trait。</a:t>
            </a:r>
            <a:endParaRPr lang="en-US" sz="1150" dirty="0"/>
          </a:p>
        </p:txBody>
      </p:sp>
      <p:sp>
        <p:nvSpPr>
          <p:cNvPr id="89" name="Text 87"/>
          <p:cNvSpPr/>
          <p:nvPr/>
        </p:nvSpPr>
        <p:spPr>
          <a:xfrm>
            <a:off x="502920" y="6355080"/>
            <a:ext cx="1069848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7A8491"/>
                </a:solidFill>
              </a:rPr>
              <a:t>代表工作：Gamazon et al., Nature Genetics 2015; Gusev et al., Nature Genetics 2016; Zhu et al., Nature Genetics 2016.</a:t>
            </a:r>
            <a:endParaRPr lang="en-US" sz="750" dirty="0"/>
          </a:p>
        </p:txBody>
      </p:sp>
      <p:sp>
        <p:nvSpPr>
          <p:cNvPr id="9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7395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E8794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9680" y="0"/>
            <a:ext cx="9692005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9680" y="0"/>
            <a:ext cx="9692005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470650" y="5700395"/>
            <a:ext cx="512635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/>
              <a:t>设想计划：</a:t>
            </a:r>
            <a:endParaRPr lang="zh-CN" altLang="en-US"/>
          </a:p>
          <a:p>
            <a:pPr algn="l"/>
            <a:r>
              <a:rPr lang="en-US" altLang="zh-CN"/>
              <a:t>1.</a:t>
            </a:r>
            <a:r>
              <a:rPr lang="zh-CN" altLang="en-US"/>
              <a:t>通过能定位到</a:t>
            </a:r>
            <a:r>
              <a:rPr lang="en-US" altLang="zh-CN"/>
              <a:t>qSTS5</a:t>
            </a:r>
            <a:r>
              <a:rPr lang="zh-CN" altLang="en-US"/>
              <a:t>的</a:t>
            </a:r>
            <a:r>
              <a:rPr lang="en-US" altLang="zh-CN"/>
              <a:t>GWAS</a:t>
            </a:r>
            <a:r>
              <a:rPr lang="zh-CN" altLang="en-US"/>
              <a:t>定位到</a:t>
            </a:r>
            <a:r>
              <a:rPr lang="en-US" altLang="zh-CN"/>
              <a:t>STG5</a:t>
            </a:r>
            <a:endParaRPr lang="en-US" altLang="zh-CN"/>
          </a:p>
          <a:p>
            <a:pPr algn="l"/>
            <a:r>
              <a:rPr lang="en-US" altLang="zh-CN"/>
              <a:t>2.</a:t>
            </a:r>
            <a:r>
              <a:rPr lang="zh-CN" altLang="en-US">
                <a:sym typeface="+mn-ea"/>
              </a:rPr>
              <a:t>通过</a:t>
            </a:r>
            <a:r>
              <a:rPr lang="zh-CN" altLang="en-US">
                <a:sym typeface="+mn-ea"/>
              </a:rPr>
              <a:t>不能定位到</a:t>
            </a:r>
            <a:r>
              <a:rPr lang="en-US" altLang="zh-CN">
                <a:sym typeface="+mn-ea"/>
              </a:rPr>
              <a:t>qSTS5</a:t>
            </a:r>
            <a:r>
              <a:rPr lang="zh-CN" altLang="en-US">
                <a:sym typeface="+mn-ea"/>
              </a:rPr>
              <a:t>的</a:t>
            </a:r>
            <a:r>
              <a:rPr lang="en-US" altLang="zh-CN">
                <a:sym typeface="+mn-ea"/>
              </a:rPr>
              <a:t>GWAS</a:t>
            </a:r>
            <a:r>
              <a:rPr lang="zh-CN" altLang="en-US">
                <a:sym typeface="+mn-ea"/>
              </a:rPr>
              <a:t>定位到</a:t>
            </a:r>
            <a:r>
              <a:rPr lang="en-US" altLang="zh-CN">
                <a:sym typeface="+mn-ea"/>
              </a:rPr>
              <a:t>STG5</a:t>
            </a:r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5855" y="3061970"/>
            <a:ext cx="5828665" cy="249809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5855" y="485140"/>
            <a:ext cx="5803265" cy="248666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712585" y="116840"/>
            <a:ext cx="101917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SR_B3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884035" y="3060700"/>
            <a:ext cx="123952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SR_B1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615680" y="419100"/>
            <a:ext cx="836295" cy="3702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400">
                <a:sym typeface="+mn-ea"/>
              </a:rPr>
              <a:t>qSTS5</a:t>
            </a:r>
            <a:endParaRPr lang="en-US" altLang="zh-CN" sz="1400">
              <a:sym typeface="+mn-ea"/>
            </a:endParaRPr>
          </a:p>
        </p:txBody>
      </p:sp>
      <p:pic>
        <p:nvPicPr>
          <p:cNvPr id="9" name="图片 8"/>
          <p:cNvPicPr/>
          <p:nvPr/>
        </p:nvPicPr>
        <p:blipFill>
          <a:blip r:embed="rId3"/>
          <a:stretch>
            <a:fillRect/>
          </a:stretch>
        </p:blipFill>
        <p:spPr>
          <a:xfrm>
            <a:off x="187390" y="0"/>
            <a:ext cx="5963791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AICARD_INVALID" val="Invalid"/>
</p:tagLst>
</file>

<file path=ppt/tags/tag2.xml><?xml version="1.0" encoding="utf-8"?>
<p:tagLst xmlns:p="http://schemas.openxmlformats.org/presentationml/2006/main">
  <p:tag name="KSO_WM_AICARD_INVALID" val="Invalid"/>
</p:tagLst>
</file>

<file path=ppt/tags/tag3.xml><?xml version="1.0" encoding="utf-8"?>
<p:tagLst xmlns:p="http://schemas.openxmlformats.org/presentationml/2006/main">
  <p:tag name="KSO_WM_AICARD_INVALID" val="Invali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3330</Words>
  <Application>WPS 演示</Application>
  <PresentationFormat>On-screen Show (16:9)</PresentationFormat>
  <Paragraphs>316</Paragraphs>
  <Slides>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4" baseType="lpstr">
      <vt:lpstr>Arial</vt:lpstr>
      <vt:lpstr>宋体</vt:lpstr>
      <vt:lpstr>Wingdings</vt:lpstr>
      <vt:lpstr>Noto Sans CJK SC</vt:lpstr>
      <vt:lpstr>Segoe Print</vt:lpstr>
      <vt:lpstr>Noto Sans CJK SC</vt:lpstr>
      <vt:lpstr>Noto Sans CJK SC</vt:lpstr>
      <vt:lpstr>Noto Sans CJK SC</vt:lpstr>
      <vt:lpstr>微软雅黑</vt:lpstr>
      <vt:lpstr>Arial Unicode MS</vt:lpstr>
      <vt:lpstr>等线</vt:lpstr>
      <vt:lpstr>MingLiU-ExtB</vt:lpstr>
      <vt:lpstr>Calibri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DNA-RNA-表型四类方法</dc:title>
  <dc:creator>OpenAI</dc:creator>
  <dc:subject>DNA-RNA-Phenotype methods</dc:subject>
  <cp:lastModifiedBy>杨东</cp:lastModifiedBy>
  <cp:revision>5</cp:revision>
  <dcterms:created xsi:type="dcterms:W3CDTF">2026-08-19T06:11:00Z</dcterms:created>
  <dcterms:modified xsi:type="dcterms:W3CDTF">2026-09-03T13:10:57Z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2052-12.1.0.19770</vt:lpwstr>
  </property>
  <property fmtid="{D5CDD505-2E9C-101B-9397-08002B2CF9AE}" pid="3" name="ICV">
    <vt:lpwstr>C028FDB17B6F44A8AB104BE67095FA5A_12</vt:lpwstr>
  </property>
</Properties>
</file>