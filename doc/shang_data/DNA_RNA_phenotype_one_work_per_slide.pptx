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DNA–RNA–表型方法工作谱系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960120"/>
            <a:ext cx="107899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DNA–RNA–表型代表性工作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1078992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按方法与发表时间整理｜一页一个工作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51560" y="2743200"/>
            <a:ext cx="164592" cy="109728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3410712"/>
            <a:ext cx="164592" cy="-109728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6152" y="2852928"/>
            <a:ext cx="164592" cy="146304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3300984"/>
            <a:ext cx="164592" cy="-137160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0744" y="2999232"/>
            <a:ext cx="164592" cy="164592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0744" y="3163824"/>
            <a:ext cx="164592" cy="-164592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45336" y="3163824"/>
            <a:ext cx="164592" cy="137160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5336" y="2999232"/>
            <a:ext cx="164592" cy="-146304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9928" y="3300984"/>
            <a:ext cx="164592" cy="109728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09928" y="2852928"/>
            <a:ext cx="164592" cy="-109728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2743200"/>
            <a:ext cx="0" cy="667512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6152" y="2852928"/>
            <a:ext cx="0" cy="448056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0744" y="2999232"/>
            <a:ext cx="0" cy="164592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5336" y="3163824"/>
            <a:ext cx="0" cy="-164592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09928" y="3300984"/>
            <a:ext cx="0" cy="-448056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4520" y="3410712"/>
            <a:ext cx="0" cy="-667512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2798064"/>
            <a:ext cx="1417320" cy="530352"/>
          </a:xfrm>
          <a:prstGeom prst="roundRect">
            <a:avLst/>
          </a:prstGeom>
          <a:solidFill>
            <a:srgbClr val="EAF3FB"/>
          </a:solidFill>
          <a:ln w="15240">
            <a:solidFill>
              <a:srgbClr val="2A6FB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93976" y="2834640"/>
            <a:ext cx="134416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DNA / 基因型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0440" y="3063240"/>
            <a:ext cx="1051560" cy="0"/>
          </a:xfrm>
          <a:prstGeom prst="line">
            <a:avLst/>
          </a:prstGeom>
          <a:noFill/>
          <a:ln w="25400">
            <a:solidFill>
              <a:srgbClr val="2A6FB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0" y="3035808"/>
            <a:ext cx="54864" cy="11807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6864" y="3153879"/>
            <a:ext cx="54864" cy="4645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3200330"/>
            <a:ext cx="54864" cy="-5334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3146984"/>
            <a:ext cx="54864" cy="-120784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91456" y="3026200"/>
            <a:ext cx="54864" cy="-11495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911244"/>
            <a:ext cx="54864" cy="-39397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01184" y="2871847"/>
            <a:ext cx="54864" cy="6005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2931907"/>
            <a:ext cx="54864" cy="12308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3054991"/>
            <a:ext cx="54864" cy="11144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65776" y="3166439"/>
            <a:ext cx="54864" cy="3220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3198648"/>
            <a:ext cx="54864" cy="-6656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75504" y="3132081"/>
            <a:ext cx="54864" cy="-12496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30368" y="3007115"/>
            <a:ext cx="54864" cy="-10756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85232" y="2899554"/>
            <a:ext cx="54864" cy="-2491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40096" y="2874643"/>
            <a:ext cx="54864" cy="7284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4960" y="2947492"/>
            <a:ext cx="54864" cy="126420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49824" y="3073913"/>
            <a:ext cx="54864" cy="10330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32120" y="2798064"/>
            <a:ext cx="1417320" cy="530352"/>
          </a:xfrm>
          <a:prstGeom prst="roundRect">
            <a:avLst/>
          </a:prstGeom>
          <a:solidFill>
            <a:srgbClr val="EAF6F0"/>
          </a:solidFill>
          <a:ln w="15240">
            <a:solidFill>
              <a:srgbClr val="4C956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68696" y="2834640"/>
            <a:ext cx="134416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RNA / 转录组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95160" y="3063240"/>
            <a:ext cx="1051560" cy="0"/>
          </a:xfrm>
          <a:prstGeom prst="line">
            <a:avLst/>
          </a:prstGeom>
          <a:noFill/>
          <a:ln w="25400">
            <a:solidFill>
              <a:srgbClr val="4C956C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641080" y="2715768"/>
            <a:ext cx="0" cy="594360"/>
          </a:xfrm>
          <a:prstGeom prst="line">
            <a:avLst/>
          </a:prstGeom>
          <a:noFill/>
          <a:ln w="31750">
            <a:solidFill>
              <a:srgbClr val="E889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9800000">
            <a:off x="8339328" y="2779776"/>
            <a:ext cx="347472" cy="201168"/>
          </a:xfrm>
          <a:prstGeom prst="ellipse">
            <a:avLst/>
          </a:prstGeom>
          <a:solidFill>
            <a:srgbClr val="E88933">
              <a:alpha val="90000"/>
            </a:srgbClr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800000">
            <a:off x="8622792" y="2871216"/>
            <a:ext cx="347472" cy="201168"/>
          </a:xfrm>
          <a:prstGeom prst="ellipse">
            <a:avLst/>
          </a:prstGeom>
          <a:solidFill>
            <a:srgbClr val="E88933">
              <a:alpha val="90000"/>
            </a:srgbClr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9800000">
            <a:off x="8394192" y="3017520"/>
            <a:ext cx="320040" cy="182880"/>
          </a:xfrm>
          <a:prstGeom prst="ellipse">
            <a:avLst/>
          </a:prstGeom>
          <a:solidFill>
            <a:srgbClr val="E88933">
              <a:alpha val="90000"/>
            </a:srgbClr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94192" y="3310128"/>
            <a:ext cx="502920" cy="0"/>
          </a:xfrm>
          <a:prstGeom prst="line">
            <a:avLst/>
          </a:prstGeom>
          <a:noFill/>
          <a:ln w="25400">
            <a:solidFill>
              <a:srgbClr val="E889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26880" y="2798064"/>
            <a:ext cx="169164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363456" y="2834640"/>
            <a:ext cx="161848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Phenotype / 表型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14400" y="3931920"/>
            <a:ext cx="103784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从“遗传变异 → 分子表型 → 复杂表型”逐步演化到跨组织、跨层表示与多组学融合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2057400" y="4663440"/>
            <a:ext cx="806500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267712" y="4846320"/>
            <a:ext cx="7635240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纳入工作：PrediXcan · FUSION/TWAS · SMR · MultiXcan · Azodi maize · HARE · CLEIT · Rice transcriptome prediction · Arabidopsis multi-omics · Maize field multi-omics</a:t>
            </a:r>
            <a:endParaRPr lang="en-US" sz="132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309360"/>
            <a:ext cx="11064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79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时间范围：2015–2026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914400" cy="438912"/>
          </a:xfrm>
          <a:prstGeom prst="roundRect">
            <a:avLst/>
          </a:prstGeom>
          <a:solidFill>
            <a:srgbClr val="2A6FBB"/>
          </a:solidFill>
          <a:ln w="12700">
            <a:solidFill>
              <a:srgbClr val="2A6FB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8912" y="438912"/>
            <a:ext cx="914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36192" y="365760"/>
            <a:ext cx="10058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PrediXcan｜预测表达关联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932688"/>
            <a:ext cx="111099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gene-based association method for mapping traits using reference transcriptome data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243584"/>
            <a:ext cx="111099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基于参考转录组数据进行性状定位的基因水平关联方法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54864" cy="228600"/>
          </a:xfrm>
          <a:prstGeom prst="rect">
            <a:avLst/>
          </a:prstGeom>
          <a:solidFill>
            <a:srgbClr val="2A6FBB"/>
          </a:solidFill>
          <a:ln w="12700">
            <a:solidFill>
              <a:srgbClr val="2A6FB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47088"/>
            <a:ext cx="39959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核心方法流程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58952" y="2331720"/>
            <a:ext cx="164592" cy="109728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2999232"/>
            <a:ext cx="164592" cy="-109728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2441448"/>
            <a:ext cx="164592" cy="146304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" y="2889504"/>
            <a:ext cx="164592" cy="-137160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" y="2587752"/>
            <a:ext cx="164592" cy="164592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" y="2752344"/>
            <a:ext cx="164592" cy="-164592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2728" y="2752344"/>
            <a:ext cx="164592" cy="137160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728" y="2587752"/>
            <a:ext cx="164592" cy="-146304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2889504"/>
            <a:ext cx="164592" cy="109728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2441448"/>
            <a:ext cx="164592" cy="-109728"/>
          </a:xfrm>
          <a:prstGeom prst="line">
            <a:avLst/>
          </a:prstGeom>
          <a:noFill/>
          <a:ln w="27940">
            <a:solidFill>
              <a:srgbClr val="2A6F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2331720"/>
            <a:ext cx="0" cy="667512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" y="2441448"/>
            <a:ext cx="0" cy="448056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136" y="2587752"/>
            <a:ext cx="0" cy="164592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2728" y="2752344"/>
            <a:ext cx="0" cy="-164592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2889504"/>
            <a:ext cx="0" cy="-448056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912" y="2999232"/>
            <a:ext cx="0" cy="-667512"/>
          </a:xfrm>
          <a:prstGeom prst="line">
            <a:avLst/>
          </a:prstGeom>
          <a:noFill/>
          <a:ln w="12700">
            <a:solidFill>
              <a:srgbClr val="2A6F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7632" y="2359152"/>
            <a:ext cx="1005840" cy="530352"/>
          </a:xfrm>
          <a:prstGeom prst="roundRect">
            <a:avLst/>
          </a:prstGeom>
          <a:solidFill>
            <a:srgbClr val="EAF3FB"/>
          </a:solidFill>
          <a:ln w="15240">
            <a:solidFill>
              <a:srgbClr val="2A6FB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64208" y="2395728"/>
            <a:ext cx="93268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cis-SNP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70048" y="2624328"/>
            <a:ext cx="493776" cy="0"/>
          </a:xfrm>
          <a:prstGeom prst="line">
            <a:avLst/>
          </a:prstGeom>
          <a:noFill/>
          <a:ln w="19050">
            <a:solidFill>
              <a:srgbClr val="2A6FB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154680" y="2660904"/>
            <a:ext cx="54864" cy="11807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9544" y="2778975"/>
            <a:ext cx="54864" cy="4645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2825426"/>
            <a:ext cx="54864" cy="-5334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9272" y="2772080"/>
            <a:ext cx="54864" cy="-120784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74136" y="2651296"/>
            <a:ext cx="54864" cy="-11495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2536340"/>
            <a:ext cx="54864" cy="-39397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83864" y="2496943"/>
            <a:ext cx="54864" cy="6005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38728" y="2557003"/>
            <a:ext cx="54864" cy="12308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93592" y="2680087"/>
            <a:ext cx="54864" cy="11144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48456" y="2791535"/>
            <a:ext cx="54864" cy="3220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03320" y="2823744"/>
            <a:ext cx="54864" cy="-6656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58184" y="2757177"/>
            <a:ext cx="54864" cy="-12496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13048" y="2632211"/>
            <a:ext cx="54864" cy="-10756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67912" y="2524650"/>
            <a:ext cx="54864" cy="-2491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22776" y="2499739"/>
            <a:ext cx="54864" cy="7284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77640" y="2572588"/>
            <a:ext cx="54864" cy="126420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32504" y="2699009"/>
            <a:ext cx="54864" cy="10330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2359152"/>
            <a:ext cx="914400" cy="530352"/>
          </a:xfrm>
          <a:prstGeom prst="roundRect">
            <a:avLst/>
          </a:prstGeom>
          <a:solidFill>
            <a:srgbClr val="EAF6F0"/>
          </a:solidFill>
          <a:ln w="15240">
            <a:solidFill>
              <a:srgbClr val="4C956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877056" y="2395728"/>
            <a:ext cx="84124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预测RNA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493008" y="3081528"/>
            <a:ext cx="402336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959352" y="2816352"/>
            <a:ext cx="86868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995928" y="2852928"/>
            <a:ext cx="7955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表型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13232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 → Ê_g → Y</a:t>
            </a:r>
            <a:endParaRPr lang="en-US" sz="1550" dirty="0"/>
          </a:p>
        </p:txBody>
      </p:sp>
      <p:sp>
        <p:nvSpPr>
          <p:cNvPr id="52" name="Text 50"/>
          <p:cNvSpPr txBox="1"/>
          <p:nvPr/>
        </p:nvSpPr>
        <p:spPr>
          <a:xfrm>
            <a:off x="694944" y="457200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在参考队列中学习 DNA→RNA；在目标队列中用预测表达做 gene–trait association（基因–性状关联）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285232" y="1664208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04688" y="1874520"/>
            <a:ext cx="54864" cy="228600"/>
          </a:xfrm>
          <a:prstGeom prst="rect">
            <a:avLst/>
          </a:prstGeom>
          <a:solidFill>
            <a:srgbClr val="2A6FBB"/>
          </a:solidFill>
          <a:ln w="12700">
            <a:solidFill>
              <a:srgbClr val="2A6FB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23560" y="1847088"/>
            <a:ext cx="253288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数据与任务</a:t>
            </a:r>
            <a:endParaRPr lang="en-US" sz="1320" dirty="0"/>
          </a:p>
        </p:txBody>
      </p:sp>
      <p:sp>
        <p:nvSpPr>
          <p:cNvPr id="56" name="Text 54"/>
          <p:cNvSpPr/>
          <p:nvPr/>
        </p:nvSpPr>
        <p:spPr>
          <a:xfrm>
            <a:off x="5486400" y="2221992"/>
            <a:ext cx="267919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参考表达队列：基因型 + RNA表达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目标队列：基因型 + 表型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以基因为检验单位，降低 SNP 层面的多重检验负担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577072" y="1664208"/>
            <a:ext cx="31729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96528" y="1874520"/>
            <a:ext cx="54864" cy="228600"/>
          </a:xfrm>
          <a:prstGeom prst="rect">
            <a:avLst/>
          </a:prstGeom>
          <a:solidFill>
            <a:srgbClr val="2A6FBB"/>
          </a:solidFill>
          <a:ln w="12700">
            <a:solidFill>
              <a:srgbClr val="2A6FB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915400" y="1847088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模型与评估</a:t>
            </a:r>
            <a:endParaRPr lang="en-US" sz="1320" dirty="0"/>
          </a:p>
        </p:txBody>
      </p:sp>
      <p:sp>
        <p:nvSpPr>
          <p:cNvPr id="60" name="Text 58"/>
          <p:cNvSpPr/>
          <p:nvPr/>
        </p:nvSpPr>
        <p:spPr>
          <a:xfrm>
            <a:off x="8778240" y="2221992"/>
            <a:ext cx="2788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用基因附近 cis-SNP 建表达预测模型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将个体基因型转换为 genetically regulated expression（遗传调控表达）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检验预测表达与表型的关联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285232" y="3840480"/>
            <a:ext cx="3063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04688" y="4050792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623560" y="4023360"/>
            <a:ext cx="257860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主要结果 / 贡献</a:t>
            </a:r>
            <a:endParaRPr lang="en-US" sz="1320" dirty="0"/>
          </a:p>
        </p:txBody>
      </p:sp>
      <p:sp>
        <p:nvSpPr>
          <p:cNvPr id="64" name="Text 62"/>
          <p:cNvSpPr/>
          <p:nvPr/>
        </p:nvSpPr>
        <p:spPr>
          <a:xfrm>
            <a:off x="5486400" y="4407408"/>
            <a:ext cx="267919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GWAS 信号从“位点”提升到“基因表达”层面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可优先定位可能通过表达调控影响性状的候选基因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奠定后续 TWAS（转录组范围关联研究）的基本范式</a:t>
            </a:r>
            <a:endParaRPr lang="en-US" sz="1130" dirty="0"/>
          </a:p>
        </p:txBody>
      </p:sp>
      <p:sp>
        <p:nvSpPr>
          <p:cNvPr id="65" name="Shape 63"/>
          <p:cNvSpPr/>
          <p:nvPr/>
        </p:nvSpPr>
        <p:spPr>
          <a:xfrm>
            <a:off x="8577072" y="3840480"/>
            <a:ext cx="3172968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96528" y="4050792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915400" y="4023360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局限与对 OGR 的启发</a:t>
            </a:r>
            <a:endParaRPr lang="en-US" sz="1320" dirty="0"/>
          </a:p>
        </p:txBody>
      </p:sp>
      <p:sp>
        <p:nvSpPr>
          <p:cNvPr id="68" name="Text 66"/>
          <p:cNvSpPr/>
          <p:nvPr/>
        </p:nvSpPr>
        <p:spPr>
          <a:xfrm>
            <a:off x="8778240" y="4407408"/>
            <a:ext cx="2788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局限：表达预测主要依赖 cis 线性权重，缺少序列上下文与复杂调控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OGR 可直接以个人序列预测 RNA，替代“cis-SNP 加权和”这一层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最直接的 OGR 对照：sequence model（序列模型）→ predicted expression（预测表达）→ trait（性状）</a:t>
            </a:r>
            <a:endParaRPr lang="en-US" sz="1120" dirty="0"/>
          </a:p>
        </p:txBody>
      </p:sp>
      <p:sp>
        <p:nvSpPr>
          <p:cNvPr id="69" name="Text 67"/>
          <p:cNvSpPr txBox="1"/>
          <p:nvPr/>
        </p:nvSpPr>
        <p:spPr>
          <a:xfrm>
            <a:off x="475488" y="6272784"/>
            <a:ext cx="10698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482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Gamazon et al. Nature Genetics 47, 1091–1098 (2015). DOI: 10.1038/ng.3367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914400" cy="438912"/>
          </a:xfrm>
          <a:prstGeom prst="round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8912" y="438912"/>
            <a:ext cx="914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36192" y="365760"/>
            <a:ext cx="10058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FUSION / TWAS｜汇总统计驱动的转录组关联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932688"/>
            <a:ext cx="111099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Integrative approaches for large-scale transcriptome-wide association studies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243584"/>
            <a:ext cx="111099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面向大规模转录组范围关联研究的整合方法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54864" cy="22860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47088"/>
            <a:ext cx="39959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核心方法流程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58952" y="2331720"/>
            <a:ext cx="164592" cy="109728"/>
          </a:xfrm>
          <a:prstGeom prst="line">
            <a:avLst/>
          </a:prstGeom>
          <a:noFill/>
          <a:ln w="27940">
            <a:solidFill>
              <a:srgbClr val="6B5C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2999232"/>
            <a:ext cx="164592" cy="-109728"/>
          </a:xfrm>
          <a:prstGeom prst="line">
            <a:avLst/>
          </a:prstGeom>
          <a:noFill/>
          <a:ln w="27940">
            <a:solidFill>
              <a:srgbClr val="6B5C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2441448"/>
            <a:ext cx="164592" cy="146304"/>
          </a:xfrm>
          <a:prstGeom prst="line">
            <a:avLst/>
          </a:prstGeom>
          <a:noFill/>
          <a:ln w="27940">
            <a:solidFill>
              <a:srgbClr val="6B5C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" y="2889504"/>
            <a:ext cx="164592" cy="-137160"/>
          </a:xfrm>
          <a:prstGeom prst="line">
            <a:avLst/>
          </a:prstGeom>
          <a:noFill/>
          <a:ln w="27940">
            <a:solidFill>
              <a:srgbClr val="6B5C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" y="2587752"/>
            <a:ext cx="164592" cy="164592"/>
          </a:xfrm>
          <a:prstGeom prst="line">
            <a:avLst/>
          </a:prstGeom>
          <a:noFill/>
          <a:ln w="27940">
            <a:solidFill>
              <a:srgbClr val="6B5C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" y="2752344"/>
            <a:ext cx="164592" cy="-164592"/>
          </a:xfrm>
          <a:prstGeom prst="line">
            <a:avLst/>
          </a:prstGeom>
          <a:noFill/>
          <a:ln w="27940">
            <a:solidFill>
              <a:srgbClr val="6B5C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2728" y="2752344"/>
            <a:ext cx="164592" cy="137160"/>
          </a:xfrm>
          <a:prstGeom prst="line">
            <a:avLst/>
          </a:prstGeom>
          <a:noFill/>
          <a:ln w="27940">
            <a:solidFill>
              <a:srgbClr val="6B5C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728" y="2587752"/>
            <a:ext cx="164592" cy="-146304"/>
          </a:xfrm>
          <a:prstGeom prst="line">
            <a:avLst/>
          </a:prstGeom>
          <a:noFill/>
          <a:ln w="27940">
            <a:solidFill>
              <a:srgbClr val="6B5C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2889504"/>
            <a:ext cx="164592" cy="109728"/>
          </a:xfrm>
          <a:prstGeom prst="line">
            <a:avLst/>
          </a:prstGeom>
          <a:noFill/>
          <a:ln w="27940">
            <a:solidFill>
              <a:srgbClr val="6B5C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2441448"/>
            <a:ext cx="164592" cy="-109728"/>
          </a:xfrm>
          <a:prstGeom prst="line">
            <a:avLst/>
          </a:prstGeom>
          <a:noFill/>
          <a:ln w="27940">
            <a:solidFill>
              <a:srgbClr val="6B5C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2331720"/>
            <a:ext cx="0" cy="667512"/>
          </a:xfrm>
          <a:prstGeom prst="line">
            <a:avLst/>
          </a:prstGeom>
          <a:noFill/>
          <a:ln w="12700">
            <a:solidFill>
              <a:srgbClr val="6B5C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" y="2441448"/>
            <a:ext cx="0" cy="448056"/>
          </a:xfrm>
          <a:prstGeom prst="line">
            <a:avLst/>
          </a:prstGeom>
          <a:noFill/>
          <a:ln w="12700">
            <a:solidFill>
              <a:srgbClr val="6B5C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136" y="2587752"/>
            <a:ext cx="0" cy="164592"/>
          </a:xfrm>
          <a:prstGeom prst="line">
            <a:avLst/>
          </a:prstGeom>
          <a:noFill/>
          <a:ln w="12700">
            <a:solidFill>
              <a:srgbClr val="6B5C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2728" y="2752344"/>
            <a:ext cx="0" cy="-164592"/>
          </a:xfrm>
          <a:prstGeom prst="line">
            <a:avLst/>
          </a:prstGeom>
          <a:noFill/>
          <a:ln w="12700">
            <a:solidFill>
              <a:srgbClr val="6B5C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2889504"/>
            <a:ext cx="0" cy="-448056"/>
          </a:xfrm>
          <a:prstGeom prst="line">
            <a:avLst/>
          </a:prstGeom>
          <a:noFill/>
          <a:ln w="12700">
            <a:solidFill>
              <a:srgbClr val="6B5C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912" y="2999232"/>
            <a:ext cx="0" cy="-667512"/>
          </a:xfrm>
          <a:prstGeom prst="line">
            <a:avLst/>
          </a:prstGeom>
          <a:noFill/>
          <a:ln w="12700">
            <a:solidFill>
              <a:srgbClr val="6B5C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7632" y="2359152"/>
            <a:ext cx="1005840" cy="530352"/>
          </a:xfrm>
          <a:prstGeom prst="roundRect">
            <a:avLst/>
          </a:prstGeom>
          <a:solidFill>
            <a:srgbClr val="F1EEFA"/>
          </a:solidFill>
          <a:ln w="15240">
            <a:solidFill>
              <a:srgbClr val="6B5CA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64208" y="2395728"/>
            <a:ext cx="93268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cis-SNP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70048" y="2624328"/>
            <a:ext cx="493776" cy="0"/>
          </a:xfrm>
          <a:prstGeom prst="line">
            <a:avLst/>
          </a:prstGeom>
          <a:noFill/>
          <a:ln w="19050">
            <a:solidFill>
              <a:srgbClr val="6B5CA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154680" y="2660904"/>
            <a:ext cx="54864" cy="11807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9544" y="2778975"/>
            <a:ext cx="54864" cy="4645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2825426"/>
            <a:ext cx="54864" cy="-5334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9272" y="2772080"/>
            <a:ext cx="54864" cy="-120784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74136" y="2651296"/>
            <a:ext cx="54864" cy="-11495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2536340"/>
            <a:ext cx="54864" cy="-39397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83864" y="2496943"/>
            <a:ext cx="54864" cy="6005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38728" y="2557003"/>
            <a:ext cx="54864" cy="12308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93592" y="2680087"/>
            <a:ext cx="54864" cy="11144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48456" y="2791535"/>
            <a:ext cx="54864" cy="3220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03320" y="2823744"/>
            <a:ext cx="54864" cy="-6656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58184" y="2757177"/>
            <a:ext cx="54864" cy="-12496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13048" y="2632211"/>
            <a:ext cx="54864" cy="-10756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67912" y="2524650"/>
            <a:ext cx="54864" cy="-2491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22776" y="2499739"/>
            <a:ext cx="54864" cy="7284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77640" y="2572588"/>
            <a:ext cx="54864" cy="126420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32504" y="2699009"/>
            <a:ext cx="54864" cy="10330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2359152"/>
            <a:ext cx="914400" cy="530352"/>
          </a:xfrm>
          <a:prstGeom prst="roundRect">
            <a:avLst/>
          </a:prstGeom>
          <a:solidFill>
            <a:srgbClr val="EAF6F0"/>
          </a:solidFill>
          <a:ln w="15240">
            <a:solidFill>
              <a:srgbClr val="4C956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877056" y="2395728"/>
            <a:ext cx="84124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遗传预测RNA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493008" y="3081528"/>
            <a:ext cx="402336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959352" y="2816352"/>
            <a:ext cx="86868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995928" y="2852928"/>
            <a:ext cx="7955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GWAS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13232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 → Ê_g ; Ê_g ↔ Y</a:t>
            </a:r>
            <a:endParaRPr lang="en-US" sz="1550" dirty="0"/>
          </a:p>
        </p:txBody>
      </p:sp>
      <p:sp>
        <p:nvSpPr>
          <p:cNvPr id="52" name="Text 50"/>
          <p:cNvSpPr txBox="1"/>
          <p:nvPr/>
        </p:nvSpPr>
        <p:spPr>
          <a:xfrm>
            <a:off x="694944" y="457200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 expression reference panel 与 GWAS summary statistics（GWAS 汇总统计量）直接连接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285232" y="1664208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04688" y="1874520"/>
            <a:ext cx="54864" cy="22860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23560" y="1847088"/>
            <a:ext cx="253288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数据与任务</a:t>
            </a:r>
            <a:endParaRPr lang="en-US" sz="1320" dirty="0"/>
          </a:p>
        </p:txBody>
      </p:sp>
      <p:sp>
        <p:nvSpPr>
          <p:cNvPr id="56" name="Text 54"/>
          <p:cNvSpPr/>
          <p:nvPr/>
        </p:nvSpPr>
        <p:spPr>
          <a:xfrm>
            <a:off x="5486400" y="2221992"/>
            <a:ext cx="267919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参考队列：基因型 + 表达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GWAS：大规模 summary statistics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重点检测 cis-regulated expression（顺式调控表达）与复杂性状关联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577072" y="1664208"/>
            <a:ext cx="31729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96528" y="1874520"/>
            <a:ext cx="54864" cy="22860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915400" y="1847088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模型与评估</a:t>
            </a:r>
            <a:endParaRPr lang="en-US" sz="1320" dirty="0"/>
          </a:p>
        </p:txBody>
      </p:sp>
      <p:sp>
        <p:nvSpPr>
          <p:cNvPr id="60" name="Text 58"/>
          <p:cNvSpPr/>
          <p:nvPr/>
        </p:nvSpPr>
        <p:spPr>
          <a:xfrm>
            <a:off x="8778240" y="2221992"/>
            <a:ext cx="2788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训练多个表达预测模型并选择表现较好的权重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利用 LD（连锁不平衡）与 GWAS Z-score 计算 gene-level TWAS statistic（基因层面 TWAS 统计量）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无需目标 GWAS 个体级 RNA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285232" y="3840480"/>
            <a:ext cx="3063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04688" y="4050792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623560" y="4023360"/>
            <a:ext cx="257860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主要结果 / 贡献</a:t>
            </a:r>
            <a:endParaRPr lang="en-US" sz="1320" dirty="0"/>
          </a:p>
        </p:txBody>
      </p:sp>
      <p:sp>
        <p:nvSpPr>
          <p:cNvPr id="64" name="Text 62"/>
          <p:cNvSpPr/>
          <p:nvPr/>
        </p:nvSpPr>
        <p:spPr>
          <a:xfrm>
            <a:off x="5486400" y="4407408"/>
            <a:ext cx="267919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 DNA→预测RNA→表型关联可扩展到超大规模 GWAS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SNP-level 关联转向 gene-level 关联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成为后续大量 TWAS 方法的主干框架</a:t>
            </a:r>
            <a:endParaRPr lang="en-US" sz="1130" dirty="0"/>
          </a:p>
        </p:txBody>
      </p:sp>
      <p:sp>
        <p:nvSpPr>
          <p:cNvPr id="65" name="Shape 63"/>
          <p:cNvSpPr/>
          <p:nvPr/>
        </p:nvSpPr>
        <p:spPr>
          <a:xfrm>
            <a:off x="8577072" y="3840480"/>
            <a:ext cx="3172968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96528" y="4050792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915400" y="4023360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局限与对 OGR 的启发</a:t>
            </a:r>
            <a:endParaRPr lang="en-US" sz="1320" dirty="0"/>
          </a:p>
        </p:txBody>
      </p:sp>
      <p:sp>
        <p:nvSpPr>
          <p:cNvPr id="68" name="Text 66"/>
          <p:cNvSpPr/>
          <p:nvPr/>
        </p:nvSpPr>
        <p:spPr>
          <a:xfrm>
            <a:off x="8778240" y="4407408"/>
            <a:ext cx="2788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局限：仍以局部 cis 变异和统计权重为核心，难刻画 motif/indel/序列组合效应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OGR 可把 SNP 权重模型替换为 sequence-to-expression model（序列到表达模型）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可进一步比较“TWAS 线性表达”与“OGR 非线性预测表达”的 trait power</a:t>
            </a:r>
            <a:endParaRPr lang="en-US" sz="1120" dirty="0"/>
          </a:p>
        </p:txBody>
      </p:sp>
      <p:sp>
        <p:nvSpPr>
          <p:cNvPr id="69" name="Text 67"/>
          <p:cNvSpPr txBox="1"/>
          <p:nvPr/>
        </p:nvSpPr>
        <p:spPr>
          <a:xfrm>
            <a:off x="475488" y="6272784"/>
            <a:ext cx="10698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482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Gusev et al. Nature Genetics 48, 245–252 (2016). DOI: 10.1038/ng.3506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914400" cy="438912"/>
          </a:xfrm>
          <a:prstGeom prst="roundRect">
            <a:avLst/>
          </a:prstGeom>
          <a:solidFill>
            <a:srgbClr val="C65353"/>
          </a:solidFill>
          <a:ln w="12700">
            <a:solidFill>
              <a:srgbClr val="C6535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8912" y="438912"/>
            <a:ext cx="914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36192" y="365760"/>
            <a:ext cx="10058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SMR｜eQTL–GWAS 因果/多效性整合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932688"/>
            <a:ext cx="111099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Integration of summary data from GWAS and eQTL studies predicts complex trait gene targets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243584"/>
            <a:ext cx="111099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整合 GWAS 与 eQTL 汇总数据以预测复杂性状靶基因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54864" cy="228600"/>
          </a:xfrm>
          <a:prstGeom prst="rect">
            <a:avLst/>
          </a:prstGeom>
          <a:solidFill>
            <a:srgbClr val="C65353"/>
          </a:solidFill>
          <a:ln w="12700">
            <a:solidFill>
              <a:srgbClr val="C6535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47088"/>
            <a:ext cx="39959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核心方法流程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58952" y="2331720"/>
            <a:ext cx="164592" cy="109728"/>
          </a:xfrm>
          <a:prstGeom prst="line">
            <a:avLst/>
          </a:prstGeom>
          <a:noFill/>
          <a:ln w="27940">
            <a:solidFill>
              <a:srgbClr val="C653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2999232"/>
            <a:ext cx="164592" cy="-109728"/>
          </a:xfrm>
          <a:prstGeom prst="line">
            <a:avLst/>
          </a:prstGeom>
          <a:noFill/>
          <a:ln w="27940">
            <a:solidFill>
              <a:srgbClr val="C653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2441448"/>
            <a:ext cx="164592" cy="146304"/>
          </a:xfrm>
          <a:prstGeom prst="line">
            <a:avLst/>
          </a:prstGeom>
          <a:noFill/>
          <a:ln w="27940">
            <a:solidFill>
              <a:srgbClr val="C653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" y="2889504"/>
            <a:ext cx="164592" cy="-137160"/>
          </a:xfrm>
          <a:prstGeom prst="line">
            <a:avLst/>
          </a:prstGeom>
          <a:noFill/>
          <a:ln w="27940">
            <a:solidFill>
              <a:srgbClr val="C653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" y="2587752"/>
            <a:ext cx="164592" cy="164592"/>
          </a:xfrm>
          <a:prstGeom prst="line">
            <a:avLst/>
          </a:prstGeom>
          <a:noFill/>
          <a:ln w="27940">
            <a:solidFill>
              <a:srgbClr val="C653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" y="2752344"/>
            <a:ext cx="164592" cy="-164592"/>
          </a:xfrm>
          <a:prstGeom prst="line">
            <a:avLst/>
          </a:prstGeom>
          <a:noFill/>
          <a:ln w="27940">
            <a:solidFill>
              <a:srgbClr val="C653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2728" y="2752344"/>
            <a:ext cx="164592" cy="137160"/>
          </a:xfrm>
          <a:prstGeom prst="line">
            <a:avLst/>
          </a:prstGeom>
          <a:noFill/>
          <a:ln w="27940">
            <a:solidFill>
              <a:srgbClr val="C653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728" y="2587752"/>
            <a:ext cx="164592" cy="-146304"/>
          </a:xfrm>
          <a:prstGeom prst="line">
            <a:avLst/>
          </a:prstGeom>
          <a:noFill/>
          <a:ln w="27940">
            <a:solidFill>
              <a:srgbClr val="C653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2889504"/>
            <a:ext cx="164592" cy="109728"/>
          </a:xfrm>
          <a:prstGeom prst="line">
            <a:avLst/>
          </a:prstGeom>
          <a:noFill/>
          <a:ln w="27940">
            <a:solidFill>
              <a:srgbClr val="C653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2441448"/>
            <a:ext cx="164592" cy="-109728"/>
          </a:xfrm>
          <a:prstGeom prst="line">
            <a:avLst/>
          </a:prstGeom>
          <a:noFill/>
          <a:ln w="27940">
            <a:solidFill>
              <a:srgbClr val="C653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2331720"/>
            <a:ext cx="0" cy="667512"/>
          </a:xfrm>
          <a:prstGeom prst="line">
            <a:avLst/>
          </a:prstGeom>
          <a:noFill/>
          <a:ln w="12700">
            <a:solidFill>
              <a:srgbClr val="C653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" y="2441448"/>
            <a:ext cx="0" cy="448056"/>
          </a:xfrm>
          <a:prstGeom prst="line">
            <a:avLst/>
          </a:prstGeom>
          <a:noFill/>
          <a:ln w="12700">
            <a:solidFill>
              <a:srgbClr val="C653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136" y="2587752"/>
            <a:ext cx="0" cy="164592"/>
          </a:xfrm>
          <a:prstGeom prst="line">
            <a:avLst/>
          </a:prstGeom>
          <a:noFill/>
          <a:ln w="12700">
            <a:solidFill>
              <a:srgbClr val="C653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2728" y="2752344"/>
            <a:ext cx="0" cy="-164592"/>
          </a:xfrm>
          <a:prstGeom prst="line">
            <a:avLst/>
          </a:prstGeom>
          <a:noFill/>
          <a:ln w="12700">
            <a:solidFill>
              <a:srgbClr val="C653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2889504"/>
            <a:ext cx="0" cy="-448056"/>
          </a:xfrm>
          <a:prstGeom prst="line">
            <a:avLst/>
          </a:prstGeom>
          <a:noFill/>
          <a:ln w="12700">
            <a:solidFill>
              <a:srgbClr val="C653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912" y="2999232"/>
            <a:ext cx="0" cy="-667512"/>
          </a:xfrm>
          <a:prstGeom prst="line">
            <a:avLst/>
          </a:prstGeom>
          <a:noFill/>
          <a:ln w="12700">
            <a:solidFill>
              <a:srgbClr val="C653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7632" y="2359152"/>
            <a:ext cx="1005840" cy="530352"/>
          </a:xfrm>
          <a:prstGeom prst="roundRect">
            <a:avLst/>
          </a:prstGeom>
          <a:solidFill>
            <a:srgbClr val="FCEEEE"/>
          </a:solidFill>
          <a:ln w="15240">
            <a:solidFill>
              <a:srgbClr val="C6535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64208" y="2395728"/>
            <a:ext cx="93268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eQTL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70048" y="2624328"/>
            <a:ext cx="493776" cy="0"/>
          </a:xfrm>
          <a:prstGeom prst="line">
            <a:avLst/>
          </a:prstGeom>
          <a:noFill/>
          <a:ln w="19050">
            <a:solidFill>
              <a:srgbClr val="C6535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154680" y="2660904"/>
            <a:ext cx="54864" cy="11807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9544" y="2778975"/>
            <a:ext cx="54864" cy="4645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2825426"/>
            <a:ext cx="54864" cy="-5334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9272" y="2772080"/>
            <a:ext cx="54864" cy="-120784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74136" y="2651296"/>
            <a:ext cx="54864" cy="-11495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2536340"/>
            <a:ext cx="54864" cy="-39397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83864" y="2496943"/>
            <a:ext cx="54864" cy="6005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38728" y="2557003"/>
            <a:ext cx="54864" cy="12308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93592" y="2680087"/>
            <a:ext cx="54864" cy="11144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48456" y="2791535"/>
            <a:ext cx="54864" cy="3220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03320" y="2823744"/>
            <a:ext cx="54864" cy="-6656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58184" y="2757177"/>
            <a:ext cx="54864" cy="-12496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13048" y="2632211"/>
            <a:ext cx="54864" cy="-10756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67912" y="2524650"/>
            <a:ext cx="54864" cy="-2491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22776" y="2499739"/>
            <a:ext cx="54864" cy="7284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77640" y="2572588"/>
            <a:ext cx="54864" cy="126420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32504" y="2699009"/>
            <a:ext cx="54864" cy="10330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2359152"/>
            <a:ext cx="914400" cy="530352"/>
          </a:xfrm>
          <a:prstGeom prst="roundRect">
            <a:avLst/>
          </a:prstGeom>
          <a:solidFill>
            <a:srgbClr val="EAF6F0"/>
          </a:solidFill>
          <a:ln w="15240">
            <a:solidFill>
              <a:srgbClr val="4C956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877056" y="2395728"/>
            <a:ext cx="84124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基因表达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493008" y="3081528"/>
            <a:ext cx="402336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959352" y="2816352"/>
            <a:ext cx="86868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995928" y="2852928"/>
            <a:ext cx="7955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表型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13232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 → E → Y ?</a:t>
            </a:r>
            <a:endParaRPr lang="en-US" sz="1550" dirty="0"/>
          </a:p>
        </p:txBody>
      </p:sp>
      <p:sp>
        <p:nvSpPr>
          <p:cNvPr id="52" name="Text 50"/>
          <p:cNvSpPr txBox="1"/>
          <p:nvPr/>
        </p:nvSpPr>
        <p:spPr>
          <a:xfrm>
            <a:off x="694944" y="457200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核心不是“预测表型值”，而是判断同一遗传信号是否同时驱动表达与性状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285232" y="1664208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04688" y="1874520"/>
            <a:ext cx="54864" cy="228600"/>
          </a:xfrm>
          <a:prstGeom prst="rect">
            <a:avLst/>
          </a:prstGeom>
          <a:solidFill>
            <a:srgbClr val="C65353"/>
          </a:solidFill>
          <a:ln w="12700">
            <a:solidFill>
              <a:srgbClr val="C6535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23560" y="1847088"/>
            <a:ext cx="253288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数据与任务</a:t>
            </a:r>
            <a:endParaRPr lang="en-US" sz="1320" dirty="0"/>
          </a:p>
        </p:txBody>
      </p:sp>
      <p:sp>
        <p:nvSpPr>
          <p:cNvPr id="56" name="Text 54"/>
          <p:cNvSpPr/>
          <p:nvPr/>
        </p:nvSpPr>
        <p:spPr>
          <a:xfrm>
            <a:off x="5486400" y="2221992"/>
            <a:ext cx="267919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GWAS summary statistics（GWAS 汇总统计量）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eQTL summary statistics（表达数量性状位点汇总统计量）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以强 cis-eQTL 作为工具变量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577072" y="1664208"/>
            <a:ext cx="31729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96528" y="1874520"/>
            <a:ext cx="54864" cy="228600"/>
          </a:xfrm>
          <a:prstGeom prst="rect">
            <a:avLst/>
          </a:prstGeom>
          <a:solidFill>
            <a:srgbClr val="C65353"/>
          </a:solidFill>
          <a:ln w="12700">
            <a:solidFill>
              <a:srgbClr val="C6535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915400" y="1847088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模型与评估</a:t>
            </a:r>
            <a:endParaRPr lang="en-US" sz="1320" dirty="0"/>
          </a:p>
        </p:txBody>
      </p:sp>
      <p:sp>
        <p:nvSpPr>
          <p:cNvPr id="60" name="Text 58"/>
          <p:cNvSpPr/>
          <p:nvPr/>
        </p:nvSpPr>
        <p:spPr>
          <a:xfrm>
            <a:off x="8778240" y="2221992"/>
            <a:ext cx="2788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SMR（基于汇总数据的孟德尔随机化）检验表达–性状关系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HEIDI 检验区分单一共享因果变异与连锁的不同变异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输出候选基因 / 功能元素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285232" y="3840480"/>
            <a:ext cx="3063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04688" y="4050792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623560" y="4023360"/>
            <a:ext cx="257860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主要结果 / 贡献</a:t>
            </a:r>
            <a:endParaRPr lang="en-US" sz="1320" dirty="0"/>
          </a:p>
        </p:txBody>
      </p:sp>
      <p:sp>
        <p:nvSpPr>
          <p:cNvPr id="64" name="Text 62"/>
          <p:cNvSpPr/>
          <p:nvPr/>
        </p:nvSpPr>
        <p:spPr>
          <a:xfrm>
            <a:off x="5486400" y="4407408"/>
            <a:ext cx="267919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DNA→RNA 与 DNA→表型的两条统计证据连接起来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强调“遗传锚定”的 gene–trait relationship（基因–性状关系）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适合候选基因定位与机制解释</a:t>
            </a:r>
            <a:endParaRPr lang="en-US" sz="1130" dirty="0"/>
          </a:p>
        </p:txBody>
      </p:sp>
      <p:sp>
        <p:nvSpPr>
          <p:cNvPr id="65" name="Shape 63"/>
          <p:cNvSpPr/>
          <p:nvPr/>
        </p:nvSpPr>
        <p:spPr>
          <a:xfrm>
            <a:off x="8577072" y="3840480"/>
            <a:ext cx="3172968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96528" y="4050792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915400" y="4023360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局限与对 OGR 的启发</a:t>
            </a:r>
            <a:endParaRPr lang="en-US" sz="1320" dirty="0"/>
          </a:p>
        </p:txBody>
      </p:sp>
      <p:sp>
        <p:nvSpPr>
          <p:cNvPr id="68" name="Text 66"/>
          <p:cNvSpPr/>
          <p:nvPr/>
        </p:nvSpPr>
        <p:spPr>
          <a:xfrm>
            <a:off x="8778240" y="4407408"/>
            <a:ext cx="2788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局限：对工具变量质量、LD 结构、共定位假设敏感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OGR 可提供序列级 variant→expression effect（变异到表达效应），与 GWAS/表型关联交叉验证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可把“候选位点”进一步细化到具体顺式调控序列</a:t>
            </a:r>
            <a:endParaRPr lang="en-US" sz="1120" dirty="0"/>
          </a:p>
        </p:txBody>
      </p:sp>
      <p:sp>
        <p:nvSpPr>
          <p:cNvPr id="69" name="Text 67"/>
          <p:cNvSpPr txBox="1"/>
          <p:nvPr/>
        </p:nvSpPr>
        <p:spPr>
          <a:xfrm>
            <a:off x="475488" y="6272784"/>
            <a:ext cx="10698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482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Zhu et al. Nature Genetics 48, 481–487 (2016). DOI: 10.1038/ng.3538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914400" cy="438912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8912" y="438912"/>
            <a:ext cx="914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36192" y="365760"/>
            <a:ext cx="10058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MultiXcan｜多组织预测转录组联合关联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932688"/>
            <a:ext cx="111099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Integrating predicted transcriptome from multiple tissues improves association detection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243584"/>
            <a:ext cx="111099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整合多个组织的预测转录组可提高关联检测能力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54864" cy="228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47088"/>
            <a:ext cx="39959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核心方法流程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164592" cy="109728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99232"/>
            <a:ext cx="164592" cy="-109728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441448"/>
            <a:ext cx="164592" cy="146304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889504"/>
            <a:ext cx="164592" cy="-137160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2587752"/>
            <a:ext cx="164592" cy="164592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752344"/>
            <a:ext cx="164592" cy="-164592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5296" y="2752344"/>
            <a:ext cx="164592" cy="137160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5296" y="2587752"/>
            <a:ext cx="164592" cy="-146304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89888" y="2889504"/>
            <a:ext cx="164592" cy="109728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9888" y="2441448"/>
            <a:ext cx="164592" cy="-109728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331720"/>
            <a:ext cx="0" cy="667512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2441448"/>
            <a:ext cx="0" cy="448056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2587752"/>
            <a:ext cx="0" cy="164592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25296" y="2752344"/>
            <a:ext cx="0" cy="-164592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89888" y="2889504"/>
            <a:ext cx="0" cy="-448056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2999232"/>
            <a:ext cx="0" cy="-667512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0200" y="2423160"/>
            <a:ext cx="914400" cy="530352"/>
          </a:xfrm>
          <a:prstGeom prst="roundRect">
            <a:avLst/>
          </a:prstGeom>
          <a:solidFill>
            <a:srgbClr val="EAF3FB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36776" y="2459736"/>
            <a:ext cx="84124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基因型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78608" y="2688336"/>
            <a:ext cx="393192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999232" y="1965960"/>
            <a:ext cx="960120" cy="530352"/>
          </a:xfrm>
          <a:prstGeom prst="roundRect">
            <a:avLst/>
          </a:prstGeom>
          <a:solidFill>
            <a:srgbClr val="EAF6F0"/>
          </a:solidFill>
          <a:ln w="15240">
            <a:solidFill>
              <a:srgbClr val="4C956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35808" y="2002536"/>
            <a:ext cx="88696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组织1 RNA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2999232" y="2624328"/>
            <a:ext cx="960120" cy="530352"/>
          </a:xfrm>
          <a:prstGeom prst="roundRect">
            <a:avLst/>
          </a:prstGeom>
          <a:solidFill>
            <a:srgbClr val="EAF6F0"/>
          </a:solidFill>
          <a:ln w="15240">
            <a:solidFill>
              <a:srgbClr val="4C956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35808" y="2660904"/>
            <a:ext cx="88696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组织2 RNA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2999232" y="3282696"/>
            <a:ext cx="960120" cy="530352"/>
          </a:xfrm>
          <a:prstGeom prst="roundRect">
            <a:avLst/>
          </a:prstGeom>
          <a:solidFill>
            <a:srgbClr val="EAF6F0"/>
          </a:solidFill>
          <a:ln w="15240">
            <a:solidFill>
              <a:srgbClr val="4C956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035808" y="3319272"/>
            <a:ext cx="88696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组织… RNA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3986784" y="2697480"/>
            <a:ext cx="338328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352544" y="2423160"/>
            <a:ext cx="82296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89120" y="2459736"/>
            <a:ext cx="74980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联合关联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 → {Ê_g,t} → Y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694944" y="457200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一个基因在多个组织的遗传预测表达联合进入关联检验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285232" y="1664208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04688" y="1874520"/>
            <a:ext cx="54864" cy="228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23560" y="1847088"/>
            <a:ext cx="253288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数据与任务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5486400" y="2221992"/>
            <a:ext cx="267919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GTEx 多组织表达预测模型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222 个 UK Biobank 性状 + 109 个公开 GWAS 性状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 gene × tissue 的预测表达为中间层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577072" y="1664208"/>
            <a:ext cx="31729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96528" y="1874520"/>
            <a:ext cx="54864" cy="228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915400" y="1847088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模型与评估</a:t>
            </a:r>
            <a:endParaRPr lang="en-US" sz="1320" dirty="0"/>
          </a:p>
        </p:txBody>
      </p:sp>
      <p:sp>
        <p:nvSpPr>
          <p:cNvPr id="47" name="Text 45"/>
          <p:cNvSpPr/>
          <p:nvPr/>
        </p:nvSpPr>
        <p:spPr>
          <a:xfrm>
            <a:off x="8778240" y="2221992"/>
            <a:ext cx="2788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先运行单组织 PrediXcan / S-PrediXcan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利用预测表达跨组织相关性构建 multivariate test（多变量检验）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S-MultiXcan 可仅使用 GWAS summary statistics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285232" y="3840480"/>
            <a:ext cx="3063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04688" y="4050792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623560" y="4023360"/>
            <a:ext cx="257860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主要结果 / 贡献</a:t>
            </a:r>
            <a:endParaRPr lang="en-US" sz="1320" dirty="0"/>
          </a:p>
        </p:txBody>
      </p:sp>
      <p:sp>
        <p:nvSpPr>
          <p:cNvPr id="51" name="Text 49"/>
          <p:cNvSpPr/>
          <p:nvPr/>
        </p:nvSpPr>
        <p:spPr>
          <a:xfrm>
            <a:off x="5486400" y="4407408"/>
            <a:ext cx="267919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多组织整合总体提高 gene–trait association detection（基因–性状关联检测）能力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把“哪个基因”扩展到“哪个基因在多个组织共同起作用”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避免逐组织单独检验带来的信息割裂</a:t>
            </a:r>
            <a:endParaRPr lang="en-US" sz="1130" dirty="0"/>
          </a:p>
        </p:txBody>
      </p:sp>
      <p:sp>
        <p:nvSpPr>
          <p:cNvPr id="52" name="Shape 50"/>
          <p:cNvSpPr/>
          <p:nvPr/>
        </p:nvSpPr>
        <p:spPr>
          <a:xfrm>
            <a:off x="8577072" y="3840480"/>
            <a:ext cx="3172968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96528" y="4050792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915400" y="4023360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局限与对 OGR 的启发</a:t>
            </a:r>
            <a:endParaRPr lang="en-US" sz="1320" dirty="0"/>
          </a:p>
        </p:txBody>
      </p:sp>
      <p:sp>
        <p:nvSpPr>
          <p:cNvPr id="55" name="Text 53"/>
          <p:cNvSpPr/>
          <p:nvPr/>
        </p:nvSpPr>
        <p:spPr>
          <a:xfrm>
            <a:off x="8778240" y="4407408"/>
            <a:ext cx="2788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局限：多组织仍建立在预先训练的 cis-eQTL 表达模型上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OGR 若加入 tissue / condition token（组织/处理条件标记），可直接输出 Ê_g,t,c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为水稻根、叶、穗等多组织表型建模提供直接范式</a:t>
            </a:r>
            <a:endParaRPr lang="en-US" sz="1120" dirty="0"/>
          </a:p>
        </p:txBody>
      </p:sp>
      <p:sp>
        <p:nvSpPr>
          <p:cNvPr id="56" name="Text 54"/>
          <p:cNvSpPr txBox="1"/>
          <p:nvPr/>
        </p:nvSpPr>
        <p:spPr>
          <a:xfrm>
            <a:off x="475488" y="6272784"/>
            <a:ext cx="10698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482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Barbeira et al. PLOS Genetics 15:e1007889 (2019). DOI: 10.1371/journal.pgen.1007889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914400" cy="438912"/>
          </a:xfrm>
          <a:prstGeom prst="round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8912" y="438912"/>
            <a:ext cx="914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36192" y="365760"/>
            <a:ext cx="10058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Azodi et al.｜玉米转录组预测复杂性状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932688"/>
            <a:ext cx="111099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Transcriptome-Based Prediction of Complex Traits in Maize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243584"/>
            <a:ext cx="111099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基于转录组的玉米复杂性状预测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47088"/>
            <a:ext cx="39959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核心方法流程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164592" cy="109728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07792"/>
            <a:ext cx="164592" cy="-109728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350008"/>
            <a:ext cx="164592" cy="146304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798064"/>
            <a:ext cx="164592" cy="-137160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2496312"/>
            <a:ext cx="164592" cy="164592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660904"/>
            <a:ext cx="164592" cy="-164592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5296" y="2660904"/>
            <a:ext cx="164592" cy="137160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5296" y="2496312"/>
            <a:ext cx="164592" cy="-146304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89888" y="2798064"/>
            <a:ext cx="164592" cy="109728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9888" y="2350008"/>
            <a:ext cx="164592" cy="-109728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240280"/>
            <a:ext cx="0" cy="667512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2350008"/>
            <a:ext cx="0" cy="448056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2496312"/>
            <a:ext cx="0" cy="164592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25296" y="2660904"/>
            <a:ext cx="0" cy="-164592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89888" y="2798064"/>
            <a:ext cx="0" cy="-448056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2907792"/>
            <a:ext cx="0" cy="-667512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2944368"/>
            <a:ext cx="10515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95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DNA / 基因组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947672" y="2660904"/>
            <a:ext cx="54864" cy="11807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2536" y="2778975"/>
            <a:ext cx="54864" cy="4645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2825426"/>
            <a:ext cx="54864" cy="-5334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12264" y="2772080"/>
            <a:ext cx="54864" cy="-120784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67128" y="2651296"/>
            <a:ext cx="54864" cy="-11495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1992" y="2536340"/>
            <a:ext cx="54864" cy="-39397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76856" y="2496943"/>
            <a:ext cx="54864" cy="6005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2557003"/>
            <a:ext cx="54864" cy="12308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86584" y="2680087"/>
            <a:ext cx="54864" cy="11144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41448" y="2791535"/>
            <a:ext cx="54864" cy="3220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96312" y="2823744"/>
            <a:ext cx="54864" cy="-6656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1176" y="2757177"/>
            <a:ext cx="54864" cy="-12496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6040" y="2632211"/>
            <a:ext cx="54864" cy="-10756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60904" y="2524650"/>
            <a:ext cx="54864" cy="-2491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15768" y="2499739"/>
            <a:ext cx="54864" cy="7284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70632" y="2572588"/>
            <a:ext cx="54864" cy="126420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25496" y="2699009"/>
            <a:ext cx="54864" cy="10330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856232" y="2944368"/>
            <a:ext cx="1143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95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RNA / 转录组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417320" y="2743200"/>
            <a:ext cx="2514600" cy="0"/>
          </a:xfrm>
          <a:prstGeom prst="line">
            <a:avLst/>
          </a:prstGeom>
          <a:noFill/>
          <a:ln w="19050">
            <a:solidFill>
              <a:srgbClr val="8A939C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606040" y="2743200"/>
            <a:ext cx="1325880" cy="0"/>
          </a:xfrm>
          <a:prstGeom prst="line">
            <a:avLst/>
          </a:prstGeom>
          <a:noFill/>
          <a:ln w="19050">
            <a:solidFill>
              <a:srgbClr val="8A939C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977640" y="2487168"/>
            <a:ext cx="86868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014216" y="2523744"/>
            <a:ext cx="7955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表型预测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713232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 → Y   vs.   T → Y   vs.   G + T → Y</a:t>
            </a:r>
            <a:endParaRPr lang="en-US" sz="1550" dirty="0"/>
          </a:p>
        </p:txBody>
      </p:sp>
      <p:sp>
        <p:nvSpPr>
          <p:cNvPr id="50" name="Text 48"/>
          <p:cNvSpPr txBox="1"/>
          <p:nvPr/>
        </p:nvSpPr>
        <p:spPr>
          <a:xfrm>
            <a:off x="694944" y="457200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比较遗传标记与幼苗期转录组对成熟期农艺性状的预测能力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285232" y="1664208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04688" y="1874520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23560" y="1847088"/>
            <a:ext cx="253288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数据与任务</a:t>
            </a:r>
            <a:endParaRPr lang="en-US" sz="1320" dirty="0"/>
          </a:p>
        </p:txBody>
      </p:sp>
      <p:sp>
        <p:nvSpPr>
          <p:cNvPr id="54" name="Text 52"/>
          <p:cNvSpPr/>
          <p:nvPr/>
        </p:nvSpPr>
        <p:spPr>
          <a:xfrm>
            <a:off x="5486400" y="2221992"/>
            <a:ext cx="267919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388 个玉米自交系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332,178 个遗传标记 + 31,238 个转录本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表型：开花期、株高、产量；RNA 来自 V1 幼苗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8577072" y="1664208"/>
            <a:ext cx="31729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96528" y="1874520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915400" y="1847088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模型与评估</a:t>
            </a:r>
            <a:endParaRPr lang="en-US" sz="1320" dirty="0"/>
          </a:p>
        </p:txBody>
      </p:sp>
      <p:sp>
        <p:nvSpPr>
          <p:cNvPr id="58" name="Text 56"/>
          <p:cNvSpPr/>
          <p:nvPr/>
        </p:nvSpPr>
        <p:spPr>
          <a:xfrm>
            <a:off x="8778240" y="2221992"/>
            <a:ext cx="2788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rrBLUP（岭回归最佳线性无偏预测）、Bayesian LASSO（贝叶斯 LASSO）、Random Forest（随机森林）和 ensemble（集成）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分别构建 G、T、G+T 模型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PCC（皮尔逊相关系数）评估预测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285232" y="3840480"/>
            <a:ext cx="3063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04688" y="4050792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623560" y="4023360"/>
            <a:ext cx="257860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主要结果 / 贡献</a:t>
            </a:r>
            <a:endParaRPr lang="en-US" sz="1320" dirty="0"/>
          </a:p>
        </p:txBody>
      </p:sp>
      <p:sp>
        <p:nvSpPr>
          <p:cNvPr id="62" name="Text 60"/>
          <p:cNvSpPr/>
          <p:nvPr/>
        </p:nvSpPr>
        <p:spPr>
          <a:xfrm>
            <a:off x="5486400" y="4407408"/>
            <a:ext cx="267919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 模型虽总体不超过 G，但显著优于群体结构 baseline（基线）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特征筛选后 G200+T200 的开花期预测 PCC 约 0.68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 模型识别 5 个 benchmark flowering-time genes（已知开花基因），G 模型仅 1 个</a:t>
            </a:r>
            <a:endParaRPr lang="en-US" sz="1130" dirty="0"/>
          </a:p>
        </p:txBody>
      </p:sp>
      <p:sp>
        <p:nvSpPr>
          <p:cNvPr id="63" name="Shape 61"/>
          <p:cNvSpPr/>
          <p:nvPr/>
        </p:nvSpPr>
        <p:spPr>
          <a:xfrm>
            <a:off x="8577072" y="3840480"/>
            <a:ext cx="3172968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96528" y="4050792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915400" y="4023360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局限与对 OGR 的启发</a:t>
            </a:r>
            <a:endParaRPr lang="en-US" sz="1320" dirty="0"/>
          </a:p>
        </p:txBody>
      </p:sp>
      <p:sp>
        <p:nvSpPr>
          <p:cNvPr id="66" name="Text 64"/>
          <p:cNvSpPr/>
          <p:nvPr/>
        </p:nvSpPr>
        <p:spPr>
          <a:xfrm>
            <a:off x="8778240" y="4407408"/>
            <a:ext cx="2788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关键启发：RNA 是多个 cis/trans 调控信号的“功能压缩”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问题在于测试新个体需要实测 RNA；OGR 可提供 predicted transcriptome（预测转录组）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可直接复现其 G/T/G+T baseline，并替换 T 为 OGR 预测 RNA</a:t>
            </a:r>
            <a:endParaRPr lang="en-US" sz="1120" dirty="0"/>
          </a:p>
        </p:txBody>
      </p:sp>
      <p:sp>
        <p:nvSpPr>
          <p:cNvPr id="67" name="Text 65"/>
          <p:cNvSpPr txBox="1"/>
          <p:nvPr/>
        </p:nvSpPr>
        <p:spPr>
          <a:xfrm>
            <a:off x="475488" y="6272784"/>
            <a:ext cx="10698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482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Azodi et al. The Plant Cell 32, 139–151 (2020). DOI: 10.1105/tpc.19.00332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914400" cy="438912"/>
          </a:xfrm>
          <a:prstGeom prst="round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8912" y="438912"/>
            <a:ext cx="914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36192" y="365760"/>
            <a:ext cx="10058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HARE｜用基因单倍型推断可迁移 RNA 表达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932688"/>
            <a:ext cx="111099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Haplotype associated RNA expression (HARE) improves prediction of complex traits in maize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243584"/>
            <a:ext cx="111099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单倍型关联 RNA 表达（HARE）提高玉米复杂性状预测能力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47088"/>
            <a:ext cx="39959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核心方法流程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58952" y="2331720"/>
            <a:ext cx="164592" cy="109728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2999232"/>
            <a:ext cx="164592" cy="-109728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2441448"/>
            <a:ext cx="164592" cy="146304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" y="2889504"/>
            <a:ext cx="164592" cy="-137160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" y="2587752"/>
            <a:ext cx="164592" cy="164592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" y="2752344"/>
            <a:ext cx="164592" cy="-164592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2728" y="2752344"/>
            <a:ext cx="164592" cy="137160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728" y="2587752"/>
            <a:ext cx="164592" cy="-146304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2889504"/>
            <a:ext cx="164592" cy="109728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2441448"/>
            <a:ext cx="164592" cy="-109728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2331720"/>
            <a:ext cx="0" cy="667512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" y="2441448"/>
            <a:ext cx="0" cy="448056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136" y="2587752"/>
            <a:ext cx="0" cy="164592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2728" y="2752344"/>
            <a:ext cx="0" cy="-164592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2889504"/>
            <a:ext cx="0" cy="-448056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912" y="2999232"/>
            <a:ext cx="0" cy="-667512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7632" y="2359152"/>
            <a:ext cx="100584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64208" y="2395728"/>
            <a:ext cx="93268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基因单倍型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70048" y="2624328"/>
            <a:ext cx="493776" cy="0"/>
          </a:xfrm>
          <a:prstGeom prst="line">
            <a:avLst/>
          </a:prstGeom>
          <a:noFill/>
          <a:ln w="19050">
            <a:solidFill>
              <a:srgbClr val="E8893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154680" y="2660904"/>
            <a:ext cx="54864" cy="11807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9544" y="2778975"/>
            <a:ext cx="54864" cy="4645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2825426"/>
            <a:ext cx="54864" cy="-5334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9272" y="2772080"/>
            <a:ext cx="54864" cy="-120784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74136" y="2651296"/>
            <a:ext cx="54864" cy="-11495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2536340"/>
            <a:ext cx="54864" cy="-39397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83864" y="2496943"/>
            <a:ext cx="54864" cy="6005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38728" y="2557003"/>
            <a:ext cx="54864" cy="12308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93592" y="2680087"/>
            <a:ext cx="54864" cy="11144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48456" y="2791535"/>
            <a:ext cx="54864" cy="3220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03320" y="2823744"/>
            <a:ext cx="54864" cy="-6656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58184" y="2757177"/>
            <a:ext cx="54864" cy="-12496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13048" y="2632211"/>
            <a:ext cx="54864" cy="-10756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67912" y="2524650"/>
            <a:ext cx="54864" cy="-2491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22776" y="2499739"/>
            <a:ext cx="54864" cy="7284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77640" y="2572588"/>
            <a:ext cx="54864" cy="126420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32504" y="2699009"/>
            <a:ext cx="54864" cy="10330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2359152"/>
            <a:ext cx="914400" cy="530352"/>
          </a:xfrm>
          <a:prstGeom prst="roundRect">
            <a:avLst/>
          </a:prstGeom>
          <a:solidFill>
            <a:srgbClr val="EAF6F0"/>
          </a:solidFill>
          <a:ln w="15240">
            <a:solidFill>
              <a:srgbClr val="4C956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877056" y="2395728"/>
            <a:ext cx="84124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493008" y="3081528"/>
            <a:ext cx="402336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959352" y="2816352"/>
            <a:ext cx="86868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995928" y="2852928"/>
            <a:ext cx="7955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田间性状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13232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 haplotype → Ê_g(cis) → Y</a:t>
            </a:r>
            <a:endParaRPr lang="en-US" sz="1550" dirty="0"/>
          </a:p>
        </p:txBody>
      </p:sp>
      <p:sp>
        <p:nvSpPr>
          <p:cNvPr id="52" name="Text 50"/>
          <p:cNvSpPr txBox="1"/>
          <p:nvPr/>
        </p:nvSpPr>
        <p:spPr>
          <a:xfrm>
            <a:off x="694944" y="457200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从实测表达中分离 cis haplotype effect（顺式单倍型效应），再把该表达估计迁移到新群体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285232" y="1664208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04688" y="1874520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23560" y="1847088"/>
            <a:ext cx="253288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数据与任务</a:t>
            </a:r>
            <a:endParaRPr lang="en-US" sz="1320" dirty="0"/>
          </a:p>
        </p:txBody>
      </p:sp>
      <p:sp>
        <p:nvSpPr>
          <p:cNvPr id="56" name="Text 54"/>
          <p:cNvSpPr/>
          <p:nvPr/>
        </p:nvSpPr>
        <p:spPr>
          <a:xfrm>
            <a:off x="5486400" y="2221992"/>
            <a:ext cx="267919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Goodman association panel + NAM panel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个组织表达，18,004 个基因区域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个复杂性状；NAM 中可将 HARE 推断到约 5,000 条系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577072" y="1664208"/>
            <a:ext cx="31729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96528" y="1874520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915400" y="1847088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模型与评估</a:t>
            </a:r>
            <a:endParaRPr lang="en-US" sz="1320" dirty="0"/>
          </a:p>
        </p:txBody>
      </p:sp>
      <p:sp>
        <p:nvSpPr>
          <p:cNvPr id="60" name="Text 58"/>
          <p:cNvSpPr/>
          <p:nvPr/>
        </p:nvSpPr>
        <p:spPr>
          <a:xfrm>
            <a:off x="8778240" y="2221992"/>
            <a:ext cx="2788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mixed model（混合模型）分解 cis 与 trans 表达贡献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HARE 仅保留基因附近 haplotype 对表达的 cis 成分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HARE 作为 gene-level predictor（基因级预测变量）做群体内/跨群体表型预测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285232" y="3840480"/>
            <a:ext cx="3063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04688" y="4050792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623560" y="4023360"/>
            <a:ext cx="257860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主要结果 / 贡献</a:t>
            </a:r>
            <a:endParaRPr lang="en-US" sz="1320" dirty="0"/>
          </a:p>
        </p:txBody>
      </p:sp>
      <p:sp>
        <p:nvSpPr>
          <p:cNvPr id="64" name="Text 62"/>
          <p:cNvSpPr/>
          <p:nvPr/>
        </p:nvSpPr>
        <p:spPr>
          <a:xfrm>
            <a:off x="5486400" y="4407408"/>
            <a:ext cx="267919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cis haplotype 约解释表达变异的 1/3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HARE 比实测表达在组织与群体间更可迁移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相对保持单倍型结构的对照，部分性状预测准确度最高提升约 15%</a:t>
            </a:r>
            <a:endParaRPr lang="en-US" sz="1130" dirty="0"/>
          </a:p>
        </p:txBody>
      </p:sp>
      <p:sp>
        <p:nvSpPr>
          <p:cNvPr id="65" name="Shape 63"/>
          <p:cNvSpPr/>
          <p:nvPr/>
        </p:nvSpPr>
        <p:spPr>
          <a:xfrm>
            <a:off x="8577072" y="3840480"/>
            <a:ext cx="3172968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96528" y="4050792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915400" y="4023360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局限与对 OGR 的启发</a:t>
            </a:r>
            <a:endParaRPr lang="en-US" sz="1320" dirty="0"/>
          </a:p>
        </p:txBody>
      </p:sp>
      <p:sp>
        <p:nvSpPr>
          <p:cNvPr id="68" name="Text 66"/>
          <p:cNvSpPr/>
          <p:nvPr/>
        </p:nvSpPr>
        <p:spPr>
          <a:xfrm>
            <a:off x="8778240" y="4407408"/>
            <a:ext cx="2788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这是植物中最接近“DNA→预测RNA→表型”的前例之一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 HARE 仍是基因区域单倍型统计模型；OGR 可学习完整序列上下文与 indel/SV（插入缺失/结构变异）效应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可把 HARE 作为 OGR 的直接强 baseline（基线）</a:t>
            </a:r>
            <a:endParaRPr lang="en-US" sz="1120" dirty="0"/>
          </a:p>
        </p:txBody>
      </p:sp>
      <p:sp>
        <p:nvSpPr>
          <p:cNvPr id="69" name="Text 67"/>
          <p:cNvSpPr txBox="1"/>
          <p:nvPr/>
        </p:nvSpPr>
        <p:spPr>
          <a:xfrm>
            <a:off x="475488" y="6272784"/>
            <a:ext cx="10698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482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Giri et al. PLOS Genetics 17:e1009568 (2021). DOI: 10.1371/journal.pgen.1009568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914400" cy="438912"/>
          </a:xfrm>
          <a:prstGeom prst="round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8912" y="438912"/>
            <a:ext cx="914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36192" y="365760"/>
            <a:ext cx="10058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CLEIT｜跨层信息传递网络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932688"/>
            <a:ext cx="111099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cross-level information transmission network for hierarchical omics data integration and phenotype prediction from a new genotype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243584"/>
            <a:ext cx="111099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用于层级组学整合和从新基因型预测表型的跨层信息传递网络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54864" cy="22860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47088"/>
            <a:ext cx="39959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核心方法流程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1508760" cy="530352"/>
          </a:xfrm>
          <a:prstGeom prst="roundRect">
            <a:avLst/>
          </a:prstGeom>
          <a:solidFill>
            <a:srgbClr val="EAF3FB"/>
          </a:solidFill>
          <a:ln w="15240">
            <a:solidFill>
              <a:srgbClr val="6B5C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368296"/>
            <a:ext cx="143560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低层：DNA/Mutation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1508760" cy="530352"/>
          </a:xfrm>
          <a:prstGeom prst="roundRect">
            <a:avLst/>
          </a:prstGeom>
          <a:solidFill>
            <a:srgbClr val="EAF6F0"/>
          </a:solidFill>
          <a:ln w="15240">
            <a:solidFill>
              <a:srgbClr val="4C956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" y="3282696"/>
            <a:ext cx="143560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高层：RNA/Expression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0360" y="2331720"/>
            <a:ext cx="658368" cy="530352"/>
          </a:xfrm>
          <a:prstGeom prst="roundRect">
            <a:avLst/>
          </a:prstGeom>
          <a:solidFill>
            <a:srgbClr val="EAF3FB"/>
          </a:solidFill>
          <a:ln w="15240">
            <a:solidFill>
              <a:srgbClr val="6B5C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16936" y="2368296"/>
            <a:ext cx="585216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z_G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80360" y="3246120"/>
            <a:ext cx="658368" cy="530352"/>
          </a:xfrm>
          <a:prstGeom prst="roundRect">
            <a:avLst/>
          </a:prstGeom>
          <a:solidFill>
            <a:srgbClr val="EAF6F0"/>
          </a:solidFill>
          <a:ln w="15240">
            <a:solidFill>
              <a:srgbClr val="4C956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16936" y="3282696"/>
            <a:ext cx="585216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z_T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13432" y="2587752"/>
            <a:ext cx="539496" cy="0"/>
          </a:xfrm>
          <a:prstGeom prst="line">
            <a:avLst/>
          </a:prstGeom>
          <a:noFill/>
          <a:ln w="19050">
            <a:solidFill>
              <a:srgbClr val="6B5CA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313432" y="3502152"/>
            <a:ext cx="539496" cy="0"/>
          </a:xfrm>
          <a:prstGeom prst="line">
            <a:avLst/>
          </a:prstGeom>
          <a:noFill/>
          <a:ln w="19050">
            <a:solidFill>
              <a:srgbClr val="4C956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00400" y="3172968"/>
            <a:ext cx="0" cy="-292608"/>
          </a:xfrm>
          <a:prstGeom prst="line">
            <a:avLst/>
          </a:prstGeom>
          <a:noFill/>
          <a:ln w="22860">
            <a:solidFill>
              <a:srgbClr val="6B5CA5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474720" y="2788920"/>
            <a:ext cx="9144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5C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对比损失对齐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66160" y="2880360"/>
            <a:ext cx="411480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023360" y="2615184"/>
            <a:ext cx="77724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59936" y="2651760"/>
            <a:ext cx="70408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表型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z_G  ≈  z_T  →  Y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94944" y="457200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高层 RNA 表示先学好，再通过 contrastive loss（对比损失）把表型信息传给低层 DNA/Mutation 表示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85232" y="1664208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4688" y="1874520"/>
            <a:ext cx="54864" cy="22860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23560" y="1847088"/>
            <a:ext cx="253288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数据与任务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486400" y="2221992"/>
            <a:ext cx="267919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CCLE + TCGA + GDSC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680 个 mutation+expression 标记样本，93 种药物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278 个仅 mutation 的独立测试细胞系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77072" y="1664208"/>
            <a:ext cx="31729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96528" y="1874520"/>
            <a:ext cx="54864" cy="228600"/>
          </a:xfrm>
          <a:prstGeom prst="rect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15400" y="1847088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模型与评估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8778240" y="2221992"/>
            <a:ext cx="2788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高层 RNA：autoencoder（自编码器）预训练 + phenotype fine-tuning（表型微调）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低层 mutation：autoencoder + MLP transmitter（多层感知机传递器）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contrastive loss 对齐 z_G 与 z_T；推理时只输入 mutation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285232" y="3840480"/>
            <a:ext cx="3063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04688" y="4050792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23560" y="4023360"/>
            <a:ext cx="257860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主要结果 / 贡献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5486400" y="4407408"/>
            <a:ext cx="267919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显式利用 DNA→RNA→phenotype 的层级非对称性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测试阶段不需要 RNA，仍利用训练阶段 RNA 提供的表型信息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相比多个 domain adaptation（领域适配）基线取得更好的药物敏感性预测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8577072" y="3840480"/>
            <a:ext cx="3172968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96528" y="4050792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915400" y="4023360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局限与对 OGR 的启发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8778240" y="4407408"/>
            <a:ext cx="2788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CLEIT 学的是 RNA-like latent space（RNA 类潜在空间），不是显式可解释的逐基因表达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OGR 可直接生成 gene-level expression / embedding，再做 CLEIT 式跨层对齐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可借鉴“高层表型信息指导低层表征”的训练策略</a:t>
            </a:r>
            <a:endParaRPr lang="en-US" sz="1120" dirty="0"/>
          </a:p>
        </p:txBody>
      </p:sp>
      <p:sp>
        <p:nvSpPr>
          <p:cNvPr id="43" name="Text 41"/>
          <p:cNvSpPr txBox="1"/>
          <p:nvPr/>
        </p:nvSpPr>
        <p:spPr>
          <a:xfrm>
            <a:off x="475488" y="6272784"/>
            <a:ext cx="10698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482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 &amp; Xie. Bioinformatics 38, 204–212 (2022); preprint 2020. DOI: 10.1093/bioinformatics/btab521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914400" cy="438912"/>
          </a:xfrm>
          <a:prstGeom prst="round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8912" y="438912"/>
            <a:ext cx="914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36192" y="365760"/>
            <a:ext cx="10058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Tanaka et al.｜水稻多组织转录组预测多基因性状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932688"/>
            <a:ext cx="111099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Transcriptome-based prediction for polygenic traits in rice using different gene subsets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243584"/>
            <a:ext cx="111099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使用不同基因子集进行水稻多基因性状的转录组预测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47088"/>
            <a:ext cx="39959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核心方法流程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164592" cy="109728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07792"/>
            <a:ext cx="164592" cy="-109728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350008"/>
            <a:ext cx="164592" cy="146304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798064"/>
            <a:ext cx="164592" cy="-137160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2496312"/>
            <a:ext cx="164592" cy="164592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660904"/>
            <a:ext cx="164592" cy="-164592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5296" y="2660904"/>
            <a:ext cx="164592" cy="137160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5296" y="2496312"/>
            <a:ext cx="164592" cy="-146304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89888" y="2798064"/>
            <a:ext cx="164592" cy="109728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9888" y="2350008"/>
            <a:ext cx="164592" cy="-109728"/>
          </a:xfrm>
          <a:prstGeom prst="line">
            <a:avLst/>
          </a:prstGeom>
          <a:noFill/>
          <a:ln w="27940">
            <a:solidFill>
              <a:srgbClr val="4C95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240280"/>
            <a:ext cx="0" cy="667512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2350008"/>
            <a:ext cx="0" cy="448056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2496312"/>
            <a:ext cx="0" cy="164592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25296" y="2660904"/>
            <a:ext cx="0" cy="-164592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89888" y="2798064"/>
            <a:ext cx="0" cy="-448056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2907792"/>
            <a:ext cx="0" cy="-667512"/>
          </a:xfrm>
          <a:prstGeom prst="line">
            <a:avLst/>
          </a:prstGeom>
          <a:noFill/>
          <a:ln w="12700">
            <a:solidFill>
              <a:srgbClr val="4C956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2944368"/>
            <a:ext cx="10515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95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DNA / 基因组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947672" y="2660904"/>
            <a:ext cx="54864" cy="11807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2536" y="2778975"/>
            <a:ext cx="54864" cy="4645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2825426"/>
            <a:ext cx="54864" cy="-5334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12264" y="2772080"/>
            <a:ext cx="54864" cy="-120784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67128" y="2651296"/>
            <a:ext cx="54864" cy="-11495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1992" y="2536340"/>
            <a:ext cx="54864" cy="-39397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76856" y="2496943"/>
            <a:ext cx="54864" cy="6005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2557003"/>
            <a:ext cx="54864" cy="12308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86584" y="2680087"/>
            <a:ext cx="54864" cy="11144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41448" y="2791535"/>
            <a:ext cx="54864" cy="3220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96312" y="2823744"/>
            <a:ext cx="54864" cy="-6656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1176" y="2757177"/>
            <a:ext cx="54864" cy="-12496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6040" y="2632211"/>
            <a:ext cx="54864" cy="-10756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60904" y="2524650"/>
            <a:ext cx="54864" cy="-2491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15768" y="2499739"/>
            <a:ext cx="54864" cy="7284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70632" y="2572588"/>
            <a:ext cx="54864" cy="126420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25496" y="2699009"/>
            <a:ext cx="54864" cy="10330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856232" y="2944368"/>
            <a:ext cx="1143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95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RNA / 转录组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417320" y="2743200"/>
            <a:ext cx="2514600" cy="0"/>
          </a:xfrm>
          <a:prstGeom prst="line">
            <a:avLst/>
          </a:prstGeom>
          <a:noFill/>
          <a:ln w="19050">
            <a:solidFill>
              <a:srgbClr val="8A939C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606040" y="2743200"/>
            <a:ext cx="1325880" cy="0"/>
          </a:xfrm>
          <a:prstGeom prst="line">
            <a:avLst/>
          </a:prstGeom>
          <a:noFill/>
          <a:ln w="19050">
            <a:solidFill>
              <a:srgbClr val="8A939C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977640" y="2487168"/>
            <a:ext cx="86868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014216" y="2523744"/>
            <a:ext cx="7955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表型预测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713232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T_leaf / T_root (+ G) → Y</a:t>
            </a:r>
            <a:endParaRPr lang="en-US" sz="1550" dirty="0"/>
          </a:p>
        </p:txBody>
      </p:sp>
      <p:sp>
        <p:nvSpPr>
          <p:cNvPr id="50" name="Text 48"/>
          <p:cNvSpPr txBox="1"/>
          <p:nvPr/>
        </p:nvSpPr>
        <p:spPr>
          <a:xfrm>
            <a:off x="694944" y="457200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通过组织特异性、ontology（本体）和 co-expression module（共表达模块）筛选基因子集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285232" y="1664208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04688" y="1874520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23560" y="1847088"/>
            <a:ext cx="253288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数据与任务</a:t>
            </a:r>
            <a:endParaRPr lang="en-US" sz="1320" dirty="0"/>
          </a:p>
        </p:txBody>
      </p:sp>
      <p:sp>
        <p:nvSpPr>
          <p:cNvPr id="54" name="Text 52"/>
          <p:cNvSpPr/>
          <p:nvPr/>
        </p:nvSpPr>
        <p:spPr>
          <a:xfrm>
            <a:off x="5486400" y="2221992"/>
            <a:ext cx="267919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57 个 World Rice Core Collection（水稻世界核心种质）材料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叶与根 RNA abundance（RNA 丰度）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 个 shoot/root phenotypes（地上部/根系表型）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8577072" y="1664208"/>
            <a:ext cx="31729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96528" y="1874520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915400" y="1847088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模型与评估</a:t>
            </a:r>
            <a:endParaRPr lang="en-US" sz="1320" dirty="0"/>
          </a:p>
        </p:txBody>
      </p:sp>
      <p:sp>
        <p:nvSpPr>
          <p:cNvPr id="58" name="Text 56"/>
          <p:cNvSpPr/>
          <p:nvPr/>
        </p:nvSpPr>
        <p:spPr>
          <a:xfrm>
            <a:off x="8778240" y="2221992"/>
            <a:ext cx="2788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 transcriptomic relationship matrix（转录组关系矩阵）与 genomic relationship matrix（基因组关系矩阵）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比较叶/根表达及 G+T 组合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 tissue specificity、ontology、co-expression module 选择 gene subsets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285232" y="3840480"/>
            <a:ext cx="3063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04688" y="4050792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623560" y="4023360"/>
            <a:ext cx="257860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主要结果 / 贡献</a:t>
            </a:r>
            <a:endParaRPr lang="en-US" sz="1320" dirty="0"/>
          </a:p>
        </p:txBody>
      </p:sp>
      <p:sp>
        <p:nvSpPr>
          <p:cNvPr id="62" name="Text 60"/>
          <p:cNvSpPr/>
          <p:nvPr/>
        </p:nvSpPr>
        <p:spPr>
          <a:xfrm>
            <a:off x="5486400" y="4407408"/>
            <a:ext cx="267919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叶表达更适合预测株高等 shoot traits；根表达更适合 crown root length 等 root traits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多数基因子集不优于全基因集，但部分生物学子集可提高特定性状预测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证明组织匹配对 transcriptome-based prediction 很重要</a:t>
            </a:r>
            <a:endParaRPr lang="en-US" sz="1130" dirty="0"/>
          </a:p>
        </p:txBody>
      </p:sp>
      <p:sp>
        <p:nvSpPr>
          <p:cNvPr id="63" name="Shape 61"/>
          <p:cNvSpPr/>
          <p:nvPr/>
        </p:nvSpPr>
        <p:spPr>
          <a:xfrm>
            <a:off x="8577072" y="3840480"/>
            <a:ext cx="3172968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96528" y="4050792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915400" y="4023360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局限与对 OGR 的启发</a:t>
            </a:r>
            <a:endParaRPr lang="en-US" sz="1320" dirty="0"/>
          </a:p>
        </p:txBody>
      </p:sp>
      <p:sp>
        <p:nvSpPr>
          <p:cNvPr id="66" name="Text 64"/>
          <p:cNvSpPr/>
          <p:nvPr/>
        </p:nvSpPr>
        <p:spPr>
          <a:xfrm>
            <a:off x="8778240" y="4407408"/>
            <a:ext cx="2788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 OGR 的水稻应用最直接：需要组织/处理条件显式建模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可把实测 T_leaf/T_root 替换为 OGR 预测的多组织表达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 subset / network module 可作为下游 population model 的稀疏先验</a:t>
            </a:r>
            <a:endParaRPr lang="en-US" sz="1120" dirty="0"/>
          </a:p>
        </p:txBody>
      </p:sp>
      <p:sp>
        <p:nvSpPr>
          <p:cNvPr id="67" name="Text 65"/>
          <p:cNvSpPr txBox="1"/>
          <p:nvPr/>
        </p:nvSpPr>
        <p:spPr>
          <a:xfrm>
            <a:off x="475488" y="6272784"/>
            <a:ext cx="10698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482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Tanaka et al. BMC Genomics 25:915 (2024). DOI: 10.1186/s12864-024-10803-3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914400" cy="438912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8912" y="438912"/>
            <a:ext cx="914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36192" y="365760"/>
            <a:ext cx="10058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Wang et al.｜Arabidopsis 多组学复杂性状预测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932688"/>
            <a:ext cx="111099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Prediction of plant complex traits via integration of multi-omics data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243584"/>
            <a:ext cx="111099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通过整合多组学数据预测植物复杂性状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54864" cy="228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47088"/>
            <a:ext cx="39959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核心方法流程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164592" cy="109728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07792"/>
            <a:ext cx="164592" cy="-109728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350008"/>
            <a:ext cx="164592" cy="146304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798064"/>
            <a:ext cx="164592" cy="-137160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2496312"/>
            <a:ext cx="164592" cy="164592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660904"/>
            <a:ext cx="164592" cy="-164592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5296" y="2660904"/>
            <a:ext cx="164592" cy="137160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5296" y="2496312"/>
            <a:ext cx="164592" cy="-146304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89888" y="2798064"/>
            <a:ext cx="164592" cy="109728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9888" y="2350008"/>
            <a:ext cx="164592" cy="-109728"/>
          </a:xfrm>
          <a:prstGeom prst="line">
            <a:avLst/>
          </a:prstGeom>
          <a:noFill/>
          <a:ln w="27940">
            <a:solidFill>
              <a:srgbClr val="2A9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240280"/>
            <a:ext cx="0" cy="667512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2350008"/>
            <a:ext cx="0" cy="448056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2496312"/>
            <a:ext cx="0" cy="164592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25296" y="2660904"/>
            <a:ext cx="0" cy="-164592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89888" y="2798064"/>
            <a:ext cx="0" cy="-448056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2907792"/>
            <a:ext cx="0" cy="-667512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2944368"/>
            <a:ext cx="10515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DNA / 基因组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947672" y="2660904"/>
            <a:ext cx="54864" cy="11807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2536" y="2778975"/>
            <a:ext cx="54864" cy="4645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2825426"/>
            <a:ext cx="54864" cy="-5334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12264" y="2772080"/>
            <a:ext cx="54864" cy="-120784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67128" y="2651296"/>
            <a:ext cx="54864" cy="-11495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1992" y="2536340"/>
            <a:ext cx="54864" cy="-39397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76856" y="2496943"/>
            <a:ext cx="54864" cy="6005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2557003"/>
            <a:ext cx="54864" cy="12308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86584" y="2680087"/>
            <a:ext cx="54864" cy="11144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41448" y="2791535"/>
            <a:ext cx="54864" cy="3220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96312" y="2823744"/>
            <a:ext cx="54864" cy="-6656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1176" y="2757177"/>
            <a:ext cx="54864" cy="-12496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6040" y="2632211"/>
            <a:ext cx="54864" cy="-10756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60904" y="2524650"/>
            <a:ext cx="54864" cy="-2491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15768" y="2499739"/>
            <a:ext cx="54864" cy="7284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70632" y="2572588"/>
            <a:ext cx="54864" cy="126420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25496" y="2699009"/>
            <a:ext cx="54864" cy="10330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856232" y="2944368"/>
            <a:ext cx="1143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95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RNA / 转录组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154680" y="2322576"/>
            <a:ext cx="731520" cy="502920"/>
          </a:xfrm>
          <a:prstGeom prst="rect">
            <a:avLst/>
          </a:prstGeom>
          <a:solidFill>
            <a:srgbClr val="F1EEFA"/>
          </a:solidFill>
          <a:ln w="15240">
            <a:solidFill>
              <a:srgbClr val="6B5CA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127248" y="2944368"/>
            <a:ext cx="8229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5C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甲基化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417320" y="2743200"/>
            <a:ext cx="2514600" cy="0"/>
          </a:xfrm>
          <a:prstGeom prst="line">
            <a:avLst/>
          </a:prstGeom>
          <a:noFill/>
          <a:ln w="19050">
            <a:solidFill>
              <a:srgbClr val="8A939C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606040" y="2743200"/>
            <a:ext cx="1325880" cy="0"/>
          </a:xfrm>
          <a:prstGeom prst="line">
            <a:avLst/>
          </a:prstGeom>
          <a:noFill/>
          <a:ln w="19050">
            <a:solidFill>
              <a:srgbClr val="8A939C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657600" y="2743200"/>
            <a:ext cx="274320" cy="0"/>
          </a:xfrm>
          <a:prstGeom prst="line">
            <a:avLst/>
          </a:prstGeom>
          <a:noFill/>
          <a:ln w="19050">
            <a:solidFill>
              <a:srgbClr val="8A939C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977640" y="2487168"/>
            <a:ext cx="86868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014216" y="2523744"/>
            <a:ext cx="7955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表型预测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713232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 + T + M → Y</a:t>
            </a:r>
            <a:endParaRPr lang="en-US" sz="1550" dirty="0"/>
          </a:p>
        </p:txBody>
      </p:sp>
      <p:sp>
        <p:nvSpPr>
          <p:cNvPr id="53" name="Text 51"/>
          <p:cNvSpPr txBox="1"/>
          <p:nvPr/>
        </p:nvSpPr>
        <p:spPr>
          <a:xfrm>
            <a:off x="694944" y="457200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genome（基因组）、transcriptome（转录组）、methylome（甲基化组）分别或联合预测六个复杂性状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285232" y="1664208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04688" y="1874520"/>
            <a:ext cx="54864" cy="228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623560" y="1847088"/>
            <a:ext cx="253288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数据与任务</a:t>
            </a:r>
            <a:endParaRPr lang="en-US" sz="1320" dirty="0"/>
          </a:p>
        </p:txBody>
      </p:sp>
      <p:sp>
        <p:nvSpPr>
          <p:cNvPr id="57" name="Text 55"/>
          <p:cNvSpPr/>
          <p:nvPr/>
        </p:nvSpPr>
        <p:spPr>
          <a:xfrm>
            <a:off x="5486400" y="2221992"/>
            <a:ext cx="267919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383 个 Arabidopsis accessions（拟南芥材料）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 + transcriptome + gene-body methylation（基因体甲基化）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个性状：开花期、叶数、莲座直径、分枝数、茎长等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577072" y="1664208"/>
            <a:ext cx="31729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96528" y="1874520"/>
            <a:ext cx="54864" cy="228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915400" y="1847088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模型与评估</a:t>
            </a:r>
            <a:endParaRPr lang="en-US" sz="1320" dirty="0"/>
          </a:p>
        </p:txBody>
      </p:sp>
      <p:sp>
        <p:nvSpPr>
          <p:cNvPr id="61" name="Text 59"/>
          <p:cNvSpPr/>
          <p:nvPr/>
        </p:nvSpPr>
        <p:spPr>
          <a:xfrm>
            <a:off x="8778240" y="2221992"/>
            <a:ext cx="2788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rrBLUP + Random Forest（随机森林）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80/20 hold-out（留出测试）+ 训练集五折交叉验证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rrBLUP coefficient、RF importance、SHAP（沙普利加性解释）分析 feature / interaction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285232" y="3840480"/>
            <a:ext cx="3063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04688" y="4050792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623560" y="4023360"/>
            <a:ext cx="257860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主要结果 / 贡献</a:t>
            </a:r>
            <a:endParaRPr lang="en-US" sz="1320" dirty="0"/>
          </a:p>
        </p:txBody>
      </p:sp>
      <p:sp>
        <p:nvSpPr>
          <p:cNvPr id="65" name="Text 63"/>
          <p:cNvSpPr/>
          <p:nvPr/>
        </p:nvSpPr>
        <p:spPr>
          <a:xfrm>
            <a:off x="5486400" y="4407408"/>
            <a:ext cx="267919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G、T、M 单组学模型整体表现相近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RF 中 G+T 或 G+T+M 可改善部分性状预测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多组学解释揭示已知和新的开花相关基因及 feature interactions（特征交互）</a:t>
            </a:r>
            <a:endParaRPr lang="en-US" sz="1130" dirty="0"/>
          </a:p>
        </p:txBody>
      </p:sp>
      <p:sp>
        <p:nvSpPr>
          <p:cNvPr id="66" name="Shape 64"/>
          <p:cNvSpPr/>
          <p:nvPr/>
        </p:nvSpPr>
        <p:spPr>
          <a:xfrm>
            <a:off x="8577072" y="3840480"/>
            <a:ext cx="3172968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796528" y="4050792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915400" y="4023360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局限与对 OGR 的启发</a:t>
            </a:r>
            <a:endParaRPr lang="en-US" sz="1320" dirty="0"/>
          </a:p>
        </p:txBody>
      </p:sp>
      <p:sp>
        <p:nvSpPr>
          <p:cNvPr id="69" name="Text 67"/>
          <p:cNvSpPr/>
          <p:nvPr/>
        </p:nvSpPr>
        <p:spPr>
          <a:xfrm>
            <a:off x="8778240" y="4407408"/>
            <a:ext cx="2788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重要差异：这里 T 是实测 RNA，与 G 平行输入，不是 G→T 串联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OGR 可把 G→predicted T 变为显式中间层，再接其 RF/SHAP 式表型模型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可保留其“预测 + feature importance + interaction”三位一体评估框架</a:t>
            </a:r>
            <a:endParaRPr lang="en-US" sz="1120" dirty="0"/>
          </a:p>
        </p:txBody>
      </p:sp>
      <p:sp>
        <p:nvSpPr>
          <p:cNvPr id="70" name="Text 68"/>
          <p:cNvSpPr txBox="1"/>
          <p:nvPr/>
        </p:nvSpPr>
        <p:spPr>
          <a:xfrm>
            <a:off x="475488" y="6272784"/>
            <a:ext cx="10698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482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Wang et al. Nature Communications 15:6856 (2024). DOI: 10.1038/s41467-024-50701-6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914400" cy="438912"/>
          </a:xfrm>
          <a:prstGeom prst="round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8912" y="438912"/>
            <a:ext cx="9144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36192" y="365760"/>
            <a:ext cx="100584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Creach et al.｜玉米田间多环境多组学预测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932688"/>
            <a:ext cx="1110996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Predicting complex phenotypes using multi-omics data in maize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243584"/>
            <a:ext cx="11109960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利用多组学数据预测玉米复杂表型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46177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47088"/>
            <a:ext cx="39959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核心方法流程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164592" cy="109728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07792"/>
            <a:ext cx="164592" cy="-109728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350008"/>
            <a:ext cx="164592" cy="146304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798064"/>
            <a:ext cx="164592" cy="-137160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2496312"/>
            <a:ext cx="164592" cy="164592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660904"/>
            <a:ext cx="164592" cy="-164592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5296" y="2660904"/>
            <a:ext cx="164592" cy="137160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5296" y="2496312"/>
            <a:ext cx="164592" cy="-146304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89888" y="2798064"/>
            <a:ext cx="164592" cy="109728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9888" y="2350008"/>
            <a:ext cx="164592" cy="-109728"/>
          </a:xfrm>
          <a:prstGeom prst="line">
            <a:avLst/>
          </a:prstGeom>
          <a:noFill/>
          <a:ln w="27940">
            <a:solidFill>
              <a:srgbClr val="E889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240280"/>
            <a:ext cx="0" cy="667512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2350008"/>
            <a:ext cx="0" cy="448056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2496312"/>
            <a:ext cx="0" cy="164592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25296" y="2660904"/>
            <a:ext cx="0" cy="-164592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89888" y="2798064"/>
            <a:ext cx="0" cy="-448056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2907792"/>
            <a:ext cx="0" cy="-667512"/>
          </a:xfrm>
          <a:prstGeom prst="line">
            <a:avLst/>
          </a:prstGeom>
          <a:noFill/>
          <a:ln w="12700">
            <a:solidFill>
              <a:srgbClr val="E889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2944368"/>
            <a:ext cx="10515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9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DNA / 基因组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947672" y="2660904"/>
            <a:ext cx="54864" cy="11807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2536" y="2778975"/>
            <a:ext cx="54864" cy="4645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2825426"/>
            <a:ext cx="54864" cy="-5334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12264" y="2772080"/>
            <a:ext cx="54864" cy="-120784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67128" y="2651296"/>
            <a:ext cx="54864" cy="-11495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1992" y="2536340"/>
            <a:ext cx="54864" cy="-39397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76856" y="2496943"/>
            <a:ext cx="54864" cy="6005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2557003"/>
            <a:ext cx="54864" cy="12308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86584" y="2680087"/>
            <a:ext cx="54864" cy="11144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41448" y="2791535"/>
            <a:ext cx="54864" cy="3220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96312" y="2823744"/>
            <a:ext cx="54864" cy="-66568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1176" y="2757177"/>
            <a:ext cx="54864" cy="-124965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6040" y="2632211"/>
            <a:ext cx="54864" cy="-10756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60904" y="2524650"/>
            <a:ext cx="54864" cy="-24911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15768" y="2499739"/>
            <a:ext cx="54864" cy="72849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70632" y="2572588"/>
            <a:ext cx="54864" cy="126420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25496" y="2699009"/>
            <a:ext cx="54864" cy="103306"/>
          </a:xfrm>
          <a:prstGeom prst="line">
            <a:avLst/>
          </a:prstGeom>
          <a:noFill/>
          <a:ln w="30480">
            <a:solidFill>
              <a:srgbClr val="4C956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856232" y="2944368"/>
            <a:ext cx="1143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95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RNA / 转录组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154680" y="2322576"/>
            <a:ext cx="731520" cy="502920"/>
          </a:xfrm>
          <a:prstGeom prst="rect">
            <a:avLst/>
          </a:prstGeom>
          <a:solidFill>
            <a:srgbClr val="F1EEFA"/>
          </a:solidFill>
          <a:ln w="15240">
            <a:solidFill>
              <a:srgbClr val="6B5CA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127248" y="2944368"/>
            <a:ext cx="8229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5C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无人机表型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417320" y="2743200"/>
            <a:ext cx="2514600" cy="0"/>
          </a:xfrm>
          <a:prstGeom prst="line">
            <a:avLst/>
          </a:prstGeom>
          <a:noFill/>
          <a:ln w="19050">
            <a:solidFill>
              <a:srgbClr val="8A939C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606040" y="2743200"/>
            <a:ext cx="1325880" cy="0"/>
          </a:xfrm>
          <a:prstGeom prst="line">
            <a:avLst/>
          </a:prstGeom>
          <a:noFill/>
          <a:ln w="19050">
            <a:solidFill>
              <a:srgbClr val="8A939C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657600" y="2743200"/>
            <a:ext cx="274320" cy="0"/>
          </a:xfrm>
          <a:prstGeom prst="line">
            <a:avLst/>
          </a:prstGeom>
          <a:noFill/>
          <a:ln w="19050">
            <a:solidFill>
              <a:srgbClr val="8A939C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977640" y="2487168"/>
            <a:ext cx="868680" cy="530352"/>
          </a:xfrm>
          <a:prstGeom prst="roundRect">
            <a:avLst/>
          </a:prstGeom>
          <a:solidFill>
            <a:srgbClr val="FFF2E8"/>
          </a:solidFill>
          <a:ln w="15240">
            <a:solidFill>
              <a:srgbClr val="E889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014216" y="2523744"/>
            <a:ext cx="795528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表型预测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713232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 + T_field + P_drone → Y(environment)</a:t>
            </a:r>
            <a:endParaRPr lang="en-US" sz="1550" dirty="0"/>
          </a:p>
        </p:txBody>
      </p:sp>
      <p:sp>
        <p:nvSpPr>
          <p:cNvPr id="53" name="Text 51"/>
          <p:cNvSpPr txBox="1"/>
          <p:nvPr/>
        </p:nvSpPr>
        <p:spPr>
          <a:xfrm>
            <a:off x="694944" y="457200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把田间转录组作为实时环境响应层，评估跨环境 phenotype prediction（表型预测）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285232" y="1664208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04688" y="1874520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623560" y="1847088"/>
            <a:ext cx="253288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数据与任务</a:t>
            </a:r>
            <a:endParaRPr lang="en-US" sz="1320" dirty="0"/>
          </a:p>
        </p:txBody>
      </p:sp>
      <p:sp>
        <p:nvSpPr>
          <p:cNvPr id="57" name="Text 55"/>
          <p:cNvSpPr/>
          <p:nvPr/>
        </p:nvSpPr>
        <p:spPr>
          <a:xfrm>
            <a:off x="5486400" y="2221992"/>
            <a:ext cx="267919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129 个玉米表型，覆盖 9 个环境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genomic markers（基因组标记） + 2 个地点的 field transcriptome（田间转录组）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drone-derived vegetative indices（无人机植被指数）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577072" y="1664208"/>
            <a:ext cx="31729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96528" y="1874520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915400" y="1847088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模型与评估</a:t>
            </a:r>
            <a:endParaRPr lang="en-US" sz="1320" dirty="0"/>
          </a:p>
        </p:txBody>
      </p:sp>
      <p:sp>
        <p:nvSpPr>
          <p:cNvPr id="61" name="Text 59"/>
          <p:cNvSpPr/>
          <p:nvPr/>
        </p:nvSpPr>
        <p:spPr>
          <a:xfrm>
            <a:off x="8778240" y="2221992"/>
            <a:ext cx="2788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 rrBLUP 与非线性 Support Vector Regression（支持向量回归）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比较单组学与多组学输入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专门评估 cross-environment prediction（跨环境预测）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285232" y="3840480"/>
            <a:ext cx="3063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04688" y="4050792"/>
            <a:ext cx="54864" cy="2286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623560" y="4023360"/>
            <a:ext cx="257860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主要结果 / 贡献</a:t>
            </a:r>
            <a:endParaRPr lang="en-US" sz="1320" dirty="0"/>
          </a:p>
        </p:txBody>
      </p:sp>
      <p:sp>
        <p:nvSpPr>
          <p:cNvPr id="65" name="Text 63"/>
          <p:cNvSpPr/>
          <p:nvPr/>
        </p:nvSpPr>
        <p:spPr>
          <a:xfrm>
            <a:off x="5486400" y="4407408"/>
            <a:ext cx="267919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多数性状中 multi-omics 优于 single-omics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G+T 的提升最稳定；T 在 top predictors（顶级预测因子）中占比高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一个环境的表达可帮助预测另一个环境的性状，捕获 DNA 单独难以反映的 G×E</a:t>
            </a:r>
            <a:endParaRPr lang="en-US" sz="1130" dirty="0"/>
          </a:p>
        </p:txBody>
      </p:sp>
      <p:sp>
        <p:nvSpPr>
          <p:cNvPr id="66" name="Shape 64"/>
          <p:cNvSpPr/>
          <p:nvPr/>
        </p:nvSpPr>
        <p:spPr>
          <a:xfrm>
            <a:off x="8577072" y="3840480"/>
            <a:ext cx="3172968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796528" y="4050792"/>
            <a:ext cx="54864" cy="228600"/>
          </a:xfrm>
          <a:prstGeom prst="rect">
            <a:avLst/>
          </a:prstGeom>
          <a:solidFill>
            <a:srgbClr val="E88933"/>
          </a:solidFill>
          <a:ln w="12700">
            <a:solidFill>
              <a:srgbClr val="E889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915400" y="4023360"/>
            <a:ext cx="2624328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局限与对 OGR 的启发</a:t>
            </a:r>
            <a:endParaRPr lang="en-US" sz="1320" dirty="0"/>
          </a:p>
        </p:txBody>
      </p:sp>
      <p:sp>
        <p:nvSpPr>
          <p:cNvPr id="69" name="Text 67"/>
          <p:cNvSpPr/>
          <p:nvPr/>
        </p:nvSpPr>
        <p:spPr>
          <a:xfrm>
            <a:off x="8778240" y="4407408"/>
            <a:ext cx="27889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 RNA 不只是 DNA 的中介，还编码环境与发育状态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OGR 若只输入 DNA，无法凭空获得全部环境诱导 RNA；需加入 tissue/condition/environment context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C2A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最终更合理的形式是 DNA + Environment → predicted RNA/state → phenotype</a:t>
            </a:r>
            <a:endParaRPr lang="en-US" sz="1120" dirty="0"/>
          </a:p>
        </p:txBody>
      </p:sp>
      <p:sp>
        <p:nvSpPr>
          <p:cNvPr id="70" name="Text 68"/>
          <p:cNvSpPr txBox="1"/>
          <p:nvPr/>
        </p:nvSpPr>
        <p:spPr>
          <a:xfrm>
            <a:off x="475488" y="6272784"/>
            <a:ext cx="10698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482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Creach et al. The Plant Cell 38(6), koag185 (2026); bioRxiv 2025. DOI: 10.1093/plcell/koag185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797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DNA–RNA–表型代表性工作：一页一个工作</dc:title>
  <dc:subject>DNA-RNA-表型代表性工作方法整理</dc:subject>
  <dc:creator>OpenAI</dc:creator>
  <cp:lastModifiedBy>OpenAI</cp:lastModifiedBy>
  <cp:revision>1</cp:revision>
  <dcterms:created xsi:type="dcterms:W3CDTF">2026-08-19T03:03:00Z</dcterms:created>
  <dcterms:modified xsi:type="dcterms:W3CDTF">2026-08-19T03:03:00Z</dcterms:modified>
</cp:coreProperties>
</file>