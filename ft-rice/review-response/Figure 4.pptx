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3"/>
    <p:sldId id="261" r:id="rId4"/>
    <p:sldId id="260"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82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78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199390" y="342265"/>
            <a:ext cx="8829675" cy="10220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389255" y="570230"/>
            <a:ext cx="523240" cy="398780"/>
          </a:xfrm>
          <a:prstGeom prst="rect">
            <a:avLst/>
          </a:prstGeom>
          <a:noFill/>
        </p:spPr>
        <p:txBody>
          <a:bodyPr wrap="square" rtlCol="0">
            <a:spAutoFit/>
          </a:bodyPr>
          <a:p>
            <a:r>
              <a:rPr lang="en-US" altLang="zh-CN" sz="2000">
                <a:latin typeface="Arial" panose="020B0604020202020204" pitchFamily="34" charset="0"/>
                <a:cs typeface="Arial" panose="020B0604020202020204" pitchFamily="34" charset="0"/>
              </a:rPr>
              <a:t>A</a:t>
            </a:r>
            <a:endParaRPr lang="en-US" altLang="zh-CN" sz="2000">
              <a:latin typeface="Arial" panose="020B0604020202020204" pitchFamily="34" charset="0"/>
              <a:cs typeface="Arial" panose="020B0604020202020204" pitchFamily="34" charset="0"/>
            </a:endParaRPr>
          </a:p>
        </p:txBody>
      </p:sp>
      <p:pic>
        <p:nvPicPr>
          <p:cNvPr id="3" name="图片 2" descr="20260521"/>
          <p:cNvPicPr>
            <a:picLocks noChangeAspect="1"/>
          </p:cNvPicPr>
          <p:nvPr/>
        </p:nvPicPr>
        <p:blipFill>
          <a:blip r:embed="rId1"/>
          <a:stretch>
            <a:fillRect/>
          </a:stretch>
        </p:blipFill>
        <p:spPr>
          <a:xfrm>
            <a:off x="647065" y="787400"/>
            <a:ext cx="8224520" cy="3707765"/>
          </a:xfrm>
          <a:prstGeom prst="rect">
            <a:avLst/>
          </a:prstGeom>
        </p:spPr>
      </p:pic>
      <p:pic>
        <p:nvPicPr>
          <p:cNvPr id="11" name="图片 10"/>
          <p:cNvPicPr>
            <a:picLocks noChangeAspect="1"/>
          </p:cNvPicPr>
          <p:nvPr/>
        </p:nvPicPr>
        <p:blipFill>
          <a:blip r:embed="rId2"/>
          <a:srcRect t="8097"/>
          <a:stretch>
            <a:fillRect/>
          </a:stretch>
        </p:blipFill>
        <p:spPr>
          <a:xfrm>
            <a:off x="363855" y="7079615"/>
            <a:ext cx="8665210" cy="1897380"/>
          </a:xfrm>
          <a:prstGeom prst="rect">
            <a:avLst/>
          </a:prstGeom>
        </p:spPr>
      </p:pic>
      <p:sp>
        <p:nvSpPr>
          <p:cNvPr id="18" name="文本框 17"/>
          <p:cNvSpPr txBox="1"/>
          <p:nvPr/>
        </p:nvSpPr>
        <p:spPr>
          <a:xfrm>
            <a:off x="389255" y="7079615"/>
            <a:ext cx="591185" cy="398780"/>
          </a:xfrm>
          <a:prstGeom prst="rect">
            <a:avLst/>
          </a:prstGeom>
          <a:noFill/>
        </p:spPr>
        <p:txBody>
          <a:bodyPr wrap="square" rtlCol="0">
            <a:spAutoFit/>
          </a:bodyPr>
          <a:p>
            <a:r>
              <a:rPr lang="en-US" altLang="zh-CN" sz="2000">
                <a:latin typeface="Arial" panose="020B0604020202020204" pitchFamily="34" charset="0"/>
                <a:cs typeface="Arial" panose="020B0604020202020204" pitchFamily="34" charset="0"/>
              </a:rPr>
              <a:t>C</a:t>
            </a:r>
            <a:endParaRPr lang="en-US" altLang="zh-CN" sz="2000">
              <a:latin typeface="Arial" panose="020B0604020202020204" pitchFamily="34" charset="0"/>
              <a:cs typeface="Arial" panose="020B0604020202020204" pitchFamily="34" charset="0"/>
            </a:endParaRPr>
          </a:p>
        </p:txBody>
      </p:sp>
      <p:pic>
        <p:nvPicPr>
          <p:cNvPr id="14" name="图片 13"/>
          <p:cNvPicPr>
            <a:picLocks noChangeAspect="1"/>
          </p:cNvPicPr>
          <p:nvPr/>
        </p:nvPicPr>
        <p:blipFill>
          <a:blip r:embed="rId3"/>
          <a:stretch>
            <a:fillRect/>
          </a:stretch>
        </p:blipFill>
        <p:spPr>
          <a:xfrm>
            <a:off x="6626860" y="4560570"/>
            <a:ext cx="2244725" cy="2453640"/>
          </a:xfrm>
          <a:prstGeom prst="rect">
            <a:avLst/>
          </a:prstGeom>
        </p:spPr>
      </p:pic>
      <p:sp>
        <p:nvSpPr>
          <p:cNvPr id="21" name="文本框 20"/>
          <p:cNvSpPr txBox="1"/>
          <p:nvPr/>
        </p:nvSpPr>
        <p:spPr>
          <a:xfrm>
            <a:off x="6423660" y="4464685"/>
            <a:ext cx="673100" cy="411480"/>
          </a:xfrm>
          <a:prstGeom prst="rect">
            <a:avLst/>
          </a:prstGeom>
          <a:noFill/>
        </p:spPr>
        <p:txBody>
          <a:bodyPr wrap="square" rtlCol="0">
            <a:noAutofit/>
          </a:bodyPr>
          <a:p>
            <a:r>
              <a:rPr lang="en-US" altLang="zh-CN" sz="2000">
                <a:latin typeface="Arial" panose="020B0604020202020204" pitchFamily="34" charset="0"/>
                <a:cs typeface="Arial" panose="020B0604020202020204" pitchFamily="34" charset="0"/>
              </a:rPr>
              <a:t>D</a:t>
            </a:r>
            <a:endParaRPr lang="en-US" altLang="zh-CN" sz="2000">
              <a:latin typeface="Arial" panose="020B0604020202020204" pitchFamily="34" charset="0"/>
              <a:cs typeface="Arial" panose="020B0604020202020204" pitchFamily="34" charset="0"/>
            </a:endParaRPr>
          </a:p>
        </p:txBody>
      </p:sp>
      <p:pic>
        <p:nvPicPr>
          <p:cNvPr id="2" name="图片 1"/>
          <p:cNvPicPr>
            <a:picLocks noChangeAspect="1"/>
          </p:cNvPicPr>
          <p:nvPr/>
        </p:nvPicPr>
        <p:blipFill>
          <a:blip r:embed="rId4"/>
          <a:stretch>
            <a:fillRect/>
          </a:stretch>
        </p:blipFill>
        <p:spPr>
          <a:xfrm>
            <a:off x="389255" y="4540885"/>
            <a:ext cx="4055110" cy="2493010"/>
          </a:xfrm>
          <a:prstGeom prst="rect">
            <a:avLst/>
          </a:prstGeom>
        </p:spPr>
      </p:pic>
      <p:sp>
        <p:nvSpPr>
          <p:cNvPr id="17" name="文本框 16"/>
          <p:cNvSpPr txBox="1"/>
          <p:nvPr/>
        </p:nvSpPr>
        <p:spPr>
          <a:xfrm>
            <a:off x="389255" y="4477385"/>
            <a:ext cx="673100" cy="398780"/>
          </a:xfrm>
          <a:prstGeom prst="rect">
            <a:avLst/>
          </a:prstGeom>
          <a:noFill/>
        </p:spPr>
        <p:txBody>
          <a:bodyPr wrap="square" rtlCol="0">
            <a:spAutoFit/>
          </a:bodyPr>
          <a:p>
            <a:r>
              <a:rPr lang="en-US" altLang="zh-CN" sz="2000">
                <a:latin typeface="Arial" panose="020B0604020202020204" pitchFamily="34" charset="0"/>
                <a:cs typeface="Arial" panose="020B0604020202020204" pitchFamily="34" charset="0"/>
              </a:rPr>
              <a:t>B</a:t>
            </a:r>
            <a:endParaRPr lang="en-US" altLang="zh-CN" sz="200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5"/>
          <a:stretch>
            <a:fillRect/>
          </a:stretch>
        </p:blipFill>
        <p:spPr>
          <a:xfrm>
            <a:off x="4114800" y="4540885"/>
            <a:ext cx="3399790" cy="20986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69290" y="747395"/>
            <a:ext cx="10672445" cy="3469005"/>
          </a:xfrm>
          <a:prstGeom prst="rect">
            <a:avLst/>
          </a:prstGeom>
          <a:noFill/>
        </p:spPr>
        <p:txBody>
          <a:bodyPr wrap="square" rtlCol="0">
            <a:noAutofit/>
          </a:bodyPr>
          <a:p>
            <a:r>
              <a:rPr lang="en-US" altLang="zh-CN"/>
              <a:t>(C) Effect of a nucleotide mutation within the </a:t>
            </a:r>
            <a:r>
              <a:rPr lang="en-US" altLang="zh-CN" i="1"/>
              <a:t>TAC1</a:t>
            </a:r>
            <a:r>
              <a:rPr lang="en-US" altLang="zh-CN"/>
              <a:t> gene (LOC_Os09g35980) on expression prediction. Predicted expression profiles are compared between the wild-type reference (AGGA; solid blue line) and mutant (GGGA; dashed orange line) sequences. A striking divergence occurs around position 20,732,589, where an aberrant signal peak emerges exclusively in the wild type profile.  </a:t>
            </a:r>
            <a:endParaRPr lang="en-US" altLang="zh-CN"/>
          </a:p>
          <a:p>
            <a:r>
              <a:rPr lang="en-US" altLang="zh-CN"/>
              <a:t>(D) A quantitative comparison of the predicted expression between mutant and wild type. The total expression values are plotted for the differential expression region (DER) (left) and the total region of the gene (right).</a:t>
            </a:r>
            <a:endParaRPr lang="en-US" altLang="zh-CN"/>
          </a:p>
          <a:p>
            <a:endParaRPr lang="en-US" altLang="zh-CN"/>
          </a:p>
          <a:p>
            <a:r>
              <a:rPr lang="en-US" altLang="zh-CN">
                <a:sym typeface="+mn-ea"/>
              </a:rPr>
              <a:t>The model's predicted expression changes were consistent with the known functional impact of a reported 3'-splice site mutation (AGGA</a:t>
            </a:r>
            <a:r>
              <a:rPr lang="en-US" altLang="en-US">
                <a:sym typeface="+mn-ea"/>
              </a:rPr>
              <a:t>→</a:t>
            </a:r>
            <a:r>
              <a:rPr lang="en-US" altLang="zh-CN">
                <a:sym typeface="+mn-ea"/>
              </a:rPr>
              <a:t>GGGA) in intron 4. This mutation disrupts proper splicing and alters the 3'-UTR structure (Figure 4C), </a:t>
            </a:r>
            <a:r>
              <a:rPr lang="en-US" altLang="zh-CN">
                <a:sym typeface="+mn-ea"/>
              </a:rPr>
              <a:t>resulting in a dramatic decrease (-92.71%) in the differential expression region (DER) and a corresponding 15.93% down in predicted transcript abundance (Figure 4D),</a:t>
            </a:r>
            <a:r>
              <a:rPr lang="en-US" altLang="zh-CN">
                <a:sym typeface="+mn-ea"/>
              </a:rPr>
              <a:t> which ultimately leads to the observed decrease in mature </a:t>
            </a:r>
            <a:r>
              <a:rPr lang="en-US" altLang="zh-CN" i="1">
                <a:sym typeface="+mn-ea"/>
              </a:rPr>
              <a:t>tac1</a:t>
            </a:r>
            <a:r>
              <a:rPr lang="en-US" altLang="zh-CN">
                <a:sym typeface="+mn-ea"/>
              </a:rPr>
              <a:t> mRNA levels.</a:t>
            </a:r>
            <a:endParaRPr lang="en-US" altLang="zh-CN"/>
          </a:p>
          <a:p>
            <a:r>
              <a:rPr lang="en-US" altLang="zh-CN"/>
              <a:t> </a:t>
            </a:r>
            <a:endParaRPr lang="en-US" altLang="zh-CN"/>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1086</Words>
  <Application>WPS 演示</Application>
  <PresentationFormat>宽屏</PresentationFormat>
  <Paragraphs>14</Paragraphs>
  <Slides>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vt:i4>
      </vt:variant>
    </vt:vector>
  </HeadingPairs>
  <TitlesOfParts>
    <vt:vector size="10" baseType="lpstr">
      <vt:lpstr>Arial</vt:lpstr>
      <vt:lpstr>宋体</vt:lpstr>
      <vt:lpstr>Wingdings</vt:lpstr>
      <vt:lpstr>Calibri</vt:lpstr>
      <vt:lpstr>微软雅黑</vt:lpstr>
      <vt:lpstr>Arial Unicode MS</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fushuai</dc:creator>
  <cp:lastModifiedBy>杨东</cp:lastModifiedBy>
  <cp:revision>29</cp:revision>
  <dcterms:created xsi:type="dcterms:W3CDTF">2023-08-09T12:44:00Z</dcterms:created>
  <dcterms:modified xsi:type="dcterms:W3CDTF">2026-07-30T15:52:38Z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9B084F36D0B2408D9CFA7F5E7DBBFC52_12</vt:lpwstr>
  </property>
  <property fmtid="{D5CDD505-2E9C-101B-9397-08002B2CF9AE}" pid="4" name="5B77E7CEEC58BC6AFAE8886BEB80DBEB">
    <vt:lpwstr>otCYQxs9Dbw2bUEn/Soxv9pYAoWsCRIsU8+gIbxzzmNcJN13+qHIPyWmbF9hFzPHyi2m8DLwi54E5OVVM5pJ0yGmgAiYTaR6oYUdYZxdjep6I9xviFUFZ9aTScfBW9OGiSt5ZsCig8csgfDcU+rxjKl6ODm7wtBqHmVvD2pusYUU+ZNWw1SmQX+vBYrDrOv55mNxeEc+ESEwLRwgUN6zgB5rNdoxYLW2AY7qwvHmVu9ikhgxT15T1YJwaqM/0D1nx6NWBaLdKC28ZlUNG0QzNxtXotfveZf4Okp2/o9GKffTAgD1MVF3SIiViRNTpCwmlee7GrHbEPYNslWGqVGTkOlhKKpQCA8fy9tu1XdGCMe07hDFS3i8uz8T0zKBDpWS4WRhhWtmFi9zWNTB4sEJ972Dpopncy/K3HL9pPueEmpiSi9GrwPjT1CYelEi34ougyEv7uKv9j2N+H1/WQz1Qpl6qTHVxZQ13uYQPiBRJWg9Ubh+a3BOfamdtB9uHu/J8vCaPPK/bN3ij29oY2/6FOosCOo5J4tzBi+9EhaRscfYtZXGG3ShPcxGYnisCHAwS1hGgD8NhT3WwPXD5xHmUN0At7jR03MPmaj+8R8LgEGxSp4Vd1yOz6bapC+QqyQp3LxtZvry4x//ReI7Rsv0p4lbF4Raik1dQJ+lEQ2m7ru0KUsB+6JymxxxpZi8mfML9Kh94EA5h0XOFb+wsPVUFkk0w0pGs/ZZbdxL8239uVqzCwvCK4fwlG3JwN4F2vwbmEDbVH5jwzWOxIzwxOJOF7Unh+6tG/e1/ZLnZo/cK9V1UaclSn+jg1ebQdL6IvnCIRap5/p1suNJJ/wfH5yTUJkET9QZ36U3i+hhckdnEJL4TlSK/188hmx9r6DbEuomW6Bli7ILtS8r8GiJj/pbjG1sdTRnMYhRUiowwFAflyGs3etDBTKZGPO/5+098tDYfQm05tWbz0d58FFQUBn5aKAvu+DhuCJGkV+pJHBcle+X6TDWBXPA0swpO5MBGMyiLaUkCI8liIYjsEq7eQAgO2a5vZI0izFK4r7DPWvTE/VQS69IgkRfBQS1s3jTupYFdkY9r51oANNhT+nq/CptLmqn9uXzcAFCkwXP7ANEW5epBtN9sEYsTCoiaoQhLdNf</vt:lpwstr>
  </property>
</Properties>
</file>